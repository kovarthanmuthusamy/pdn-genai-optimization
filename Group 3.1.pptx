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5143500" type="screen16x9"/>
  <p:notesSz cx="6858000" cy="9144000"/>
  <p:embeddedFontLst>
    <p:embeddedFont>
      <p:font typeface="Inter" panose="020B0604020202020204" charset="0"/>
      <p:regular r:id="rId36"/>
      <p:bold r:id="rId37"/>
      <p:italic r:id="rId38"/>
      <p:boldItalic r:id="rId39"/>
    </p:embeddedFont>
    <p:embeddedFont>
      <p:font typeface="Calibri" panose="020F0502020204030204" pitchFamily="34" charset="0"/>
      <p:regular r:id="rId40"/>
      <p:bold r:id="rId41"/>
      <p:italic r:id="rId42"/>
      <p:boldItalic r:id="rId43"/>
    </p:embeddedFont>
    <p:embeddedFont>
      <p:font typeface="DM Sans" panose="020B060402020202020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40">
          <p15:clr>
            <a:srgbClr val="747775"/>
          </p15:clr>
        </p15:guide>
        <p15:guide id="2" pos="564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D76EBA-3A3C-4FC6-9546-A542B5990890}">
  <a:tblStyle styleId="{57D76EBA-3A3C-4FC6-9546-A542B59908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2" d="100"/>
          <a:sy n="162" d="100"/>
        </p:scale>
        <p:origin x="144" y="168"/>
      </p:cViewPr>
      <p:guideLst>
        <p:guide orient="horz" pos="2240"/>
        <p:guide pos="56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5396f15e74_2_8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g35396f15e74_2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5396f15e74_2_8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5396f15e74_2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54a51fe286_0_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354a51fe286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54a51fe286_0_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354a51fe286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4a51fe286_0_3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g354a51fe286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4a51fe286_0_1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54a51fe286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4a51fe286_0_4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54a51fe286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54a51fe286_0_5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354a51fe286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54a51fe286_0_6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354a51fe286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54a51fe286_0_8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g354a51fe286_0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5396f15e7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5396f15e7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5498c308ef_2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5498c308ef_2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5498c308ef_2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5498c308ef_2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53f465b02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53f465b02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53f465b02f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3f465b02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5498c308ef_2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5498c308ef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3f465b02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3f465b0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5498c308ef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5498c308ef_2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53f465b02f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53f465b02f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5498c308ef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5498c308ef_2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53f465b02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53f465b02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5498c308ef_2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5498c308ef_2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5498c308ef_2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5498c308ef_2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54987314b8_0_14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354987314b8_0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54987314b8_0_1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g354987314b8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5498c308ef_1_3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g35498c308ef_1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5498c308ef_1_72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g35498c308ef_1_7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5498c308ef_1_99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g35498c308ef_1_9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5498c308ef_1_75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g35498c308ef_1_7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54c94f66bf_0_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8" name="Google Shape;448;g354c94f66bf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5498c308ef_1_2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g35498c308ef_1_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35396f15e74_2_17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g35396f15e74_2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Slide 1_1_1_C">
  <p:cSld name="TITLE_AND_BODY_2_1_1_1_1">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228600" y="228600"/>
            <a:ext cx="4690800" cy="4690800"/>
          </a:xfrm>
          <a:prstGeom prst="roundRect">
            <a:avLst>
              <a:gd name="adj" fmla="val 50000"/>
            </a:avLst>
          </a:prstGeom>
          <a:noFill/>
          <a:ln>
            <a:noFill/>
          </a:ln>
        </p:spPr>
      </p:sp>
      <p:sp>
        <p:nvSpPr>
          <p:cNvPr id="52" name="Google Shape;52;p13"/>
          <p:cNvSpPr txBox="1">
            <a:spLocks noGrp="1"/>
          </p:cNvSpPr>
          <p:nvPr>
            <p:ph type="title"/>
          </p:nvPr>
        </p:nvSpPr>
        <p:spPr>
          <a:xfrm>
            <a:off x="5362500" y="640075"/>
            <a:ext cx="3467100" cy="795600"/>
          </a:xfrm>
          <a:prstGeom prst="rect">
            <a:avLst/>
          </a:prstGeom>
        </p:spPr>
        <p:txBody>
          <a:bodyPr spcFirstLastPara="1" wrap="square" lIns="0" tIns="0" rIns="0" bIns="0"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3" name="Google Shape;53;p13"/>
          <p:cNvSpPr txBox="1">
            <a:spLocks noGrp="1"/>
          </p:cNvSpPr>
          <p:nvPr>
            <p:ph type="body" idx="1"/>
          </p:nvPr>
        </p:nvSpPr>
        <p:spPr>
          <a:xfrm>
            <a:off x="5279300" y="1901949"/>
            <a:ext cx="3550200" cy="2697600"/>
          </a:xfrm>
          <a:prstGeom prst="rect">
            <a:avLst/>
          </a:prstGeom>
        </p:spPr>
        <p:txBody>
          <a:bodyPr spcFirstLastPara="1" wrap="square" lIns="0" tIns="0" rIns="0" bIns="0"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rgbClr val="84B819"/>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rgbClr val="999999"/>
              </a:buClr>
              <a:buSzPts val="1800"/>
              <a:buNone/>
              <a:defRPr sz="1800">
                <a:solidFill>
                  <a:srgbClr val="999999"/>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65" name="Google Shape;65;p15"/>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cxnSp>
        <p:nvCxnSpPr>
          <p:cNvPr id="68" name="Google Shape;68;p15"/>
          <p:cNvCxnSpPr/>
          <p:nvPr/>
        </p:nvCxnSpPr>
        <p:spPr>
          <a:xfrm>
            <a:off x="1143000" y="2635297"/>
            <a:ext cx="6858000" cy="0"/>
          </a:xfrm>
          <a:prstGeom prst="straightConnector1">
            <a:avLst/>
          </a:prstGeom>
          <a:noFill/>
          <a:ln w="19050" cap="flat" cmpd="sng">
            <a:solidFill>
              <a:srgbClr val="84B819"/>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Zwei Inhalte" type="twoObj">
  <p:cSld name="TWO_OBJECTS">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332510" y="240506"/>
            <a:ext cx="5782541" cy="54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1" name="Google Shape;71;p16"/>
          <p:cNvSpPr txBox="1">
            <a:spLocks noGrp="1"/>
          </p:cNvSpPr>
          <p:nvPr>
            <p:ph type="body" idx="1"/>
          </p:nvPr>
        </p:nvSpPr>
        <p:spPr>
          <a:xfrm>
            <a:off x="332509" y="1369219"/>
            <a:ext cx="4182341"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2" name="Google Shape;72;p16"/>
          <p:cNvSpPr txBox="1">
            <a:spLocks noGrp="1"/>
          </p:cNvSpPr>
          <p:nvPr>
            <p:ph type="body" idx="2"/>
          </p:nvPr>
        </p:nvSpPr>
        <p:spPr>
          <a:xfrm>
            <a:off x="4629150" y="1369219"/>
            <a:ext cx="4182341"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6"/>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4" name="Google Shape;74;p16"/>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cxnSp>
        <p:nvCxnSpPr>
          <p:cNvPr id="76" name="Google Shape;76;p16"/>
          <p:cNvCxnSpPr/>
          <p:nvPr/>
        </p:nvCxnSpPr>
        <p:spPr>
          <a:xfrm>
            <a:off x="332509" y="786012"/>
            <a:ext cx="8478982" cy="0"/>
          </a:xfrm>
          <a:prstGeom prst="straightConnector1">
            <a:avLst/>
          </a:prstGeom>
          <a:noFill/>
          <a:ln w="19050" cap="flat" cmpd="sng">
            <a:solidFill>
              <a:srgbClr val="84B819"/>
            </a:solidFill>
            <a:prstDash val="solid"/>
            <a:miter lim="800000"/>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32510" y="240506"/>
            <a:ext cx="5782541" cy="54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9" name="Google Shape;79;p17"/>
          <p:cNvSpPr txBox="1">
            <a:spLocks noGrp="1"/>
          </p:cNvSpPr>
          <p:nvPr>
            <p:ph type="body" idx="1"/>
          </p:nvPr>
        </p:nvSpPr>
        <p:spPr>
          <a:xfrm>
            <a:off x="332509" y="1369219"/>
            <a:ext cx="8478982"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0" name="Google Shape;80;p17"/>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1" name="Google Shape;81;p17"/>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2" name="Google Shape;82;p17"/>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cxnSp>
        <p:nvCxnSpPr>
          <p:cNvPr id="83" name="Google Shape;83;p17"/>
          <p:cNvCxnSpPr/>
          <p:nvPr/>
        </p:nvCxnSpPr>
        <p:spPr>
          <a:xfrm>
            <a:off x="332509" y="786012"/>
            <a:ext cx="8478982" cy="0"/>
          </a:xfrm>
          <a:prstGeom prst="straightConnector1">
            <a:avLst/>
          </a:prstGeom>
          <a:noFill/>
          <a:ln w="19050" cap="flat" cmpd="sng">
            <a:solidFill>
              <a:srgbClr val="84B819"/>
            </a:solidFill>
            <a:prstDash val="solid"/>
            <a:miter lim="800000"/>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bschnitts-&#10;überschrift" type="secHead">
  <p:cSld name="SECTION_HEADER">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6" name="Google Shape;86;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7" name="Google Shape;87;p18"/>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32509" y="273844"/>
            <a:ext cx="5782541" cy="994172"/>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body" idx="1"/>
          </p:nvPr>
        </p:nvSpPr>
        <p:spPr>
          <a:xfrm>
            <a:off x="332510" y="1260872"/>
            <a:ext cx="4165673"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3" name="Google Shape;93;p19"/>
          <p:cNvSpPr txBox="1">
            <a:spLocks noGrp="1"/>
          </p:cNvSpPr>
          <p:nvPr>
            <p:ph type="body" idx="2"/>
          </p:nvPr>
        </p:nvSpPr>
        <p:spPr>
          <a:xfrm>
            <a:off x="332510" y="1878806"/>
            <a:ext cx="4165673"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4" name="Google Shape;94;p19"/>
          <p:cNvSpPr txBox="1">
            <a:spLocks noGrp="1"/>
          </p:cNvSpPr>
          <p:nvPr>
            <p:ph type="body" idx="3"/>
          </p:nvPr>
        </p:nvSpPr>
        <p:spPr>
          <a:xfrm>
            <a:off x="4629150" y="1260872"/>
            <a:ext cx="4165673"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5" name="Google Shape;95;p19"/>
          <p:cNvSpPr txBox="1">
            <a:spLocks noGrp="1"/>
          </p:cNvSpPr>
          <p:nvPr>
            <p:ph type="body" idx="4"/>
          </p:nvPr>
        </p:nvSpPr>
        <p:spPr>
          <a:xfrm>
            <a:off x="4629150" y="1878806"/>
            <a:ext cx="4165673"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6" name="Google Shape;96;p19"/>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19"/>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9"/>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cxnSp>
        <p:nvCxnSpPr>
          <p:cNvPr id="99" name="Google Shape;99;p19"/>
          <p:cNvCxnSpPr/>
          <p:nvPr/>
        </p:nvCxnSpPr>
        <p:spPr>
          <a:xfrm>
            <a:off x="332509" y="1249733"/>
            <a:ext cx="8478982" cy="0"/>
          </a:xfrm>
          <a:prstGeom prst="straightConnector1">
            <a:avLst/>
          </a:prstGeom>
          <a:noFill/>
          <a:ln w="19050" cap="flat" cmpd="sng">
            <a:solidFill>
              <a:srgbClr val="84B819"/>
            </a:solidFill>
            <a:prstDash val="solid"/>
            <a:miter lim="800000"/>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r Titel" type="titleOnly">
  <p:cSld name="TITLE_ONLY">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32510" y="240506"/>
            <a:ext cx="5782541" cy="54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2" name="Google Shape;102;p20"/>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3" name="Google Shape;103;p20"/>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0"/>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105"/>
        <p:cNvGrpSpPr/>
        <p:nvPr/>
      </p:nvGrpSpPr>
      <p:grpSpPr>
        <a:xfrm>
          <a:off x="0" y="0"/>
          <a:ext cx="0" cy="0"/>
          <a:chOff x="0" y="0"/>
          <a:chExt cx="0" cy="0"/>
        </a:xfrm>
      </p:grpSpPr>
      <p:sp>
        <p:nvSpPr>
          <p:cNvPr id="106" name="Google Shape;106;p21"/>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7" name="Google Shape;107;p21"/>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8" name="Google Shape;108;p21"/>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1" name="Google Shape;111;p2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2" name="Google Shape;112;p2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3" name="Google Shape;113;p22"/>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4" name="Google Shape;114;p22"/>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5" name="Google Shape;115;p22"/>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ld mit Überschrift" type="picTx">
  <p:cSld name="PICTURE_WITH_CAPTION_TEXT">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8" name="Google Shape;118;p23"/>
          <p:cNvSpPr>
            <a:spLocks noGrp="1"/>
          </p:cNvSpPr>
          <p:nvPr>
            <p:ph type="pic" idx="2"/>
          </p:nvPr>
        </p:nvSpPr>
        <p:spPr>
          <a:xfrm>
            <a:off x="3887391" y="740569"/>
            <a:ext cx="4629150" cy="3655219"/>
          </a:xfrm>
          <a:prstGeom prst="rect">
            <a:avLst/>
          </a:prstGeom>
          <a:noFill/>
          <a:ln>
            <a:noFill/>
          </a:ln>
        </p:spPr>
      </p:sp>
      <p:sp>
        <p:nvSpPr>
          <p:cNvPr id="119" name="Google Shape;119;p2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0" name="Google Shape;120;p23"/>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1" name="Google Shape;121;p23"/>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2" name="Google Shape;122;p23"/>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el und vertikaler Text" type="vertTx">
  <p:cSld name="VERTICAL_TEXT">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332510" y="240506"/>
            <a:ext cx="5782541" cy="54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5" name="Google Shape;125;p24"/>
          <p:cNvSpPr txBox="1">
            <a:spLocks noGrp="1"/>
          </p:cNvSpPr>
          <p:nvPr>
            <p:ph type="body" idx="1"/>
          </p:nvPr>
        </p:nvSpPr>
        <p:spPr>
          <a:xfrm rot="5400000">
            <a:off x="2940248" y="-1238520"/>
            <a:ext cx="3263504" cy="8478982"/>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6" name="Google Shape;126;p24"/>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7" name="Google Shape;127;p24"/>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8" name="Google Shape;128;p24"/>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kaler Titel und Text" type="vertTitleAndTx">
  <p:cSld name="VERTICAL_TITLE_AND_VERTICAL_TEXT">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84B819"/>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1" name="Google Shape;131;p2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25"/>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3" name="Google Shape;133;p25"/>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4" name="Google Shape;134;p25"/>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‹Nr.›</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35"/>
        <p:cNvGrpSpPr/>
        <p:nvPr/>
      </p:nvGrpSpPr>
      <p:grpSpPr>
        <a:xfrm>
          <a:off x="0" y="0"/>
          <a:ext cx="0" cy="0"/>
          <a:chOff x="0" y="0"/>
          <a:chExt cx="0" cy="0"/>
        </a:xfrm>
      </p:grpSpPr>
      <p:sp>
        <p:nvSpPr>
          <p:cNvPr id="136" name="Google Shape;136;p26"/>
          <p:cNvSpPr/>
          <p:nvPr/>
        </p:nvSpPr>
        <p:spPr>
          <a:xfrm>
            <a:off x="0" y="0"/>
            <a:ext cx="9144000" cy="5143500"/>
          </a:xfrm>
          <a:prstGeom prst="rect">
            <a:avLst/>
          </a:prstGeom>
          <a:solidFill>
            <a:srgbClr val="FAFA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37" name="Google Shape;137;p26"/>
          <p:cNvSpPr/>
          <p:nvPr/>
        </p:nvSpPr>
        <p:spPr>
          <a:xfrm>
            <a:off x="0" y="0"/>
            <a:ext cx="9144000" cy="5143500"/>
          </a:xfrm>
          <a:prstGeom prst="rect">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38" name="Google Shape;138;p26"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139"/>
        <p:cNvGrpSpPr/>
        <p:nvPr/>
      </p:nvGrpSpPr>
      <p:grpSpPr>
        <a:xfrm>
          <a:off x="0" y="0"/>
          <a:ext cx="0" cy="0"/>
          <a:chOff x="0" y="0"/>
          <a:chExt cx="0" cy="0"/>
        </a:xfrm>
      </p:grpSpPr>
      <p:sp>
        <p:nvSpPr>
          <p:cNvPr id="140" name="Google Shape;140;p27"/>
          <p:cNvSpPr/>
          <p:nvPr/>
        </p:nvSpPr>
        <p:spPr>
          <a:xfrm>
            <a:off x="0" y="0"/>
            <a:ext cx="9144000" cy="5143500"/>
          </a:xfrm>
          <a:prstGeom prst="rect">
            <a:avLst/>
          </a:prstGeom>
          <a:solidFill>
            <a:srgbClr val="FAFA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1" name="Google Shape;141;p27"/>
          <p:cNvSpPr/>
          <p:nvPr/>
        </p:nvSpPr>
        <p:spPr>
          <a:xfrm>
            <a:off x="0" y="0"/>
            <a:ext cx="9144000" cy="5143500"/>
          </a:xfrm>
          <a:prstGeom prst="rect">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42" name="Google Shape;142;p27"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143"/>
        <p:cNvGrpSpPr/>
        <p:nvPr/>
      </p:nvGrpSpPr>
      <p:grpSpPr>
        <a:xfrm>
          <a:off x="0" y="0"/>
          <a:ext cx="0" cy="0"/>
          <a:chOff x="0" y="0"/>
          <a:chExt cx="0" cy="0"/>
        </a:xfrm>
      </p:grpSpPr>
      <p:sp>
        <p:nvSpPr>
          <p:cNvPr id="144" name="Google Shape;144;p28"/>
          <p:cNvSpPr/>
          <p:nvPr/>
        </p:nvSpPr>
        <p:spPr>
          <a:xfrm>
            <a:off x="0" y="0"/>
            <a:ext cx="9144000" cy="5143500"/>
          </a:xfrm>
          <a:prstGeom prst="rect">
            <a:avLst/>
          </a:prstGeom>
          <a:solidFill>
            <a:srgbClr val="FAFA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5" name="Google Shape;145;p28"/>
          <p:cNvSpPr/>
          <p:nvPr/>
        </p:nvSpPr>
        <p:spPr>
          <a:xfrm>
            <a:off x="0" y="0"/>
            <a:ext cx="9144000" cy="5143500"/>
          </a:xfrm>
          <a:prstGeom prst="rect">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46" name="Google Shape;146;p28"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147"/>
        <p:cNvGrpSpPr/>
        <p:nvPr/>
      </p:nvGrpSpPr>
      <p:grpSpPr>
        <a:xfrm>
          <a:off x="0" y="0"/>
          <a:ext cx="0" cy="0"/>
          <a:chOff x="0" y="0"/>
          <a:chExt cx="0" cy="0"/>
        </a:xfrm>
      </p:grpSpPr>
      <p:sp>
        <p:nvSpPr>
          <p:cNvPr id="148" name="Google Shape;148;p29"/>
          <p:cNvSpPr/>
          <p:nvPr/>
        </p:nvSpPr>
        <p:spPr>
          <a:xfrm>
            <a:off x="0" y="0"/>
            <a:ext cx="9144000" cy="5143500"/>
          </a:xfrm>
          <a:prstGeom prst="rect">
            <a:avLst/>
          </a:prstGeom>
          <a:solidFill>
            <a:srgbClr val="FAFAFA"/>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9" name="Google Shape;149;p29"/>
          <p:cNvSpPr/>
          <p:nvPr/>
        </p:nvSpPr>
        <p:spPr>
          <a:xfrm>
            <a:off x="0" y="0"/>
            <a:ext cx="9144000" cy="5143500"/>
          </a:xfrm>
          <a:prstGeom prst="rect">
            <a:avLst/>
          </a:prstGeom>
          <a:solidFill>
            <a:srgbClr val="FFFFF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150" name="Google Shape;150;p29" descr="preencoded.png">
            <a:hlinkClick r:id="rId2"/>
          </p:cNvPr>
          <p:cNvPicPr preferRelativeResize="0"/>
          <p:nvPr/>
        </p:nvPicPr>
        <p:blipFill rotWithShape="1">
          <a:blip r:embed="rId3">
            <a:alphaModFix/>
          </a:blip>
          <a:srcRect/>
          <a:stretch/>
        </p:blipFill>
        <p:spPr>
          <a:xfrm>
            <a:off x="8024509" y="4843463"/>
            <a:ext cx="1076628" cy="2571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2.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1.png"/><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32510" y="240506"/>
            <a:ext cx="5782541" cy="540000"/>
          </a:xfrm>
          <a:prstGeom prst="rect">
            <a:avLst/>
          </a:prstGeom>
          <a:noFill/>
          <a:ln>
            <a:noFill/>
          </a:ln>
        </p:spPr>
        <p:txBody>
          <a:bodyPr spcFirstLastPara="1" wrap="square" lIns="68575" tIns="34275" rIns="68575" bIns="34275" anchor="b" anchorCtr="0">
            <a:normAutofit/>
          </a:bodyPr>
          <a:lstStyle>
            <a:lvl1pPr marR="0" lvl="0" algn="l" rtl="0">
              <a:lnSpc>
                <a:spcPct val="90000"/>
              </a:lnSpc>
              <a:spcBef>
                <a:spcPts val="0"/>
              </a:spcBef>
              <a:spcAft>
                <a:spcPts val="0"/>
              </a:spcAft>
              <a:buClr>
                <a:srgbClr val="84B819"/>
              </a:buClr>
              <a:buSzPts val="3300"/>
              <a:buFont typeface="Arial"/>
              <a:buNone/>
              <a:defRPr sz="3300" b="0" i="0" u="none" strike="noStrike" cap="none">
                <a:solidFill>
                  <a:srgbClr val="84B819"/>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6" name="Google Shape;56;p14"/>
          <p:cNvSpPr txBox="1">
            <a:spLocks noGrp="1"/>
          </p:cNvSpPr>
          <p:nvPr>
            <p:ph type="body" idx="1"/>
          </p:nvPr>
        </p:nvSpPr>
        <p:spPr>
          <a:xfrm>
            <a:off x="332509" y="1369219"/>
            <a:ext cx="8478982"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4B819"/>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ftr" idx="11"/>
          </p:nvPr>
        </p:nvSpPr>
        <p:spPr>
          <a:xfrm>
            <a:off x="2463282" y="4767263"/>
            <a:ext cx="3651768"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4B819"/>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9" name="Google Shape;59;p14"/>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4B819"/>
                </a:solidFill>
                <a:latin typeface="Arial"/>
                <a:ea typeface="Arial"/>
                <a:cs typeface="Arial"/>
                <a:sym typeface="Arial"/>
              </a:defRPr>
            </a:lvl1pPr>
            <a:lvl2pPr marL="0" marR="0" lvl="1" indent="0" algn="r" rtl="0">
              <a:spcBef>
                <a:spcPts val="0"/>
              </a:spcBef>
              <a:buNone/>
              <a:defRPr sz="900" b="0" i="0" u="none" strike="noStrike" cap="none">
                <a:solidFill>
                  <a:srgbClr val="84B819"/>
                </a:solidFill>
                <a:latin typeface="Arial"/>
                <a:ea typeface="Arial"/>
                <a:cs typeface="Arial"/>
                <a:sym typeface="Arial"/>
              </a:defRPr>
            </a:lvl2pPr>
            <a:lvl3pPr marL="0" marR="0" lvl="2" indent="0" algn="r" rtl="0">
              <a:spcBef>
                <a:spcPts val="0"/>
              </a:spcBef>
              <a:buNone/>
              <a:defRPr sz="900" b="0" i="0" u="none" strike="noStrike" cap="none">
                <a:solidFill>
                  <a:srgbClr val="84B819"/>
                </a:solidFill>
                <a:latin typeface="Arial"/>
                <a:ea typeface="Arial"/>
                <a:cs typeface="Arial"/>
                <a:sym typeface="Arial"/>
              </a:defRPr>
            </a:lvl3pPr>
            <a:lvl4pPr marL="0" marR="0" lvl="3" indent="0" algn="r" rtl="0">
              <a:spcBef>
                <a:spcPts val="0"/>
              </a:spcBef>
              <a:buNone/>
              <a:defRPr sz="900" b="0" i="0" u="none" strike="noStrike" cap="none">
                <a:solidFill>
                  <a:srgbClr val="84B819"/>
                </a:solidFill>
                <a:latin typeface="Arial"/>
                <a:ea typeface="Arial"/>
                <a:cs typeface="Arial"/>
                <a:sym typeface="Arial"/>
              </a:defRPr>
            </a:lvl4pPr>
            <a:lvl5pPr marL="0" marR="0" lvl="4" indent="0" algn="r" rtl="0">
              <a:spcBef>
                <a:spcPts val="0"/>
              </a:spcBef>
              <a:buNone/>
              <a:defRPr sz="900" b="0" i="0" u="none" strike="noStrike" cap="none">
                <a:solidFill>
                  <a:srgbClr val="84B819"/>
                </a:solidFill>
                <a:latin typeface="Arial"/>
                <a:ea typeface="Arial"/>
                <a:cs typeface="Arial"/>
                <a:sym typeface="Arial"/>
              </a:defRPr>
            </a:lvl5pPr>
            <a:lvl6pPr marL="0" marR="0" lvl="5" indent="0" algn="r" rtl="0">
              <a:spcBef>
                <a:spcPts val="0"/>
              </a:spcBef>
              <a:buNone/>
              <a:defRPr sz="900" b="0" i="0" u="none" strike="noStrike" cap="none">
                <a:solidFill>
                  <a:srgbClr val="84B819"/>
                </a:solidFill>
                <a:latin typeface="Arial"/>
                <a:ea typeface="Arial"/>
                <a:cs typeface="Arial"/>
                <a:sym typeface="Arial"/>
              </a:defRPr>
            </a:lvl6pPr>
            <a:lvl7pPr marL="0" marR="0" lvl="6" indent="0" algn="r" rtl="0">
              <a:spcBef>
                <a:spcPts val="0"/>
              </a:spcBef>
              <a:buNone/>
              <a:defRPr sz="900" b="0" i="0" u="none" strike="noStrike" cap="none">
                <a:solidFill>
                  <a:srgbClr val="84B819"/>
                </a:solidFill>
                <a:latin typeface="Arial"/>
                <a:ea typeface="Arial"/>
                <a:cs typeface="Arial"/>
                <a:sym typeface="Arial"/>
              </a:defRPr>
            </a:lvl7pPr>
            <a:lvl8pPr marL="0" marR="0" lvl="7" indent="0" algn="r" rtl="0">
              <a:spcBef>
                <a:spcPts val="0"/>
              </a:spcBef>
              <a:buNone/>
              <a:defRPr sz="900" b="0" i="0" u="none" strike="noStrike" cap="none">
                <a:solidFill>
                  <a:srgbClr val="84B819"/>
                </a:solidFill>
                <a:latin typeface="Arial"/>
                <a:ea typeface="Arial"/>
                <a:cs typeface="Arial"/>
                <a:sym typeface="Arial"/>
              </a:defRPr>
            </a:lvl8pPr>
            <a:lvl9pPr marL="0" marR="0" lvl="8" indent="0" algn="r" rtl="0">
              <a:spcBef>
                <a:spcPts val="0"/>
              </a:spcBef>
              <a:buNone/>
              <a:defRPr sz="900" b="0" i="0" u="none" strike="noStrike" cap="none">
                <a:solidFill>
                  <a:srgbClr val="84B81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‹Nr.›</a:t>
            </a:fld>
            <a:endParaRPr/>
          </a:p>
        </p:txBody>
      </p:sp>
      <p:pic>
        <p:nvPicPr>
          <p:cNvPr id="60" name="Google Shape;60;p14"/>
          <p:cNvPicPr preferRelativeResize="0"/>
          <p:nvPr/>
        </p:nvPicPr>
        <p:blipFill rotWithShape="1">
          <a:blip r:embed="rId17">
            <a:alphaModFix/>
          </a:blip>
          <a:srcRect/>
          <a:stretch/>
        </p:blipFill>
        <p:spPr>
          <a:xfrm>
            <a:off x="8002809" y="240506"/>
            <a:ext cx="808682" cy="540000"/>
          </a:xfrm>
          <a:prstGeom prst="rect">
            <a:avLst/>
          </a:prstGeom>
          <a:noFill/>
          <a:ln>
            <a:noFill/>
          </a:ln>
        </p:spPr>
      </p:pic>
      <p:pic>
        <p:nvPicPr>
          <p:cNvPr id="61" name="Google Shape;61;p14"/>
          <p:cNvPicPr preferRelativeResize="0"/>
          <p:nvPr/>
        </p:nvPicPr>
        <p:blipFill rotWithShape="1">
          <a:blip r:embed="rId18">
            <a:alphaModFix/>
          </a:blip>
          <a:srcRect/>
          <a:stretch/>
        </p:blipFill>
        <p:spPr>
          <a:xfrm>
            <a:off x="6039287" y="240506"/>
            <a:ext cx="1963523" cy="54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5.xml"/><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rgbClr val="84B819"/>
              </a:buClr>
              <a:buSzPct val="105195"/>
              <a:buFont typeface="Arial"/>
              <a:buNone/>
            </a:pPr>
            <a:r>
              <a:rPr lang="de-DE" sz="2800" dirty="0" smtClean="0">
                <a:solidFill>
                  <a:schemeClr val="tx1"/>
                </a:solidFill>
              </a:rPr>
              <a:t>Power </a:t>
            </a:r>
            <a:r>
              <a:rPr lang="de-DE" sz="2800" dirty="0" err="1" smtClean="0">
                <a:solidFill>
                  <a:schemeClr val="tx1"/>
                </a:solidFill>
              </a:rPr>
              <a:t>Integrity</a:t>
            </a:r>
            <a:r>
              <a:rPr lang="de-DE" sz="2800" dirty="0" smtClean="0">
                <a:solidFill>
                  <a:schemeClr val="tx1"/>
                </a:solidFill>
              </a:rPr>
              <a:t> </a:t>
            </a:r>
            <a:r>
              <a:rPr lang="de-DE" sz="2800" dirty="0" err="1" smtClean="0">
                <a:solidFill>
                  <a:schemeClr val="tx1"/>
                </a:solidFill>
              </a:rPr>
              <a:t>Optimization</a:t>
            </a:r>
            <a:r>
              <a:rPr lang="de-DE" sz="2800" dirty="0" smtClean="0">
                <a:solidFill>
                  <a:schemeClr val="tx1"/>
                </a:solidFill>
              </a:rPr>
              <a:t> </a:t>
            </a:r>
            <a:r>
              <a:rPr lang="de-DE" sz="2800" dirty="0" err="1" smtClean="0">
                <a:solidFill>
                  <a:schemeClr val="tx1"/>
                </a:solidFill>
              </a:rPr>
              <a:t>using</a:t>
            </a:r>
            <a:r>
              <a:rPr lang="de-DE" sz="2800" dirty="0" smtClean="0">
                <a:solidFill>
                  <a:schemeClr val="tx1"/>
                </a:solidFill>
              </a:rPr>
              <a:t> </a:t>
            </a:r>
            <a:r>
              <a:rPr lang="de-DE" sz="2800" dirty="0" err="1" smtClean="0">
                <a:solidFill>
                  <a:schemeClr val="tx1"/>
                </a:solidFill>
              </a:rPr>
              <a:t>eCADSTAR</a:t>
            </a:r>
            <a:endParaRPr sz="2800" dirty="0">
              <a:solidFill>
                <a:schemeClr val="tx1"/>
              </a:solidFill>
            </a:endParaRPr>
          </a:p>
        </p:txBody>
      </p:sp>
      <p:sp>
        <p:nvSpPr>
          <p:cNvPr id="156" name="Google Shape;156;p30"/>
          <p:cNvSpPr txBox="1">
            <a:spLocks noGrp="1"/>
          </p:cNvSpPr>
          <p:nvPr>
            <p:ph type="subTitle" idx="1"/>
          </p:nvPr>
        </p:nvSpPr>
        <p:spPr>
          <a:xfrm>
            <a:off x="1143000" y="2793429"/>
            <a:ext cx="6858000" cy="1241700"/>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rgbClr val="999999"/>
              </a:buClr>
              <a:buSzPts val="1800"/>
              <a:buNone/>
            </a:pP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243640" y="240506"/>
            <a:ext cx="5036283"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ct val="100000"/>
              <a:buFont typeface="Arial"/>
              <a:buNone/>
            </a:pPr>
            <a:r>
              <a:rPr lang="de-DE" sz="2400" dirty="0" smtClean="0"/>
              <a:t>Base design </a:t>
            </a:r>
            <a:endParaRPr sz="2400" dirty="0"/>
          </a:p>
        </p:txBody>
      </p:sp>
      <p:sp>
        <p:nvSpPr>
          <p:cNvPr id="162" name="Google Shape;162;p31"/>
          <p:cNvSpPr txBox="1">
            <a:spLocks noGrp="1"/>
          </p:cNvSpPr>
          <p:nvPr>
            <p:ph type="body" idx="1"/>
          </p:nvPr>
        </p:nvSpPr>
        <p:spPr>
          <a:xfrm>
            <a:off x="200578" y="1063574"/>
            <a:ext cx="8574147" cy="3976341"/>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None/>
            </a:pPr>
            <a:endParaRPr sz="1600" dirty="0"/>
          </a:p>
          <a:p>
            <a:pPr marL="177800" lvl="0" indent="-171450" algn="l" rtl="0">
              <a:lnSpc>
                <a:spcPct val="90000"/>
              </a:lnSpc>
              <a:spcBef>
                <a:spcPts val="800"/>
              </a:spcBef>
              <a:spcAft>
                <a:spcPts val="0"/>
              </a:spcAft>
              <a:buClr>
                <a:schemeClr val="dk1"/>
              </a:buClr>
              <a:buSzPts val="2100"/>
              <a:buChar char="•"/>
            </a:pPr>
            <a:r>
              <a:rPr lang="de-DE" sz="1600" dirty="0" err="1" smtClean="0"/>
              <a:t>Impedance</a:t>
            </a:r>
            <a:r>
              <a:rPr lang="de-DE" sz="1600" dirty="0" smtClean="0"/>
              <a:t> </a:t>
            </a:r>
            <a:r>
              <a:rPr lang="de-DE" sz="1600" dirty="0" err="1" smtClean="0"/>
              <a:t>spectrum</a:t>
            </a:r>
            <a:r>
              <a:rPr lang="de-DE" sz="1600" dirty="0" smtClean="0"/>
              <a:t> </a:t>
            </a:r>
            <a:r>
              <a:rPr lang="de-DE" sz="1600" dirty="0" err="1" smtClean="0"/>
              <a:t>for</a:t>
            </a:r>
            <a:r>
              <a:rPr lang="de-DE" sz="1600" dirty="0" smtClean="0"/>
              <a:t> </a:t>
            </a:r>
            <a:r>
              <a:rPr lang="de-DE" sz="1600" dirty="0" err="1" smtClean="0"/>
              <a:t>No</a:t>
            </a:r>
            <a:r>
              <a:rPr lang="de-DE" sz="1600" dirty="0" smtClean="0"/>
              <a:t> </a:t>
            </a:r>
            <a:r>
              <a:rPr lang="de-DE" sz="1600" dirty="0" err="1" smtClean="0"/>
              <a:t>decap</a:t>
            </a:r>
            <a:r>
              <a:rPr lang="de-DE" sz="1600" dirty="0" smtClean="0"/>
              <a:t> on </a:t>
            </a:r>
            <a:r>
              <a:rPr lang="de-DE" sz="1600" dirty="0" err="1" smtClean="0"/>
              <a:t>the</a:t>
            </a:r>
            <a:r>
              <a:rPr lang="de-DE" sz="1600" dirty="0" smtClean="0"/>
              <a:t> </a:t>
            </a:r>
            <a:r>
              <a:rPr lang="de-DE" sz="1600" dirty="0" err="1" smtClean="0"/>
              <a:t>board</a:t>
            </a:r>
            <a:r>
              <a:rPr lang="de-DE" sz="1600" dirty="0" smtClean="0"/>
              <a:t>.</a:t>
            </a:r>
            <a:endParaRPr dirty="0"/>
          </a:p>
          <a:p>
            <a:pPr marL="177800" lvl="0" indent="0" algn="l" rtl="0">
              <a:lnSpc>
                <a:spcPct val="90000"/>
              </a:lnSpc>
              <a:spcBef>
                <a:spcPts val="800"/>
              </a:spcBef>
              <a:spcAft>
                <a:spcPts val="0"/>
              </a:spcAft>
              <a:buNone/>
            </a:pPr>
            <a:r>
              <a:rPr lang="en-GB" u="sng" dirty="0"/>
              <a:t>     </a:t>
            </a:r>
            <a:endParaRPr u="sng" dirty="0"/>
          </a:p>
        </p:txBody>
      </p:sp>
      <p:sp>
        <p:nvSpPr>
          <p:cNvPr id="163" name="Google Shape;163;p31"/>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dirty="0" smtClean="0"/>
              <a:t> </a:t>
            </a:r>
            <a:r>
              <a:rPr lang="en-GB" dirty="0"/>
              <a:t>April </a:t>
            </a:r>
            <a:r>
              <a:rPr lang="en-GB" dirty="0" smtClean="0"/>
              <a:t>2026</a:t>
            </a:r>
            <a:endParaRPr dirty="0"/>
          </a:p>
        </p:txBody>
      </p:sp>
      <p:sp>
        <p:nvSpPr>
          <p:cNvPr id="164" name="Google Shape;164;p31"/>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2"/>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spcBef>
                <a:spcPts val="0"/>
              </a:spcBef>
              <a:spcAft>
                <a:spcPts val="0"/>
              </a:spcAft>
              <a:buClr>
                <a:schemeClr val="accent1"/>
              </a:buClr>
              <a:buSzPts val="3300"/>
              <a:buFont typeface="Arial"/>
              <a:buNone/>
            </a:pPr>
            <a:r>
              <a:rPr lang="en-GB">
                <a:solidFill>
                  <a:schemeClr val="accent1"/>
                </a:solidFill>
              </a:rPr>
              <a:t>Objective</a:t>
            </a:r>
            <a:endParaRPr/>
          </a:p>
        </p:txBody>
      </p:sp>
      <p:sp>
        <p:nvSpPr>
          <p:cNvPr id="172" name="Google Shape;172;p32"/>
          <p:cNvSpPr txBox="1">
            <a:spLocks noGrp="1"/>
          </p:cNvSpPr>
          <p:nvPr>
            <p:ph type="body" idx="1"/>
          </p:nvPr>
        </p:nvSpPr>
        <p:spPr>
          <a:xfrm>
            <a:off x="332500" y="1335950"/>
            <a:ext cx="8478900" cy="3296700"/>
          </a:xfrm>
          <a:prstGeom prst="rect">
            <a:avLst/>
          </a:prstGeom>
          <a:noFill/>
          <a:ln>
            <a:noFill/>
          </a:ln>
        </p:spPr>
        <p:txBody>
          <a:bodyPr spcFirstLastPara="1" wrap="square" lIns="68575" tIns="34275" rIns="68575" bIns="34275" anchor="t" anchorCtr="0">
            <a:normAutofit fontScale="47500" lnSpcReduction="20000"/>
          </a:bodyPr>
          <a:lstStyle/>
          <a:p>
            <a:pPr marL="177800" lvl="0" indent="-123444" algn="l" rtl="0">
              <a:lnSpc>
                <a:spcPct val="90000"/>
              </a:lnSpc>
              <a:spcBef>
                <a:spcPts val="0"/>
              </a:spcBef>
              <a:spcAft>
                <a:spcPts val="0"/>
              </a:spcAft>
              <a:buClr>
                <a:schemeClr val="dk1"/>
              </a:buClr>
              <a:buSzPct val="83014"/>
              <a:buChar char="●"/>
            </a:pPr>
            <a:r>
              <a:rPr lang="en-GB" sz="2944"/>
              <a:t>Design Chatbot for SI/PI/EMC support in PCB design.</a:t>
            </a:r>
            <a:endParaRPr sz="2944"/>
          </a:p>
          <a:p>
            <a:pPr marL="177800" lvl="0" indent="0" algn="l" rtl="0">
              <a:lnSpc>
                <a:spcPct val="90000"/>
              </a:lnSpc>
              <a:spcBef>
                <a:spcPts val="0"/>
              </a:spcBef>
              <a:spcAft>
                <a:spcPts val="0"/>
              </a:spcAft>
              <a:buNone/>
            </a:pPr>
            <a:endParaRPr sz="2944"/>
          </a:p>
          <a:p>
            <a:pPr marL="177800" lvl="0" indent="-123444" algn="l" rtl="0">
              <a:lnSpc>
                <a:spcPct val="90000"/>
              </a:lnSpc>
              <a:spcBef>
                <a:spcPts val="800"/>
              </a:spcBef>
              <a:spcAft>
                <a:spcPts val="0"/>
              </a:spcAft>
              <a:buClr>
                <a:schemeClr val="dk1"/>
              </a:buClr>
              <a:buSzPct val="83014"/>
              <a:buChar char="●"/>
            </a:pPr>
            <a:r>
              <a:rPr lang="en-GB" sz="2944" b="1"/>
              <a:t>Goals: </a:t>
            </a:r>
            <a:r>
              <a:rPr lang="en-GB" sz="2944"/>
              <a:t>Improve interaction, accessibility, response quality and Tools access.</a:t>
            </a:r>
            <a:endParaRPr sz="2944"/>
          </a:p>
          <a:p>
            <a:pPr marL="177800" lvl="0" indent="0" algn="l" rtl="0">
              <a:lnSpc>
                <a:spcPct val="90000"/>
              </a:lnSpc>
              <a:spcBef>
                <a:spcPts val="800"/>
              </a:spcBef>
              <a:spcAft>
                <a:spcPts val="0"/>
              </a:spcAft>
              <a:buNone/>
            </a:pPr>
            <a:endParaRPr sz="2944"/>
          </a:p>
          <a:p>
            <a:pPr marL="177800" lvl="0" indent="-123444" algn="l" rtl="0">
              <a:lnSpc>
                <a:spcPct val="90000"/>
              </a:lnSpc>
              <a:spcBef>
                <a:spcPts val="800"/>
              </a:spcBef>
              <a:spcAft>
                <a:spcPts val="0"/>
              </a:spcAft>
              <a:buSzPct val="83014"/>
              <a:buChar char="●"/>
            </a:pPr>
            <a:r>
              <a:rPr lang="en-GB" sz="2944" b="1"/>
              <a:t>Added Functionalities</a:t>
            </a:r>
            <a:r>
              <a:rPr lang="en-GB" sz="2944"/>
              <a:t>: </a:t>
            </a:r>
            <a:endParaRPr sz="2944"/>
          </a:p>
          <a:p>
            <a:pPr marL="0" lvl="0" indent="0" algn="l" rtl="0">
              <a:lnSpc>
                <a:spcPct val="90000"/>
              </a:lnSpc>
              <a:spcBef>
                <a:spcPts val="800"/>
              </a:spcBef>
              <a:spcAft>
                <a:spcPts val="0"/>
              </a:spcAft>
              <a:buNone/>
            </a:pPr>
            <a:endParaRPr/>
          </a:p>
          <a:p>
            <a:pPr marL="1371600" lvl="1" indent="-295783" algn="l" rtl="0">
              <a:lnSpc>
                <a:spcPct val="200000"/>
              </a:lnSpc>
              <a:spcBef>
                <a:spcPts val="800"/>
              </a:spcBef>
              <a:spcAft>
                <a:spcPts val="0"/>
              </a:spcAft>
              <a:buSzPct val="82786"/>
              <a:buChar char="❏"/>
            </a:pPr>
            <a:r>
              <a:rPr lang="en-GB" sz="2324"/>
              <a:t>Handling Images,PDF,Word</a:t>
            </a:r>
            <a:endParaRPr sz="2324"/>
          </a:p>
          <a:p>
            <a:pPr marL="1371600" lvl="1" indent="-295783" algn="l" rtl="0">
              <a:lnSpc>
                <a:spcPct val="200000"/>
              </a:lnSpc>
              <a:spcBef>
                <a:spcPts val="0"/>
              </a:spcBef>
              <a:spcAft>
                <a:spcPts val="0"/>
              </a:spcAft>
              <a:buSzPct val="82786"/>
              <a:buChar char="❏"/>
            </a:pPr>
            <a:r>
              <a:rPr lang="en-GB" sz="2324"/>
              <a:t>Access To Web search</a:t>
            </a:r>
            <a:endParaRPr sz="2324"/>
          </a:p>
          <a:p>
            <a:pPr marL="1371600" lvl="1" indent="-277495" algn="l" rtl="0">
              <a:lnSpc>
                <a:spcPct val="200000"/>
              </a:lnSpc>
              <a:spcBef>
                <a:spcPts val="0"/>
              </a:spcBef>
              <a:spcAft>
                <a:spcPts val="0"/>
              </a:spcAft>
              <a:buSzPct val="60250"/>
              <a:buChar char="❏"/>
            </a:pPr>
            <a:r>
              <a:rPr lang="en-GB" sz="2324"/>
              <a:t>Access To eCADSTAR Simulations  </a:t>
            </a:r>
            <a:r>
              <a:rPr lang="en-GB"/>
              <a:t>     </a:t>
            </a:r>
            <a:endParaRPr/>
          </a:p>
          <a:p>
            <a:pPr marL="177800" lvl="0" indent="0" algn="l" rtl="0">
              <a:lnSpc>
                <a:spcPct val="90000"/>
              </a:lnSpc>
              <a:spcBef>
                <a:spcPts val="800"/>
              </a:spcBef>
              <a:spcAft>
                <a:spcPts val="0"/>
              </a:spcAft>
              <a:buNone/>
            </a:pPr>
            <a:endParaRPr/>
          </a:p>
          <a:p>
            <a:pPr marL="0" lvl="0" indent="0" algn="l" rtl="0">
              <a:lnSpc>
                <a:spcPct val="90000"/>
              </a:lnSpc>
              <a:spcBef>
                <a:spcPts val="800"/>
              </a:spcBef>
              <a:spcAft>
                <a:spcPts val="0"/>
              </a:spcAft>
              <a:buNone/>
            </a:pPr>
            <a:endParaRPr/>
          </a:p>
          <a:p>
            <a:pPr marL="177800" lvl="0" indent="0" algn="l" rtl="0">
              <a:lnSpc>
                <a:spcPct val="90000"/>
              </a:lnSpc>
              <a:spcBef>
                <a:spcPts val="800"/>
              </a:spcBef>
              <a:spcAft>
                <a:spcPts val="0"/>
              </a:spcAft>
              <a:buNone/>
            </a:pPr>
            <a:r>
              <a:rPr lang="en-GB"/>
              <a:t>        </a:t>
            </a:r>
            <a:endParaRPr/>
          </a:p>
        </p:txBody>
      </p:sp>
      <p:sp>
        <p:nvSpPr>
          <p:cNvPr id="173" name="Google Shape;173;p32"/>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174" name="Google Shape;174;p32"/>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ReAct Framework</a:t>
            </a:r>
            <a:endParaRPr/>
          </a:p>
        </p:txBody>
      </p:sp>
      <p:sp>
        <p:nvSpPr>
          <p:cNvPr id="180" name="Google Shape;180;p33"/>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457200" lvl="0" indent="-355600" algn="l" rtl="0">
              <a:lnSpc>
                <a:spcPct val="90000"/>
              </a:lnSpc>
              <a:spcBef>
                <a:spcPts val="0"/>
              </a:spcBef>
              <a:spcAft>
                <a:spcPts val="0"/>
              </a:spcAft>
              <a:buSzPts val="2000"/>
              <a:buChar char="•"/>
            </a:pPr>
            <a:r>
              <a:rPr lang="en-GB"/>
              <a:t>Reasoning + Action   </a:t>
            </a:r>
            <a:endParaRPr/>
          </a:p>
          <a:p>
            <a:pPr marL="177800" lvl="0" indent="0" algn="l" rtl="0">
              <a:lnSpc>
                <a:spcPct val="90000"/>
              </a:lnSpc>
              <a:spcBef>
                <a:spcPts val="800"/>
              </a:spcBef>
              <a:spcAft>
                <a:spcPts val="0"/>
              </a:spcAft>
              <a:buNone/>
            </a:pPr>
            <a:endParaRPr/>
          </a:p>
          <a:p>
            <a:pPr marL="0" lvl="0" indent="0" algn="l" rtl="0">
              <a:lnSpc>
                <a:spcPct val="90000"/>
              </a:lnSpc>
              <a:spcBef>
                <a:spcPts val="800"/>
              </a:spcBef>
              <a:spcAft>
                <a:spcPts val="0"/>
              </a:spcAft>
              <a:buNone/>
            </a:pPr>
            <a:endParaRPr/>
          </a:p>
          <a:p>
            <a:pPr marL="177800" lvl="0" indent="0" algn="l" rtl="0">
              <a:lnSpc>
                <a:spcPct val="90000"/>
              </a:lnSpc>
              <a:spcBef>
                <a:spcPts val="800"/>
              </a:spcBef>
              <a:spcAft>
                <a:spcPts val="0"/>
              </a:spcAft>
              <a:buNone/>
            </a:pPr>
            <a:r>
              <a:rPr lang="en-GB"/>
              <a:t>        </a:t>
            </a:r>
            <a:endParaRPr/>
          </a:p>
        </p:txBody>
      </p:sp>
      <p:sp>
        <p:nvSpPr>
          <p:cNvPr id="181" name="Google Shape;181;p33"/>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182" name="Google Shape;182;p33"/>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4</a:t>
            </a:fld>
            <a:endParaRPr/>
          </a:p>
        </p:txBody>
      </p:sp>
      <p:pic>
        <p:nvPicPr>
          <p:cNvPr id="183" name="Google Shape;183;p33" title="1_TQspcqCDuqzbv5bCiIG26w.png"/>
          <p:cNvPicPr preferRelativeResize="0"/>
          <p:nvPr/>
        </p:nvPicPr>
        <p:blipFill>
          <a:blip r:embed="rId3">
            <a:alphaModFix/>
          </a:blip>
          <a:stretch>
            <a:fillRect/>
          </a:stretch>
        </p:blipFill>
        <p:spPr>
          <a:xfrm>
            <a:off x="696600" y="1747501"/>
            <a:ext cx="7199549" cy="2856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4"/>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Handling Images</a:t>
            </a:r>
            <a:endParaRPr/>
          </a:p>
        </p:txBody>
      </p:sp>
      <p:sp>
        <p:nvSpPr>
          <p:cNvPr id="189" name="Google Shape;189;p34"/>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457200" lvl="0" indent="-317500" algn="l" rtl="0">
              <a:lnSpc>
                <a:spcPct val="150000"/>
              </a:lnSpc>
              <a:spcBef>
                <a:spcPts val="0"/>
              </a:spcBef>
              <a:spcAft>
                <a:spcPts val="0"/>
              </a:spcAft>
              <a:buSzPts val="1400"/>
              <a:buChar char="●"/>
            </a:pPr>
            <a:r>
              <a:rPr lang="en-GB"/>
              <a:t>Images to text(descriptions) - Multimodel   </a:t>
            </a:r>
            <a:endParaRPr/>
          </a:p>
          <a:p>
            <a:pPr marL="457200" lvl="0" indent="-317500" algn="l" rtl="0">
              <a:lnSpc>
                <a:spcPct val="150000"/>
              </a:lnSpc>
              <a:spcBef>
                <a:spcPts val="0"/>
              </a:spcBef>
              <a:spcAft>
                <a:spcPts val="0"/>
              </a:spcAft>
              <a:buSzPts val="1400"/>
              <a:buChar char="●"/>
            </a:pPr>
            <a:r>
              <a:rPr lang="en-GB"/>
              <a:t>Descriptions + User Question</a:t>
            </a:r>
            <a:endParaRPr/>
          </a:p>
          <a:p>
            <a:pPr marL="457200" lvl="0" indent="-317500" algn="l" rtl="0">
              <a:lnSpc>
                <a:spcPct val="150000"/>
              </a:lnSpc>
              <a:spcBef>
                <a:spcPts val="0"/>
              </a:spcBef>
              <a:spcAft>
                <a:spcPts val="0"/>
              </a:spcAft>
              <a:buSzPts val="1400"/>
              <a:buChar char="●"/>
            </a:pPr>
            <a:r>
              <a:rPr lang="en-GB"/>
              <a:t>Feed to the LLM(orchestrator)</a:t>
            </a:r>
            <a:endParaRPr/>
          </a:p>
          <a:p>
            <a:pPr marL="457200" lvl="0" indent="-317500" algn="l" rtl="0">
              <a:lnSpc>
                <a:spcPct val="90000"/>
              </a:lnSpc>
              <a:spcBef>
                <a:spcPts val="0"/>
              </a:spcBef>
              <a:spcAft>
                <a:spcPts val="0"/>
              </a:spcAft>
              <a:buSzPts val="1400"/>
              <a:buChar char="●"/>
            </a:pPr>
            <a:r>
              <a:rPr lang="en-GB"/>
              <a:t>  </a:t>
            </a:r>
            <a:r>
              <a:rPr lang="en-GB" b="1"/>
              <a:t>Why ? </a:t>
            </a:r>
            <a:r>
              <a:rPr lang="en-GB"/>
              <a:t>: </a:t>
            </a:r>
            <a:endParaRPr/>
          </a:p>
          <a:p>
            <a:pPr marL="457200" lvl="0" indent="0" algn="l" rtl="0">
              <a:lnSpc>
                <a:spcPct val="90000"/>
              </a:lnSpc>
              <a:spcBef>
                <a:spcPts val="800"/>
              </a:spcBef>
              <a:spcAft>
                <a:spcPts val="0"/>
              </a:spcAft>
              <a:buNone/>
            </a:pPr>
            <a:r>
              <a:rPr lang="en-GB"/>
              <a:t>  Simple to implement with smaller models and during fine-tuning.    </a:t>
            </a:r>
            <a:endParaRPr/>
          </a:p>
        </p:txBody>
      </p:sp>
      <p:sp>
        <p:nvSpPr>
          <p:cNvPr id="190" name="Google Shape;190;p34"/>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191" name="Google Shape;191;p34"/>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5"/>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Agent Architecture</a:t>
            </a:r>
            <a:endParaRPr/>
          </a:p>
        </p:txBody>
      </p:sp>
      <p:sp>
        <p:nvSpPr>
          <p:cNvPr id="197" name="Google Shape;197;p35"/>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177800" lvl="0" indent="0" algn="l" rtl="0">
              <a:lnSpc>
                <a:spcPct val="90000"/>
              </a:lnSpc>
              <a:spcBef>
                <a:spcPts val="0"/>
              </a:spcBef>
              <a:spcAft>
                <a:spcPts val="0"/>
              </a:spcAft>
              <a:buNone/>
            </a:pPr>
            <a:r>
              <a:rPr lang="en-GB"/>
              <a:t>   </a:t>
            </a:r>
            <a:endParaRPr/>
          </a:p>
          <a:p>
            <a:pPr marL="177800" lvl="0" indent="0" algn="l" rtl="0">
              <a:lnSpc>
                <a:spcPct val="90000"/>
              </a:lnSpc>
              <a:spcBef>
                <a:spcPts val="800"/>
              </a:spcBef>
              <a:spcAft>
                <a:spcPts val="0"/>
              </a:spcAft>
              <a:buNone/>
            </a:pPr>
            <a:endParaRPr/>
          </a:p>
          <a:p>
            <a:pPr marL="0" lvl="0" indent="0" algn="l" rtl="0">
              <a:lnSpc>
                <a:spcPct val="90000"/>
              </a:lnSpc>
              <a:spcBef>
                <a:spcPts val="800"/>
              </a:spcBef>
              <a:spcAft>
                <a:spcPts val="0"/>
              </a:spcAft>
              <a:buNone/>
            </a:pPr>
            <a:endParaRPr/>
          </a:p>
          <a:p>
            <a:pPr marL="177800" lvl="0" indent="0" algn="l" rtl="0">
              <a:lnSpc>
                <a:spcPct val="90000"/>
              </a:lnSpc>
              <a:spcBef>
                <a:spcPts val="800"/>
              </a:spcBef>
              <a:spcAft>
                <a:spcPts val="0"/>
              </a:spcAft>
              <a:buNone/>
            </a:pPr>
            <a:r>
              <a:rPr lang="en-GB"/>
              <a:t>        </a:t>
            </a:r>
            <a:endParaRPr/>
          </a:p>
        </p:txBody>
      </p:sp>
      <p:sp>
        <p:nvSpPr>
          <p:cNvPr id="198" name="Google Shape;198;p35"/>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199" name="Google Shape;199;p35"/>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6</a:t>
            </a:fld>
            <a:endParaRPr/>
          </a:p>
        </p:txBody>
      </p:sp>
      <p:pic>
        <p:nvPicPr>
          <p:cNvPr id="200" name="Google Shape;200;p35" title="agar.png"/>
          <p:cNvPicPr preferRelativeResize="0"/>
          <p:nvPr/>
        </p:nvPicPr>
        <p:blipFill>
          <a:blip r:embed="rId3">
            <a:alphaModFix/>
          </a:blip>
          <a:stretch>
            <a:fillRect/>
          </a:stretch>
        </p:blipFill>
        <p:spPr>
          <a:xfrm>
            <a:off x="1835250" y="1052775"/>
            <a:ext cx="5062952" cy="3661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Orchestrator</a:t>
            </a:r>
            <a:endParaRPr/>
          </a:p>
        </p:txBody>
      </p:sp>
      <p:sp>
        <p:nvSpPr>
          <p:cNvPr id="206" name="Google Shape;206;p36"/>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SzPts val="1400"/>
              <a:buChar char="●"/>
            </a:pPr>
            <a:r>
              <a:rPr lang="en-GB"/>
              <a:t>Orchestrator breaks down User Question.</a:t>
            </a:r>
            <a:endParaRPr/>
          </a:p>
          <a:p>
            <a:pPr marL="457200" lvl="0" indent="-317500" algn="l" rtl="0">
              <a:lnSpc>
                <a:spcPct val="115000"/>
              </a:lnSpc>
              <a:spcBef>
                <a:spcPts val="0"/>
              </a:spcBef>
              <a:spcAft>
                <a:spcPts val="0"/>
              </a:spcAft>
              <a:buSzPts val="1400"/>
              <a:buChar char="●"/>
            </a:pPr>
            <a:r>
              <a:rPr lang="en-GB"/>
              <a:t>Gives responses for next step (thoughts)</a:t>
            </a:r>
            <a:endParaRPr/>
          </a:p>
          <a:p>
            <a:pPr marL="1828800" lvl="1" indent="-317500" algn="l" rtl="0">
              <a:lnSpc>
                <a:spcPct val="150000"/>
              </a:lnSpc>
              <a:spcBef>
                <a:spcPts val="0"/>
              </a:spcBef>
              <a:spcAft>
                <a:spcPts val="0"/>
              </a:spcAft>
              <a:buSzPts val="1400"/>
              <a:buChar char="❏"/>
            </a:pPr>
            <a:r>
              <a:rPr lang="en-GB"/>
              <a:t>Action</a:t>
            </a:r>
            <a:endParaRPr/>
          </a:p>
          <a:p>
            <a:pPr marL="1828800" lvl="1" indent="-317500" algn="l" rtl="0">
              <a:lnSpc>
                <a:spcPct val="170000"/>
              </a:lnSpc>
              <a:spcBef>
                <a:spcPts val="0"/>
              </a:spcBef>
              <a:spcAft>
                <a:spcPts val="0"/>
              </a:spcAft>
              <a:buSzPts val="1400"/>
              <a:buChar char="❏"/>
            </a:pPr>
            <a:r>
              <a:rPr lang="en-GB"/>
              <a:t>Final Answer</a:t>
            </a:r>
            <a:endParaRPr/>
          </a:p>
          <a:p>
            <a:pPr marL="457200" lvl="0" indent="-317500" algn="l" rtl="0">
              <a:lnSpc>
                <a:spcPct val="150000"/>
              </a:lnSpc>
              <a:spcBef>
                <a:spcPts val="0"/>
              </a:spcBef>
              <a:spcAft>
                <a:spcPts val="0"/>
              </a:spcAft>
              <a:buSzPts val="1400"/>
              <a:buChar char="●"/>
            </a:pPr>
            <a:r>
              <a:rPr lang="en-GB" b="1"/>
              <a:t>Multi-hop queries </a:t>
            </a:r>
            <a:r>
              <a:rPr lang="en-GB"/>
              <a:t>require multiple reasoning steps to arrive at the final answer in ReAct Agent.</a:t>
            </a:r>
            <a:endParaRPr/>
          </a:p>
          <a:p>
            <a:pPr marL="457200" lvl="0" indent="-317500" algn="l" rtl="0">
              <a:lnSpc>
                <a:spcPct val="150000"/>
              </a:lnSpc>
              <a:spcBef>
                <a:spcPts val="0"/>
              </a:spcBef>
              <a:spcAft>
                <a:spcPts val="0"/>
              </a:spcAft>
              <a:buSzPts val="1400"/>
              <a:buChar char="●"/>
            </a:pPr>
            <a:r>
              <a:rPr lang="en-GB"/>
              <a:t>Deepseek 70b distilled , gpt-4o,gemini 1.5 pro </a:t>
            </a:r>
            <a:endParaRPr/>
          </a:p>
        </p:txBody>
      </p:sp>
      <p:sp>
        <p:nvSpPr>
          <p:cNvPr id="207" name="Google Shape;207;p36"/>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208" name="Google Shape;208;p36"/>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7"/>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Tools </a:t>
            </a:r>
            <a:endParaRPr/>
          </a:p>
        </p:txBody>
      </p:sp>
      <p:sp>
        <p:nvSpPr>
          <p:cNvPr id="214" name="Google Shape;214;p37"/>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457200" lvl="0" indent="-317500" algn="l" rtl="0">
              <a:lnSpc>
                <a:spcPct val="150000"/>
              </a:lnSpc>
              <a:spcBef>
                <a:spcPts val="800"/>
              </a:spcBef>
              <a:spcAft>
                <a:spcPts val="0"/>
              </a:spcAft>
              <a:buSzPts val="1400"/>
              <a:buChar char="●"/>
            </a:pPr>
            <a:r>
              <a:rPr lang="en-GB"/>
              <a:t>Make the agent more powerful by connecting it to outside systems, APIs, or information sources.</a:t>
            </a:r>
            <a:endParaRPr/>
          </a:p>
          <a:p>
            <a:pPr marL="457200" lvl="0" indent="-317500" algn="l" rtl="0">
              <a:lnSpc>
                <a:spcPct val="150000"/>
              </a:lnSpc>
              <a:spcBef>
                <a:spcPts val="0"/>
              </a:spcBef>
              <a:spcAft>
                <a:spcPts val="0"/>
              </a:spcAft>
              <a:buSzPts val="1400"/>
              <a:buChar char="●"/>
            </a:pPr>
            <a:r>
              <a:rPr lang="en-GB"/>
              <a:t>The orchestrator chooses when and how to use these tools.</a:t>
            </a:r>
            <a:endParaRPr/>
          </a:p>
          <a:p>
            <a:pPr marL="457200" lvl="0" indent="-317500" algn="l" rtl="0">
              <a:lnSpc>
                <a:spcPct val="150000"/>
              </a:lnSpc>
              <a:spcBef>
                <a:spcPts val="0"/>
              </a:spcBef>
              <a:spcAft>
                <a:spcPts val="0"/>
              </a:spcAft>
              <a:buSzPts val="1400"/>
              <a:buChar char="●"/>
            </a:pPr>
            <a:r>
              <a:rPr lang="en-GB"/>
              <a:t>Our agent has the following tools:</a:t>
            </a:r>
            <a:endParaRPr/>
          </a:p>
          <a:p>
            <a:pPr marL="1371600" lvl="1" indent="-317500" algn="l" rtl="0">
              <a:lnSpc>
                <a:spcPct val="150000"/>
              </a:lnSpc>
              <a:spcBef>
                <a:spcPts val="0"/>
              </a:spcBef>
              <a:spcAft>
                <a:spcPts val="0"/>
              </a:spcAft>
              <a:buSzPts val="1400"/>
              <a:buChar char="❏"/>
            </a:pPr>
            <a:r>
              <a:rPr lang="en-GB"/>
              <a:t>Simulation</a:t>
            </a:r>
            <a:endParaRPr/>
          </a:p>
          <a:p>
            <a:pPr marL="1371600" lvl="1" indent="-317500" algn="l" rtl="0">
              <a:lnSpc>
                <a:spcPct val="150000"/>
              </a:lnSpc>
              <a:spcBef>
                <a:spcPts val="0"/>
              </a:spcBef>
              <a:spcAft>
                <a:spcPts val="0"/>
              </a:spcAft>
              <a:buSzPts val="1400"/>
              <a:buChar char="❏"/>
            </a:pPr>
            <a:r>
              <a:rPr lang="en-GB"/>
              <a:t>PCB Expert</a:t>
            </a:r>
            <a:endParaRPr/>
          </a:p>
          <a:p>
            <a:pPr marL="1371600" lvl="1" indent="-317500" algn="l" rtl="0">
              <a:lnSpc>
                <a:spcPct val="150000"/>
              </a:lnSpc>
              <a:spcBef>
                <a:spcPts val="0"/>
              </a:spcBef>
              <a:spcAft>
                <a:spcPts val="0"/>
              </a:spcAft>
              <a:buSzPts val="1400"/>
              <a:buChar char="❏"/>
            </a:pPr>
            <a:r>
              <a:rPr lang="en-GB"/>
              <a:t>RAG   </a:t>
            </a:r>
            <a:endParaRPr/>
          </a:p>
        </p:txBody>
      </p:sp>
      <p:sp>
        <p:nvSpPr>
          <p:cNvPr id="215" name="Google Shape;215;p37"/>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216" name="Google Shape;216;p37"/>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8</a:t>
            </a:fld>
            <a:endParaRPr/>
          </a:p>
        </p:txBody>
      </p:sp>
      <p:pic>
        <p:nvPicPr>
          <p:cNvPr id="217" name="Google Shape;217;p37" title="ChatGPT Image May 4, 2025, 08_49_06 PM.png"/>
          <p:cNvPicPr preferRelativeResize="0"/>
          <p:nvPr/>
        </p:nvPicPr>
        <p:blipFill>
          <a:blip r:embed="rId3">
            <a:alphaModFix/>
          </a:blip>
          <a:stretch>
            <a:fillRect/>
          </a:stretch>
        </p:blipFill>
        <p:spPr>
          <a:xfrm>
            <a:off x="5189400" y="2832650"/>
            <a:ext cx="2310851" cy="23108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8"/>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Simulation </a:t>
            </a:r>
            <a:endParaRPr/>
          </a:p>
        </p:txBody>
      </p:sp>
      <p:sp>
        <p:nvSpPr>
          <p:cNvPr id="223" name="Google Shape;223;p38"/>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457200" lvl="0" indent="-317500" algn="l" rtl="0">
              <a:lnSpc>
                <a:spcPct val="150000"/>
              </a:lnSpc>
              <a:spcBef>
                <a:spcPts val="800"/>
              </a:spcBef>
              <a:spcAft>
                <a:spcPts val="0"/>
              </a:spcAft>
              <a:buSzPts val="1400"/>
              <a:buChar char="●"/>
            </a:pPr>
            <a:r>
              <a:rPr lang="en-GB"/>
              <a:t>eCADstar Electrical editor simulations.</a:t>
            </a:r>
            <a:endParaRPr/>
          </a:p>
          <a:p>
            <a:pPr marL="1371600" lvl="1" indent="-317500" algn="l" rtl="0">
              <a:lnSpc>
                <a:spcPct val="150000"/>
              </a:lnSpc>
              <a:spcBef>
                <a:spcPts val="0"/>
              </a:spcBef>
              <a:spcAft>
                <a:spcPts val="0"/>
              </a:spcAft>
              <a:buSzPts val="1400"/>
              <a:buChar char="❏"/>
            </a:pPr>
            <a:r>
              <a:rPr lang="en-GB"/>
              <a:t>Supports </a:t>
            </a:r>
            <a:r>
              <a:rPr lang="en-GB" b="1"/>
              <a:t>FD,SI,TDR</a:t>
            </a:r>
            <a:endParaRPr b="1"/>
          </a:p>
          <a:p>
            <a:pPr marL="1371600" lvl="1" indent="-317500" algn="l" rtl="0">
              <a:lnSpc>
                <a:spcPct val="150000"/>
              </a:lnSpc>
              <a:spcBef>
                <a:spcPts val="0"/>
              </a:spcBef>
              <a:spcAft>
                <a:spcPts val="0"/>
              </a:spcAft>
              <a:buSzPts val="1400"/>
              <a:buChar char="❏"/>
            </a:pPr>
            <a:r>
              <a:rPr lang="en-GB"/>
              <a:t>Dynamically modify </a:t>
            </a:r>
            <a:r>
              <a:rPr lang="en-GB" b="1"/>
              <a:t>resistor value </a:t>
            </a:r>
            <a:r>
              <a:rPr lang="en-GB"/>
              <a:t>&amp; </a:t>
            </a:r>
            <a:r>
              <a:rPr lang="en-GB" b="1"/>
              <a:t>Transmission length</a:t>
            </a:r>
            <a:r>
              <a:rPr lang="en-GB"/>
              <a:t>.</a:t>
            </a:r>
            <a:endParaRPr/>
          </a:p>
          <a:p>
            <a:pPr marL="457200" lvl="0" indent="-317500" algn="l" rtl="0">
              <a:lnSpc>
                <a:spcPct val="150000"/>
              </a:lnSpc>
              <a:spcBef>
                <a:spcPts val="0"/>
              </a:spcBef>
              <a:spcAft>
                <a:spcPts val="0"/>
              </a:spcAft>
              <a:buSzPts val="1400"/>
              <a:buChar char="●"/>
            </a:pPr>
            <a:r>
              <a:rPr lang="en-GB"/>
              <a:t>No CLI instead Pyautogui hotkeys </a:t>
            </a:r>
            <a:endParaRPr/>
          </a:p>
          <a:p>
            <a:pPr marL="457200" lvl="0" indent="0" algn="l" rtl="0">
              <a:lnSpc>
                <a:spcPct val="150000"/>
              </a:lnSpc>
              <a:spcBef>
                <a:spcPts val="800"/>
              </a:spcBef>
              <a:spcAft>
                <a:spcPts val="0"/>
              </a:spcAft>
              <a:buNone/>
            </a:pPr>
            <a:r>
              <a:rPr lang="en-GB"/>
              <a:t> </a:t>
            </a:r>
            <a:endParaRPr/>
          </a:p>
        </p:txBody>
      </p:sp>
      <p:sp>
        <p:nvSpPr>
          <p:cNvPr id="224" name="Google Shape;224;p38"/>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225" name="Google Shape;225;p38"/>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9</a:t>
            </a:fld>
            <a:endParaRPr/>
          </a:p>
        </p:txBody>
      </p:sp>
      <p:sp>
        <p:nvSpPr>
          <p:cNvPr id="226" name="Google Shape;226;p38"/>
          <p:cNvSpPr/>
          <p:nvPr/>
        </p:nvSpPr>
        <p:spPr>
          <a:xfrm>
            <a:off x="695375" y="3383925"/>
            <a:ext cx="1513800" cy="540000"/>
          </a:xfrm>
          <a:prstGeom prst="roundRect">
            <a:avLst>
              <a:gd name="adj" fmla="val 16667"/>
            </a:avLst>
          </a:prstGeom>
          <a:solidFill>
            <a:srgbClr val="C9DAF8"/>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Orchestrator</a:t>
            </a:r>
            <a:endParaRPr>
              <a:solidFill>
                <a:schemeClr val="dk1"/>
              </a:solidFill>
            </a:endParaRPr>
          </a:p>
        </p:txBody>
      </p:sp>
      <p:sp>
        <p:nvSpPr>
          <p:cNvPr id="227" name="Google Shape;227;p38"/>
          <p:cNvSpPr/>
          <p:nvPr/>
        </p:nvSpPr>
        <p:spPr>
          <a:xfrm>
            <a:off x="2979275" y="3383925"/>
            <a:ext cx="1466700" cy="540000"/>
          </a:xfrm>
          <a:prstGeom prst="roundRect">
            <a:avLst>
              <a:gd name="adj" fmla="val 16667"/>
            </a:avLst>
          </a:prstGeom>
          <a:solidFill>
            <a:srgbClr val="C9DAF8"/>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Semantic search</a:t>
            </a:r>
            <a:endParaRPr/>
          </a:p>
        </p:txBody>
      </p:sp>
      <p:sp>
        <p:nvSpPr>
          <p:cNvPr id="228" name="Google Shape;228;p38"/>
          <p:cNvSpPr/>
          <p:nvPr/>
        </p:nvSpPr>
        <p:spPr>
          <a:xfrm>
            <a:off x="5066425" y="3383925"/>
            <a:ext cx="1466700" cy="540000"/>
          </a:xfrm>
          <a:prstGeom prst="roundRect">
            <a:avLst>
              <a:gd name="adj" fmla="val 16667"/>
            </a:avLst>
          </a:prstGeom>
          <a:solidFill>
            <a:srgbClr val="C9DAF8"/>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eCADstar </a:t>
            </a:r>
            <a:endParaRPr/>
          </a:p>
        </p:txBody>
      </p:sp>
      <p:sp>
        <p:nvSpPr>
          <p:cNvPr id="229" name="Google Shape;229;p38"/>
          <p:cNvSpPr/>
          <p:nvPr/>
        </p:nvSpPr>
        <p:spPr>
          <a:xfrm>
            <a:off x="2209175" y="3601575"/>
            <a:ext cx="770100" cy="104700"/>
          </a:xfrm>
          <a:prstGeom prst="rightArrow">
            <a:avLst>
              <a:gd name="adj1" fmla="val 50000"/>
              <a:gd name="adj2" fmla="val 50000"/>
            </a:avLst>
          </a:prstGeom>
          <a:solidFill>
            <a:schemeClr val="l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38"/>
          <p:cNvSpPr/>
          <p:nvPr/>
        </p:nvSpPr>
        <p:spPr>
          <a:xfrm>
            <a:off x="7153575" y="3383925"/>
            <a:ext cx="1466700" cy="540000"/>
          </a:xfrm>
          <a:prstGeom prst="roundRect">
            <a:avLst>
              <a:gd name="adj" fmla="val 16667"/>
            </a:avLst>
          </a:prstGeom>
          <a:solidFill>
            <a:srgbClr val="C9DAF8"/>
          </a:solid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Image descriptor</a:t>
            </a:r>
            <a:endParaRPr/>
          </a:p>
        </p:txBody>
      </p:sp>
      <p:sp>
        <p:nvSpPr>
          <p:cNvPr id="231" name="Google Shape;231;p38"/>
          <p:cNvSpPr/>
          <p:nvPr/>
        </p:nvSpPr>
        <p:spPr>
          <a:xfrm>
            <a:off x="4445975" y="3601575"/>
            <a:ext cx="620400" cy="104700"/>
          </a:xfrm>
          <a:prstGeom prst="rightArrow">
            <a:avLst>
              <a:gd name="adj1" fmla="val 50000"/>
              <a:gd name="adj2" fmla="val 50000"/>
            </a:avLst>
          </a:prstGeom>
          <a:solidFill>
            <a:schemeClr val="l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38"/>
          <p:cNvSpPr/>
          <p:nvPr/>
        </p:nvSpPr>
        <p:spPr>
          <a:xfrm>
            <a:off x="6533075" y="3601575"/>
            <a:ext cx="620400" cy="104700"/>
          </a:xfrm>
          <a:prstGeom prst="rightArrow">
            <a:avLst>
              <a:gd name="adj1" fmla="val 50000"/>
              <a:gd name="adj2" fmla="val 50000"/>
            </a:avLst>
          </a:prstGeom>
          <a:solidFill>
            <a:schemeClr val="lt1"/>
          </a:solidFill>
          <a:ln w="1905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 name="Google Shape;233;p38"/>
          <p:cNvSpPr/>
          <p:nvPr/>
        </p:nvSpPr>
        <p:spPr>
          <a:xfrm>
            <a:off x="2680525" y="3038225"/>
            <a:ext cx="6232950" cy="1623726"/>
          </a:xfrm>
          <a:prstGeom prst="flowChartTerminator">
            <a:avLst/>
          </a:prstGeom>
          <a:noFill/>
          <a:ln w="9525" cap="flat" cmpd="sng">
            <a:solidFill>
              <a:srgbClr val="999999"/>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9"/>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PCB Expert </a:t>
            </a:r>
            <a:endParaRPr/>
          </a:p>
        </p:txBody>
      </p:sp>
      <p:sp>
        <p:nvSpPr>
          <p:cNvPr id="239" name="Google Shape;239;p39"/>
          <p:cNvSpPr txBox="1">
            <a:spLocks noGrp="1"/>
          </p:cNvSpPr>
          <p:nvPr>
            <p:ph type="body" idx="1"/>
          </p:nvPr>
        </p:nvSpPr>
        <p:spPr>
          <a:xfrm>
            <a:off x="332500" y="1257375"/>
            <a:ext cx="8478900" cy="3375300"/>
          </a:xfrm>
          <a:prstGeom prst="rect">
            <a:avLst/>
          </a:prstGeom>
          <a:noFill/>
          <a:ln>
            <a:noFill/>
          </a:ln>
        </p:spPr>
        <p:txBody>
          <a:bodyPr spcFirstLastPara="1" wrap="square" lIns="68575" tIns="34275" rIns="68575" bIns="34275" anchor="t" anchorCtr="0">
            <a:normAutofit/>
          </a:bodyPr>
          <a:lstStyle/>
          <a:p>
            <a:pPr marL="457200" lvl="0" indent="-317500" algn="l" rtl="0">
              <a:lnSpc>
                <a:spcPct val="150000"/>
              </a:lnSpc>
              <a:spcBef>
                <a:spcPts val="800"/>
              </a:spcBef>
              <a:spcAft>
                <a:spcPts val="0"/>
              </a:spcAft>
              <a:buSzPts val="1400"/>
              <a:buChar char="●"/>
            </a:pPr>
            <a:r>
              <a:rPr lang="en-GB"/>
              <a:t>Usual LLM fine tuned with domain dataset. (sub-agent)</a:t>
            </a:r>
            <a:endParaRPr/>
          </a:p>
          <a:p>
            <a:pPr marL="457200" lvl="0" indent="-317500" algn="l" rtl="0">
              <a:lnSpc>
                <a:spcPct val="150000"/>
              </a:lnSpc>
              <a:spcBef>
                <a:spcPts val="0"/>
              </a:spcBef>
              <a:spcAft>
                <a:spcPts val="0"/>
              </a:spcAft>
              <a:buSzPts val="1400"/>
              <a:buChar char="●"/>
            </a:pPr>
            <a:r>
              <a:rPr lang="en-GB"/>
              <a:t>Why ? - Easy to implement with minimal datasets. </a:t>
            </a:r>
            <a:endParaRPr/>
          </a:p>
          <a:p>
            <a:pPr marL="457200" lvl="0" indent="-317500" algn="l" rtl="0">
              <a:lnSpc>
                <a:spcPct val="150000"/>
              </a:lnSpc>
              <a:spcBef>
                <a:spcPts val="0"/>
              </a:spcBef>
              <a:spcAft>
                <a:spcPts val="0"/>
              </a:spcAft>
              <a:buSzPts val="1400"/>
              <a:buChar char="●"/>
            </a:pPr>
            <a:r>
              <a:rPr lang="en-GB"/>
              <a:t>Difficult to generate ReAct datasets.</a:t>
            </a:r>
            <a:endParaRPr/>
          </a:p>
          <a:p>
            <a:pPr marL="457200" lvl="0" indent="-317500" algn="l" rtl="0">
              <a:lnSpc>
                <a:spcPct val="150000"/>
              </a:lnSpc>
              <a:spcBef>
                <a:spcPts val="0"/>
              </a:spcBef>
              <a:spcAft>
                <a:spcPts val="0"/>
              </a:spcAft>
              <a:buSzPts val="1400"/>
              <a:buChar char="●"/>
            </a:pPr>
            <a:r>
              <a:rPr lang="en-GB"/>
              <a:t>We can include domain knowledge for the Agent.  </a:t>
            </a:r>
            <a:endParaRPr/>
          </a:p>
          <a:p>
            <a:pPr marL="457200" lvl="0" indent="-317500" algn="l" rtl="0">
              <a:lnSpc>
                <a:spcPct val="150000"/>
              </a:lnSpc>
              <a:spcBef>
                <a:spcPts val="0"/>
              </a:spcBef>
              <a:spcAft>
                <a:spcPts val="0"/>
              </a:spcAft>
              <a:buSzPts val="1400"/>
              <a:buChar char="●"/>
            </a:pPr>
            <a:r>
              <a:rPr lang="en-GB"/>
              <a:t>Deepseek 8b , lama 8b - fine tuned </a:t>
            </a:r>
            <a:endParaRPr/>
          </a:p>
        </p:txBody>
      </p:sp>
      <p:sp>
        <p:nvSpPr>
          <p:cNvPr id="240" name="Google Shape;240;p39"/>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241" name="Google Shape;241;p39"/>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0"/>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GB"/>
              <a:t>VLM Models Overview</a:t>
            </a:r>
            <a:endParaRPr/>
          </a:p>
        </p:txBody>
      </p:sp>
      <p:graphicFrame>
        <p:nvGraphicFramePr>
          <p:cNvPr id="247" name="Google Shape;247;p40"/>
          <p:cNvGraphicFramePr/>
          <p:nvPr/>
        </p:nvGraphicFramePr>
        <p:xfrm>
          <a:off x="430225" y="894625"/>
          <a:ext cx="3000000" cy="3000000"/>
        </p:xfrm>
        <a:graphic>
          <a:graphicData uri="http://schemas.openxmlformats.org/drawingml/2006/table">
            <a:tbl>
              <a:tblPr>
                <a:noFill/>
                <a:tableStyleId>{57D76EBA-3A3C-4FC6-9546-A542B5990890}</a:tableStyleId>
              </a:tblPr>
              <a:tblGrid>
                <a:gridCol w="2714100">
                  <a:extLst>
                    <a:ext uri="{9D8B030D-6E8A-4147-A177-3AD203B41FA5}">
                      <a16:colId xmlns:a16="http://schemas.microsoft.com/office/drawing/2014/main" val="20000"/>
                    </a:ext>
                  </a:extLst>
                </a:gridCol>
                <a:gridCol w="2104175">
                  <a:extLst>
                    <a:ext uri="{9D8B030D-6E8A-4147-A177-3AD203B41FA5}">
                      <a16:colId xmlns:a16="http://schemas.microsoft.com/office/drawing/2014/main" val="20001"/>
                    </a:ext>
                  </a:extLst>
                </a:gridCol>
                <a:gridCol w="3418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GB" b="1"/>
                        <a:t>Model</a:t>
                      </a:r>
                      <a:endParaRPr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b="1"/>
                        <a:t>Size</a:t>
                      </a:r>
                      <a:endParaRPr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b="1"/>
                        <a:t>Key Features</a:t>
                      </a:r>
                      <a:endParaRPr b="1"/>
                    </a:p>
                  </a:txBody>
                  <a:tcPr marL="91425" marR="91425" marT="91425" marB="91425">
                    <a:gradFill>
                      <a:gsLst>
                        <a:gs pos="0">
                          <a:srgbClr val="DCECD5"/>
                        </a:gs>
                        <a:gs pos="100000">
                          <a:srgbClr val="92BC81"/>
                        </a:gs>
                      </a:gsLst>
                      <a:lin ang="5400012" scaled="0"/>
                    </a:gra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sz="1200"/>
                        <a:t>LLaVA-1.6-Mistral</a:t>
                      </a:r>
                      <a:endParaRPr sz="1200"/>
                    </a:p>
                    <a:p>
                      <a:pPr marL="0" lvl="0" indent="0" algn="l" rtl="0">
                        <a:spcBef>
                          <a:spcPts val="0"/>
                        </a:spcBef>
                        <a:spcAft>
                          <a:spcPts val="0"/>
                        </a:spcAft>
                        <a:buNone/>
                      </a:pPr>
                      <a:r>
                        <a:rPr lang="en-GB" sz="1200"/>
                        <a:t>(LLaVA-NeXT) </a:t>
                      </a:r>
                      <a:endParaRPr sz="1200"/>
                    </a:p>
                  </a:txBody>
                  <a:tcPr marL="91425" marR="91425" marT="91425" marB="91425"/>
                </a:tc>
                <a:tc>
                  <a:txBody>
                    <a:bodyPr/>
                    <a:lstStyle/>
                    <a:p>
                      <a:pPr marL="0" lvl="0" indent="0" algn="l" rtl="0">
                        <a:spcBef>
                          <a:spcPts val="0"/>
                        </a:spcBef>
                        <a:spcAft>
                          <a:spcPts val="0"/>
                        </a:spcAft>
                        <a:buNone/>
                      </a:pPr>
                      <a:r>
                        <a:rPr lang="en-GB" sz="1100"/>
                        <a:t>7.57B</a:t>
                      </a:r>
                      <a:endParaRPr sz="1100"/>
                    </a:p>
                  </a:txBody>
                  <a:tcPr marL="91425" marR="91425" marT="91425" marB="91425"/>
                </a:tc>
                <a:tc>
                  <a:txBody>
                    <a:bodyPr/>
                    <a:lstStyle/>
                    <a:p>
                      <a:pPr marL="269999" lvl="0" indent="-273050" algn="l" rtl="0">
                        <a:spcBef>
                          <a:spcPts val="0"/>
                        </a:spcBef>
                        <a:spcAft>
                          <a:spcPts val="0"/>
                        </a:spcAft>
                        <a:buSzPts val="700"/>
                        <a:buChar char="●"/>
                      </a:pPr>
                      <a:r>
                        <a:rPr lang="en-GB" sz="700"/>
                        <a:t>Supports different resolutions and aspect ratios of images 672x672, 336x1344, 1344x336 pixels, by incorporating an “AnyRes” technique, that leveraging flexible grid configurations. This ensures that the visual details are preserved and reduce hallucinations for low-res images.</a:t>
                      </a:r>
                      <a:endParaRPr/>
                    </a:p>
                    <a:p>
                      <a:pPr marL="457200" lvl="0" indent="0" algn="l" rtl="0">
                        <a:spcBef>
                          <a:spcPts val="0"/>
                        </a:spcBef>
                        <a:spcAft>
                          <a:spcPts val="0"/>
                        </a:spcAft>
                        <a:buNone/>
                      </a:pPr>
                      <a:endParaRPr sz="700"/>
                    </a:p>
                    <a:p>
                      <a:pPr marL="269999" lvl="0" indent="-273050" algn="l" rtl="0">
                        <a:spcBef>
                          <a:spcPts val="0"/>
                        </a:spcBef>
                        <a:spcAft>
                          <a:spcPts val="0"/>
                        </a:spcAft>
                        <a:buSzPts val="700"/>
                        <a:buChar char="●"/>
                      </a:pPr>
                      <a:r>
                        <a:rPr lang="en-GB" sz="700"/>
                        <a:t>Performs better than it’s previous version LLaVA-1.5 in OCR, visual reasoning and </a:t>
                      </a:r>
                      <a:r>
                        <a:rPr lang="en-GB" sz="700">
                          <a:solidFill>
                            <a:schemeClr val="dk1"/>
                          </a:solidFill>
                        </a:rPr>
                        <a:t>conversation scenarios.</a:t>
                      </a:r>
                      <a:endParaRPr sz="700"/>
                    </a:p>
                    <a:p>
                      <a:pPr marL="0" lvl="0" indent="0" algn="l" rtl="0">
                        <a:spcBef>
                          <a:spcPts val="0"/>
                        </a:spcBef>
                        <a:spcAft>
                          <a:spcPts val="0"/>
                        </a:spcAft>
                        <a:buNone/>
                      </a:pPr>
                      <a:endParaRPr sz="13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sz="1200"/>
                        <a:t>SmolVLM-Instruct</a:t>
                      </a:r>
                      <a:endParaRPr sz="1200"/>
                    </a:p>
                  </a:txBody>
                  <a:tcPr marL="91425" marR="91425" marT="91425" marB="91425"/>
                </a:tc>
                <a:tc>
                  <a:txBody>
                    <a:bodyPr/>
                    <a:lstStyle/>
                    <a:p>
                      <a:pPr marL="0" lvl="0" indent="0" algn="l" rtl="0">
                        <a:spcBef>
                          <a:spcPts val="0"/>
                        </a:spcBef>
                        <a:spcAft>
                          <a:spcPts val="0"/>
                        </a:spcAft>
                        <a:buNone/>
                      </a:pPr>
                      <a:r>
                        <a:rPr lang="en-GB" sz="1100"/>
                        <a:t>2.25B and 507M</a:t>
                      </a:r>
                      <a:endParaRPr sz="1100"/>
                    </a:p>
                  </a:txBody>
                  <a:tcPr marL="91425" marR="91425" marT="91425" marB="91425"/>
                </a:tc>
                <a:tc>
                  <a:txBody>
                    <a:bodyPr/>
                    <a:lstStyle/>
                    <a:p>
                      <a:pPr marL="269999" lvl="0" indent="-273050" algn="l" rtl="0">
                        <a:spcBef>
                          <a:spcPts val="0"/>
                        </a:spcBef>
                        <a:spcAft>
                          <a:spcPts val="0"/>
                        </a:spcAft>
                        <a:buSzPts val="700"/>
                        <a:buChar char="●"/>
                      </a:pPr>
                      <a:r>
                        <a:rPr lang="en-GB" sz="700"/>
                        <a:t>Based on the Idefics3 model architecture.</a:t>
                      </a:r>
                      <a:endParaRPr sz="700"/>
                    </a:p>
                    <a:p>
                      <a:pPr marL="269999" lvl="0" indent="-273050" algn="l" rtl="0">
                        <a:spcBef>
                          <a:spcPts val="0"/>
                        </a:spcBef>
                        <a:spcAft>
                          <a:spcPts val="0"/>
                        </a:spcAft>
                        <a:buSzPts val="700"/>
                        <a:buChar char="●"/>
                      </a:pPr>
                      <a:r>
                        <a:rPr lang="en-GB" sz="700"/>
                        <a:t>The images are compressed by around 9 times using pixel shuffle strategy. It also has exceptional memory usage, for eg. it encodes 384x384 image to 81 tokens which results so that the test prompt with one image only results in 1.2k tokens compared to 16k in models like Qwen2-VL.</a:t>
                      </a:r>
                      <a:endParaRPr sz="700"/>
                    </a:p>
                    <a:p>
                      <a:pPr marL="269999" lvl="0" indent="-273050" algn="l" rtl="0">
                        <a:spcBef>
                          <a:spcPts val="0"/>
                        </a:spcBef>
                        <a:spcAft>
                          <a:spcPts val="0"/>
                        </a:spcAft>
                        <a:buSzPts val="700"/>
                        <a:buChar char="●"/>
                      </a:pPr>
                      <a:r>
                        <a:rPr lang="en-GB" sz="700"/>
                        <a:t>Different variations of the model are present, where the difference is in the image compression strategy and optimizing visual token encoding.</a:t>
                      </a:r>
                      <a:endParaRPr sz="7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sz="1200"/>
                        <a:t>Qwen2.5-VL</a:t>
                      </a:r>
                      <a:endParaRPr sz="1200"/>
                    </a:p>
                  </a:txBody>
                  <a:tcPr marL="91425" marR="91425" marT="91425" marB="91425"/>
                </a:tc>
                <a:tc>
                  <a:txBody>
                    <a:bodyPr/>
                    <a:lstStyle/>
                    <a:p>
                      <a:pPr marL="0" lvl="0" indent="0" algn="l" rtl="0">
                        <a:spcBef>
                          <a:spcPts val="0"/>
                        </a:spcBef>
                        <a:spcAft>
                          <a:spcPts val="0"/>
                        </a:spcAft>
                        <a:buNone/>
                      </a:pPr>
                      <a:r>
                        <a:rPr lang="en-GB" sz="1100"/>
                        <a:t>8.29B</a:t>
                      </a:r>
                      <a:endParaRPr sz="1100"/>
                    </a:p>
                  </a:txBody>
                  <a:tcPr marL="91425" marR="91425" marT="91425" marB="91425"/>
                </a:tc>
                <a:tc>
                  <a:txBody>
                    <a:bodyPr/>
                    <a:lstStyle/>
                    <a:p>
                      <a:pPr marL="269999" lvl="0" indent="-273050" algn="l" rtl="0">
                        <a:spcBef>
                          <a:spcPts val="0"/>
                        </a:spcBef>
                        <a:spcAft>
                          <a:spcPts val="0"/>
                        </a:spcAft>
                        <a:buSzPts val="700"/>
                        <a:buChar char="●"/>
                      </a:pPr>
                      <a:r>
                        <a:rPr lang="en-GB" sz="700"/>
                        <a:t>Has enhanced OCR and text recognition optimized for multi-scenario and multi-language tasks, making it good for extracting data from documents and diagrams.</a:t>
                      </a:r>
                      <a:endParaRPr sz="700"/>
                    </a:p>
                    <a:p>
                      <a:pPr marL="269999" lvl="0" indent="-273050" algn="l" rtl="0">
                        <a:spcBef>
                          <a:spcPts val="0"/>
                        </a:spcBef>
                        <a:spcAft>
                          <a:spcPts val="0"/>
                        </a:spcAft>
                        <a:buSzPts val="700"/>
                        <a:buChar char="●"/>
                      </a:pPr>
                      <a:r>
                        <a:rPr lang="en-GB" sz="700"/>
                        <a:t>The model handles spatial data more efficiently like converting various sizes of images to tokens of different lengths using actual scale of image, eliminating the need for normalization.</a:t>
                      </a:r>
                      <a:endParaRPr sz="700"/>
                    </a:p>
                    <a:p>
                      <a:pPr marL="269999" lvl="0" indent="-273050" algn="l" rtl="0">
                        <a:spcBef>
                          <a:spcPts val="0"/>
                        </a:spcBef>
                        <a:spcAft>
                          <a:spcPts val="0"/>
                        </a:spcAft>
                        <a:buSzPts val="700"/>
                        <a:buChar char="●"/>
                      </a:pPr>
                      <a:r>
                        <a:rPr lang="en-GB" sz="700"/>
                        <a:t>The other main improvement was using a custom Vision Transformer for encoding the images.</a:t>
                      </a:r>
                      <a:endParaRPr sz="7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sz="1200"/>
                        <a:t>Granite-Vision-3.2</a:t>
                      </a:r>
                      <a:endParaRPr sz="1200"/>
                    </a:p>
                  </a:txBody>
                  <a:tcPr marL="91425" marR="91425" marT="91425" marB="91425"/>
                </a:tc>
                <a:tc>
                  <a:txBody>
                    <a:bodyPr/>
                    <a:lstStyle/>
                    <a:p>
                      <a:pPr marL="0" lvl="0" indent="0" algn="l" rtl="0">
                        <a:spcBef>
                          <a:spcPts val="0"/>
                        </a:spcBef>
                        <a:spcAft>
                          <a:spcPts val="0"/>
                        </a:spcAft>
                        <a:buNone/>
                      </a:pPr>
                      <a:r>
                        <a:rPr lang="en-GB" sz="1100"/>
                        <a:t>2.98B</a:t>
                      </a:r>
                      <a:endParaRPr sz="1100"/>
                    </a:p>
                  </a:txBody>
                  <a:tcPr marL="91425" marR="91425" marT="91425" marB="91425"/>
                </a:tc>
                <a:tc>
                  <a:txBody>
                    <a:bodyPr/>
                    <a:lstStyle/>
                    <a:p>
                      <a:pPr marL="269999" lvl="0" indent="-273050" algn="l" rtl="0">
                        <a:spcBef>
                          <a:spcPts val="0"/>
                        </a:spcBef>
                        <a:spcAft>
                          <a:spcPts val="0"/>
                        </a:spcAft>
                        <a:buSzPts val="700"/>
                        <a:buChar char="●"/>
                      </a:pPr>
                      <a:r>
                        <a:rPr lang="en-GB" sz="700"/>
                        <a:t>This model is tailored for visual document understanding. </a:t>
                      </a:r>
                      <a:endParaRPr sz="700"/>
                    </a:p>
                    <a:p>
                      <a:pPr marL="269999" lvl="0" indent="-273050" algn="l" rtl="0">
                        <a:spcBef>
                          <a:spcPts val="0"/>
                        </a:spcBef>
                        <a:spcAft>
                          <a:spcPts val="0"/>
                        </a:spcAft>
                        <a:buSzPts val="700"/>
                        <a:buChar char="●"/>
                      </a:pPr>
                      <a:r>
                        <a:rPr lang="en-GB" sz="700"/>
                        <a:t>This model was pretrained on data such as charts, graphs, infographics, plots, etc. This makes the model perform better on extracting data from these type of images and documents.</a:t>
                      </a:r>
                      <a:endParaRPr sz="7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1"/>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fontScale="90000"/>
          </a:bodyPr>
          <a:lstStyle/>
          <a:p>
            <a:pPr marL="0" lvl="0" indent="0" algn="l" rtl="0">
              <a:spcBef>
                <a:spcPts val="0"/>
              </a:spcBef>
              <a:spcAft>
                <a:spcPts val="0"/>
              </a:spcAft>
              <a:buNone/>
            </a:pPr>
            <a:r>
              <a:rPr lang="en-GB"/>
              <a:t>VLM Models Training Parameters</a:t>
            </a:r>
            <a:endParaRPr/>
          </a:p>
        </p:txBody>
      </p:sp>
      <p:sp>
        <p:nvSpPr>
          <p:cNvPr id="253" name="Google Shape;253;p41"/>
          <p:cNvSpPr txBox="1">
            <a:spLocks noGrp="1"/>
          </p:cNvSpPr>
          <p:nvPr>
            <p:ph type="body" idx="1"/>
          </p:nvPr>
        </p:nvSpPr>
        <p:spPr>
          <a:xfrm>
            <a:off x="332500" y="1369227"/>
            <a:ext cx="8478900" cy="3521100"/>
          </a:xfrm>
          <a:prstGeom prst="rect">
            <a:avLst/>
          </a:prstGeom>
        </p:spPr>
        <p:txBody>
          <a:bodyPr spcFirstLastPara="1" wrap="square" lIns="68575" tIns="34275" rIns="68575" bIns="34275" anchor="t" anchorCtr="0">
            <a:normAutofit/>
          </a:bodyPr>
          <a:lstStyle/>
          <a:p>
            <a:pPr marL="269999" lvl="0" indent="-298085" algn="l" rtl="0">
              <a:lnSpc>
                <a:spcPct val="115000"/>
              </a:lnSpc>
              <a:spcBef>
                <a:spcPts val="800"/>
              </a:spcBef>
              <a:spcAft>
                <a:spcPts val="0"/>
              </a:spcAft>
              <a:buSzPts val="1094"/>
              <a:buChar char="•"/>
            </a:pPr>
            <a:r>
              <a:rPr lang="en-GB" sz="1094"/>
              <a:t>Models are quantized to 4-bit quantization</a:t>
            </a:r>
            <a:endParaRPr sz="1094"/>
          </a:p>
          <a:p>
            <a:pPr marL="269999" lvl="0" indent="-298085" algn="l" rtl="0">
              <a:lnSpc>
                <a:spcPct val="115000"/>
              </a:lnSpc>
              <a:spcBef>
                <a:spcPts val="0"/>
              </a:spcBef>
              <a:spcAft>
                <a:spcPts val="0"/>
              </a:spcAft>
              <a:buSzPts val="1094"/>
              <a:buChar char="•"/>
            </a:pPr>
            <a:r>
              <a:rPr lang="en-GB" sz="1094"/>
              <a:t>Models are fine-tuned on LoRA adapters (Low-Rank Adaptation)</a:t>
            </a:r>
            <a:endParaRPr sz="1094"/>
          </a:p>
          <a:p>
            <a:pPr marL="269999" lvl="0" indent="-298085" algn="l" rtl="0">
              <a:lnSpc>
                <a:spcPct val="115000"/>
              </a:lnSpc>
              <a:spcBef>
                <a:spcPts val="0"/>
              </a:spcBef>
              <a:spcAft>
                <a:spcPts val="0"/>
              </a:spcAft>
              <a:buSzPts val="1094"/>
              <a:buChar char="•"/>
            </a:pPr>
            <a:r>
              <a:rPr lang="en-GB" sz="1094"/>
              <a:t>Models are trained for one epoch and the training loss and mean-token accuracy are logged using Tensorboard for every 10 steps during the training.</a:t>
            </a:r>
            <a:endParaRPr sz="1094"/>
          </a:p>
          <a:p>
            <a:pPr marL="269999" lvl="0" indent="-298085" algn="l" rtl="0">
              <a:lnSpc>
                <a:spcPct val="115000"/>
              </a:lnSpc>
              <a:spcBef>
                <a:spcPts val="0"/>
              </a:spcBef>
              <a:spcAft>
                <a:spcPts val="0"/>
              </a:spcAft>
              <a:buSzPts val="1094"/>
              <a:buChar char="•"/>
            </a:pPr>
            <a:r>
              <a:rPr lang="en-GB" sz="1094"/>
              <a:t>A system message is set for all the models in the dataset for further aligning the model for the task.</a:t>
            </a:r>
            <a:endParaRPr sz="1094"/>
          </a:p>
          <a:p>
            <a:pPr marL="269999" lvl="0" indent="-298085" algn="l" rtl="0">
              <a:lnSpc>
                <a:spcPct val="115000"/>
              </a:lnSpc>
              <a:spcBef>
                <a:spcPts val="0"/>
              </a:spcBef>
              <a:spcAft>
                <a:spcPts val="0"/>
              </a:spcAft>
              <a:buSzPts val="1094"/>
              <a:buChar char="•"/>
            </a:pPr>
            <a:r>
              <a:rPr lang="en-GB" sz="1094"/>
              <a:t>After fine-tuning, the fine-tuned models are uploaded to HuggingFace for easier access and use.</a:t>
            </a:r>
            <a:endParaRPr sz="1094"/>
          </a:p>
          <a:p>
            <a:pPr marL="0" lvl="0" indent="0" algn="l" rtl="0">
              <a:lnSpc>
                <a:spcPct val="115000"/>
              </a:lnSpc>
              <a:spcBef>
                <a:spcPts val="800"/>
              </a:spcBef>
              <a:spcAft>
                <a:spcPts val="0"/>
              </a:spcAft>
              <a:buNone/>
            </a:pPr>
            <a:endParaRPr sz="1094" i="1"/>
          </a:p>
          <a:p>
            <a:pPr marL="0" lvl="0" indent="0" algn="l" rtl="0">
              <a:lnSpc>
                <a:spcPct val="115000"/>
              </a:lnSpc>
              <a:spcBef>
                <a:spcPts val="800"/>
              </a:spcBef>
              <a:spcAft>
                <a:spcPts val="0"/>
              </a:spcAft>
              <a:buNone/>
            </a:pPr>
            <a:r>
              <a:rPr lang="en-GB" sz="1094" b="1" u="sng"/>
              <a:t>System Message:</a:t>
            </a:r>
            <a:endParaRPr sz="1094" b="1" u="sng"/>
          </a:p>
          <a:p>
            <a:pPr marL="0" lvl="0" indent="0" algn="l" rtl="0">
              <a:lnSpc>
                <a:spcPct val="115000"/>
              </a:lnSpc>
              <a:spcBef>
                <a:spcPts val="800"/>
              </a:spcBef>
              <a:spcAft>
                <a:spcPts val="0"/>
              </a:spcAft>
              <a:buNone/>
            </a:pPr>
            <a:r>
              <a:rPr lang="en-GB" sz="1094" i="1"/>
              <a:t>"</a:t>
            </a:r>
            <a:r>
              <a:rPr lang="en-GB" sz="1077" i="1"/>
              <a:t>You are a Vision-Language Model specialized in interpreting PCB circuit designs and waveform simulation graphs. Your task is to analyze the provided image, determine whether it is a circuit schematic, PCB layout, or waveform simulation graph, and generate a structured, technically detailed description. For circuit schematics and PCB layouts, identify the circuit topology, functional blocks, component details, signal flow, electrical parameters, and PCB layout considerations. For waveform simulation graphs, extract key waveform characteristics, analyze signal integrity, and assess circuit performance. Focus on delivering precise, structured, and insightful technical descriptions based on visual information. Avoid unnecessary elaboration beyond what is essential for accuracy.</a:t>
            </a:r>
            <a:r>
              <a:rPr lang="en-GB" sz="1094" i="1"/>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2"/>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2400"/>
              <a:t>VLM Models Training Loss and Accuracy</a:t>
            </a:r>
            <a:endParaRPr sz="2400"/>
          </a:p>
        </p:txBody>
      </p:sp>
      <p:pic>
        <p:nvPicPr>
          <p:cNvPr id="259" name="Google Shape;259;p42" title="mean_token_accuracy.png"/>
          <p:cNvPicPr preferRelativeResize="0"/>
          <p:nvPr/>
        </p:nvPicPr>
        <p:blipFill>
          <a:blip r:embed="rId3">
            <a:alphaModFix/>
          </a:blip>
          <a:stretch>
            <a:fillRect/>
          </a:stretch>
        </p:blipFill>
        <p:spPr>
          <a:xfrm>
            <a:off x="4468825" y="1911825"/>
            <a:ext cx="4454649" cy="2657475"/>
          </a:xfrm>
          <a:prstGeom prst="rect">
            <a:avLst/>
          </a:prstGeom>
          <a:noFill/>
          <a:ln>
            <a:noFill/>
          </a:ln>
        </p:spPr>
      </p:pic>
      <p:pic>
        <p:nvPicPr>
          <p:cNvPr id="260" name="Google Shape;260;p42" title="train_loss.png"/>
          <p:cNvPicPr preferRelativeResize="0"/>
          <p:nvPr/>
        </p:nvPicPr>
        <p:blipFill>
          <a:blip r:embed="rId4">
            <a:alphaModFix/>
          </a:blip>
          <a:stretch>
            <a:fillRect/>
          </a:stretch>
        </p:blipFill>
        <p:spPr>
          <a:xfrm>
            <a:off x="152400" y="1023874"/>
            <a:ext cx="4088575" cy="2439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GB"/>
              <a:t>Model Performance </a:t>
            </a:r>
            <a:endParaRPr/>
          </a:p>
        </p:txBody>
      </p:sp>
      <p:sp>
        <p:nvSpPr>
          <p:cNvPr id="266" name="Google Shape;266;p43"/>
          <p:cNvSpPr txBox="1">
            <a:spLocks noGrp="1"/>
          </p:cNvSpPr>
          <p:nvPr>
            <p:ph type="body" idx="1"/>
          </p:nvPr>
        </p:nvSpPr>
        <p:spPr>
          <a:xfrm>
            <a:off x="332509" y="1369219"/>
            <a:ext cx="8478900" cy="3263400"/>
          </a:xfrm>
          <a:prstGeom prst="rect">
            <a:avLst/>
          </a:prstGeom>
        </p:spPr>
        <p:txBody>
          <a:bodyPr spcFirstLastPara="1" wrap="square" lIns="68575" tIns="34275" rIns="68575" bIns="34275" anchor="t" anchorCtr="0">
            <a:normAutofit/>
          </a:bodyPr>
          <a:lstStyle/>
          <a:p>
            <a:pPr marL="457200" lvl="0" indent="0" algn="l" rtl="0">
              <a:spcBef>
                <a:spcPts val="800"/>
              </a:spcBef>
              <a:spcAft>
                <a:spcPts val="0"/>
              </a:spcAft>
              <a:buNone/>
            </a:pPr>
            <a:endParaRPr/>
          </a:p>
          <a:p>
            <a:pPr marL="457200" lvl="0" indent="0" algn="l" rtl="0">
              <a:spcBef>
                <a:spcPts val="800"/>
              </a:spcBef>
              <a:spcAft>
                <a:spcPts val="0"/>
              </a:spcAft>
              <a:buNone/>
            </a:pPr>
            <a:r>
              <a:rPr lang="en-GB" b="1" i="1">
                <a:latin typeface="Times New Roman"/>
                <a:ea typeface="Times New Roman"/>
                <a:cs typeface="Times New Roman"/>
                <a:sym typeface="Times New Roman"/>
              </a:rPr>
              <a:t>FinalScore</a:t>
            </a:r>
            <a:r>
              <a:rPr lang="en-GB" i="1">
                <a:latin typeface="Times New Roman"/>
                <a:ea typeface="Times New Roman"/>
                <a:cs typeface="Times New Roman"/>
                <a:sym typeface="Times New Roman"/>
              </a:rPr>
              <a:t> </a:t>
            </a:r>
            <a:r>
              <a:rPr lang="en-GB">
                <a:latin typeface="Times New Roman"/>
                <a:ea typeface="Times New Roman"/>
                <a:cs typeface="Times New Roman"/>
                <a:sym typeface="Times New Roman"/>
              </a:rPr>
              <a:t>= 100 * (0.6 * </a:t>
            </a:r>
            <a:r>
              <a:rPr lang="en-GB" i="1">
                <a:latin typeface="Times New Roman"/>
                <a:ea typeface="Times New Roman"/>
                <a:cs typeface="Times New Roman"/>
                <a:sym typeface="Times New Roman"/>
              </a:rPr>
              <a:t>AccNorm</a:t>
            </a:r>
            <a:r>
              <a:rPr lang="en-GB">
                <a:latin typeface="Times New Roman"/>
                <a:ea typeface="Times New Roman"/>
                <a:cs typeface="Times New Roman"/>
                <a:sym typeface="Times New Roman"/>
              </a:rPr>
              <a:t> + 02 * </a:t>
            </a:r>
            <a:r>
              <a:rPr lang="en-GB" i="1">
                <a:latin typeface="Times New Roman"/>
                <a:ea typeface="Times New Roman"/>
                <a:cs typeface="Times New Roman"/>
                <a:sym typeface="Times New Roman"/>
              </a:rPr>
              <a:t>TimeNorm</a:t>
            </a:r>
            <a:r>
              <a:rPr lang="en-GB">
                <a:latin typeface="Times New Roman"/>
                <a:ea typeface="Times New Roman"/>
                <a:cs typeface="Times New Roman"/>
                <a:sym typeface="Times New Roman"/>
              </a:rPr>
              <a:t> + 0.2 * </a:t>
            </a:r>
            <a:r>
              <a:rPr lang="en-GB" i="1">
                <a:latin typeface="Times New Roman"/>
                <a:ea typeface="Times New Roman"/>
                <a:cs typeface="Times New Roman"/>
                <a:sym typeface="Times New Roman"/>
              </a:rPr>
              <a:t>SizeNorm</a:t>
            </a:r>
            <a:r>
              <a:rPr lang="en-GB">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457200" lvl="0" indent="0" algn="l" rtl="0">
              <a:spcBef>
                <a:spcPts val="800"/>
              </a:spcBef>
              <a:spcAft>
                <a:spcPts val="0"/>
              </a:spcAft>
              <a:buNone/>
            </a:pPr>
            <a:endParaRPr/>
          </a:p>
          <a:p>
            <a:pPr marL="457200" lvl="0" indent="-317500" algn="l" rtl="0">
              <a:spcBef>
                <a:spcPts val="800"/>
              </a:spcBef>
              <a:spcAft>
                <a:spcPts val="0"/>
              </a:spcAft>
              <a:buSzPts val="1400"/>
              <a:buChar char="•"/>
            </a:pPr>
            <a:r>
              <a:rPr lang="en-GB"/>
              <a:t>Circuit Images</a:t>
            </a:r>
            <a:endParaRPr/>
          </a:p>
          <a:p>
            <a:pPr marL="457200" lvl="0" indent="-317500" algn="l" rtl="0">
              <a:spcBef>
                <a:spcPts val="0"/>
              </a:spcBef>
              <a:spcAft>
                <a:spcPts val="0"/>
              </a:spcAft>
              <a:buSzPts val="1400"/>
              <a:buChar char="•"/>
            </a:pPr>
            <a:r>
              <a:rPr lang="en-GB"/>
              <a:t>SI Analysis Images</a:t>
            </a:r>
            <a:endParaRPr/>
          </a:p>
          <a:p>
            <a:pPr marL="457200" lvl="0" indent="-317500" algn="l" rtl="0">
              <a:spcBef>
                <a:spcPts val="0"/>
              </a:spcBef>
              <a:spcAft>
                <a:spcPts val="0"/>
              </a:spcAft>
              <a:buSzPts val="1400"/>
              <a:buChar char="•"/>
            </a:pPr>
            <a:r>
              <a:rPr lang="en-GB"/>
              <a:t>FD Analysis Images</a:t>
            </a:r>
            <a:endParaRPr/>
          </a:p>
          <a:p>
            <a:pPr marL="457200" lvl="0" indent="-317500" algn="l" rtl="0">
              <a:spcBef>
                <a:spcPts val="0"/>
              </a:spcBef>
              <a:spcAft>
                <a:spcPts val="0"/>
              </a:spcAft>
              <a:buSzPts val="1400"/>
              <a:buChar char="•"/>
            </a:pPr>
            <a:r>
              <a:rPr lang="en-GB"/>
              <a:t>TDR Analysis Images</a:t>
            </a:r>
            <a:endParaRPr sz="3864"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4"/>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2570"/>
              <a:t>Circuit Image Performance Evaluation</a:t>
            </a:r>
            <a:endParaRPr sz="2570"/>
          </a:p>
        </p:txBody>
      </p:sp>
      <p:pic>
        <p:nvPicPr>
          <p:cNvPr id="272" name="Google Shape;272;p44" title="circuit_img_performance.png"/>
          <p:cNvPicPr preferRelativeResize="0"/>
          <p:nvPr/>
        </p:nvPicPr>
        <p:blipFill>
          <a:blip r:embed="rId3">
            <a:alphaModFix/>
          </a:blip>
          <a:stretch>
            <a:fillRect/>
          </a:stretch>
        </p:blipFill>
        <p:spPr>
          <a:xfrm>
            <a:off x="152400" y="1085300"/>
            <a:ext cx="4394249" cy="2993249"/>
          </a:xfrm>
          <a:prstGeom prst="rect">
            <a:avLst/>
          </a:prstGeom>
          <a:noFill/>
          <a:ln>
            <a:noFill/>
          </a:ln>
        </p:spPr>
      </p:pic>
      <p:pic>
        <p:nvPicPr>
          <p:cNvPr id="273" name="Google Shape;273;p44" title="final_score_circuit.png"/>
          <p:cNvPicPr preferRelativeResize="0"/>
          <p:nvPr/>
        </p:nvPicPr>
        <p:blipFill>
          <a:blip r:embed="rId4">
            <a:alphaModFix/>
          </a:blip>
          <a:stretch>
            <a:fillRect/>
          </a:stretch>
        </p:blipFill>
        <p:spPr>
          <a:xfrm>
            <a:off x="4752424" y="1449231"/>
            <a:ext cx="4292552" cy="21300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2570"/>
              <a:t>Circuit Image Performance Evaluation</a:t>
            </a:r>
            <a:endParaRPr sz="2570"/>
          </a:p>
        </p:txBody>
      </p:sp>
      <p:graphicFrame>
        <p:nvGraphicFramePr>
          <p:cNvPr id="279" name="Google Shape;279;p45"/>
          <p:cNvGraphicFramePr/>
          <p:nvPr/>
        </p:nvGraphicFramePr>
        <p:xfrm>
          <a:off x="520650" y="851325"/>
          <a:ext cx="3000000" cy="3000000"/>
        </p:xfrm>
        <a:graphic>
          <a:graphicData uri="http://schemas.openxmlformats.org/drawingml/2006/table">
            <a:tbl>
              <a:tblPr>
                <a:noFill/>
                <a:tableStyleId>{57D76EBA-3A3C-4FC6-9546-A542B5990890}</a:tableStyleId>
              </a:tblPr>
              <a:tblGrid>
                <a:gridCol w="2721925">
                  <a:extLst>
                    <a:ext uri="{9D8B030D-6E8A-4147-A177-3AD203B41FA5}">
                      <a16:colId xmlns:a16="http://schemas.microsoft.com/office/drawing/2014/main" val="20000"/>
                    </a:ext>
                  </a:extLst>
                </a:gridCol>
                <a:gridCol w="2721925">
                  <a:extLst>
                    <a:ext uri="{9D8B030D-6E8A-4147-A177-3AD203B41FA5}">
                      <a16:colId xmlns:a16="http://schemas.microsoft.com/office/drawing/2014/main" val="20001"/>
                    </a:ext>
                  </a:extLst>
                </a:gridCol>
                <a:gridCol w="2721925">
                  <a:extLst>
                    <a:ext uri="{9D8B030D-6E8A-4147-A177-3AD203B41FA5}">
                      <a16:colId xmlns:a16="http://schemas.microsoft.com/office/drawing/2014/main" val="20002"/>
                    </a:ext>
                  </a:extLst>
                </a:gridCol>
              </a:tblGrid>
              <a:tr h="354950">
                <a:tc>
                  <a:txBody>
                    <a:bodyPr/>
                    <a:lstStyle/>
                    <a:p>
                      <a:pPr marL="0" lvl="0" indent="0" algn="l" rtl="0">
                        <a:spcBef>
                          <a:spcPts val="0"/>
                        </a:spcBef>
                        <a:spcAft>
                          <a:spcPts val="0"/>
                        </a:spcAft>
                        <a:buNone/>
                      </a:pPr>
                      <a:r>
                        <a:rPr lang="en-GB" sz="1200" b="1"/>
                        <a:t>Model Variant</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Strengths</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Drawbacks</a:t>
                      </a:r>
                      <a:endParaRPr sz="1200" b="1"/>
                    </a:p>
                  </a:txBody>
                  <a:tcPr marL="91425" marR="91425" marT="91425" marB="91425">
                    <a:gradFill>
                      <a:gsLst>
                        <a:gs pos="0">
                          <a:srgbClr val="DCECD5"/>
                        </a:gs>
                        <a:gs pos="100000">
                          <a:srgbClr val="92BC81"/>
                        </a:gs>
                      </a:gsLst>
                      <a:lin ang="5400012" scaled="0"/>
                    </a:gradFill>
                  </a:tcPr>
                </a:tc>
                <a:extLst>
                  <a:ext uri="{0D108BD9-81ED-4DB2-BD59-A6C34878D82A}">
                    <a16:rowId xmlns:a16="http://schemas.microsoft.com/office/drawing/2014/main" val="10000"/>
                  </a:ext>
                </a:extLst>
              </a:tr>
              <a:tr h="384525">
                <a:tc>
                  <a:txBody>
                    <a:bodyPr/>
                    <a:lstStyle/>
                    <a:p>
                      <a:pPr marL="0" lvl="0" indent="0" algn="l" rtl="0">
                        <a:spcBef>
                          <a:spcPts val="0"/>
                        </a:spcBef>
                        <a:spcAft>
                          <a:spcPts val="0"/>
                        </a:spcAft>
                        <a:buNone/>
                      </a:pPr>
                      <a:r>
                        <a:rPr lang="en-GB" sz="700"/>
                        <a:t>LlaVA-1.6-Mistral (no adapter)</a:t>
                      </a:r>
                      <a:endParaRPr sz="700"/>
                    </a:p>
                  </a:txBody>
                  <a:tcPr marL="91425" marR="91425" marT="91425" marB="91425"/>
                </a:tc>
                <a:tc>
                  <a:txBody>
                    <a:bodyPr/>
                    <a:lstStyle/>
                    <a:p>
                      <a:pPr marL="0" lvl="0" indent="0" algn="l" rtl="0">
                        <a:spcBef>
                          <a:spcPts val="0"/>
                        </a:spcBef>
                        <a:spcAft>
                          <a:spcPts val="0"/>
                        </a:spcAft>
                        <a:buNone/>
                      </a:pPr>
                      <a:r>
                        <a:rPr lang="en-GB" sz="700">
                          <a:solidFill>
                            <a:schemeClr val="dk1"/>
                          </a:solidFill>
                        </a:rPr>
                        <a:t>•</a:t>
                      </a:r>
                      <a:r>
                        <a:rPr lang="en-GB" sz="700"/>
                        <a:t> Attempts a circuit narrative</a:t>
                      </a:r>
                      <a:endParaRPr sz="700"/>
                    </a:p>
                  </a:txBody>
                  <a:tcPr marL="91425" marR="91425" marT="91425" marB="91425"/>
                </a:tc>
                <a:tc>
                  <a:txBody>
                    <a:bodyPr/>
                    <a:lstStyle/>
                    <a:p>
                      <a:pPr marL="0" lvl="0" indent="0" algn="l" rtl="0">
                        <a:spcBef>
                          <a:spcPts val="0"/>
                        </a:spcBef>
                        <a:spcAft>
                          <a:spcPts val="0"/>
                        </a:spcAft>
                        <a:buNone/>
                      </a:pPr>
                      <a:r>
                        <a:rPr lang="en-GB" sz="700"/>
                        <a:t>• Adds wrong elements (diodes, caps)</a:t>
                      </a:r>
                      <a:endParaRPr sz="700"/>
                    </a:p>
                    <a:p>
                      <a:pPr marL="0" lvl="0" indent="0" algn="l" rtl="0">
                        <a:spcBef>
                          <a:spcPts val="0"/>
                        </a:spcBef>
                        <a:spcAft>
                          <a:spcPts val="0"/>
                        </a:spcAft>
                        <a:buNone/>
                      </a:pPr>
                      <a:r>
                        <a:rPr lang="en-GB" sz="700"/>
                        <a:t>• Low parameter recall</a:t>
                      </a:r>
                      <a:endParaRPr sz="700"/>
                    </a:p>
                  </a:txBody>
                  <a:tcPr marL="91425" marR="91425" marT="91425" marB="91425"/>
                </a:tc>
                <a:extLst>
                  <a:ext uri="{0D108BD9-81ED-4DB2-BD59-A6C34878D82A}">
                    <a16:rowId xmlns:a16="http://schemas.microsoft.com/office/drawing/2014/main" val="10001"/>
                  </a:ext>
                </a:extLst>
              </a:tr>
              <a:tr h="384525">
                <a:tc>
                  <a:txBody>
                    <a:bodyPr/>
                    <a:lstStyle/>
                    <a:p>
                      <a:pPr marL="0" lvl="0" indent="0" algn="l" rtl="0">
                        <a:spcBef>
                          <a:spcPts val="0"/>
                        </a:spcBef>
                        <a:spcAft>
                          <a:spcPts val="0"/>
                        </a:spcAft>
                        <a:buNone/>
                      </a:pPr>
                      <a:r>
                        <a:rPr lang="en-GB" sz="700"/>
                        <a:t>LlaVA-1.6-Mistral (adapter)</a:t>
                      </a:r>
                      <a:endParaRPr sz="700"/>
                    </a:p>
                  </a:txBody>
                  <a:tcPr marL="91425" marR="91425" marT="91425" marB="91425"/>
                </a:tc>
                <a:tc>
                  <a:txBody>
                    <a:bodyPr/>
                    <a:lstStyle/>
                    <a:p>
                      <a:pPr marL="0" lvl="0" indent="0" algn="l" rtl="0">
                        <a:spcBef>
                          <a:spcPts val="0"/>
                        </a:spcBef>
                        <a:spcAft>
                          <a:spcPts val="0"/>
                        </a:spcAft>
                        <a:buNone/>
                      </a:pPr>
                      <a:r>
                        <a:rPr lang="en-GB" sz="700"/>
                        <a:t>• More organized than unfine-tuned</a:t>
                      </a:r>
                      <a:endParaRPr sz="700"/>
                    </a:p>
                    <a:p>
                      <a:pPr marL="0" lvl="0" indent="0" algn="l" rtl="0">
                        <a:spcBef>
                          <a:spcPts val="0"/>
                        </a:spcBef>
                        <a:spcAft>
                          <a:spcPts val="0"/>
                        </a:spcAft>
                        <a:buNone/>
                      </a:pPr>
                      <a:r>
                        <a:rPr lang="en-GB" sz="700"/>
                        <a:t>• Clearer flow</a:t>
                      </a:r>
                      <a:endParaRPr sz="700"/>
                    </a:p>
                  </a:txBody>
                  <a:tcPr marL="91425" marR="91425" marT="91425" marB="91425"/>
                </a:tc>
                <a:tc>
                  <a:txBody>
                    <a:bodyPr/>
                    <a:lstStyle/>
                    <a:p>
                      <a:pPr marL="0" lvl="0" indent="0" algn="l" rtl="0">
                        <a:spcBef>
                          <a:spcPts val="0"/>
                        </a:spcBef>
                        <a:spcAft>
                          <a:spcPts val="0"/>
                        </a:spcAft>
                        <a:buNone/>
                      </a:pPr>
                      <a:r>
                        <a:rPr lang="en-GB" sz="700"/>
                        <a:t>• Misdescribes topology (e.g., star, transistors, inductors)</a:t>
                      </a:r>
                      <a:endParaRPr sz="700"/>
                    </a:p>
                  </a:txBody>
                  <a:tcPr marL="91425" marR="91425" marT="91425" marB="91425"/>
                </a:tc>
                <a:extLst>
                  <a:ext uri="{0D108BD9-81ED-4DB2-BD59-A6C34878D82A}">
                    <a16:rowId xmlns:a16="http://schemas.microsoft.com/office/drawing/2014/main" val="10002"/>
                  </a:ext>
                </a:extLst>
              </a:tr>
              <a:tr h="336400">
                <a:tc>
                  <a:txBody>
                    <a:bodyPr/>
                    <a:lstStyle/>
                    <a:p>
                      <a:pPr marL="0" lvl="0" indent="0" algn="l" rtl="0">
                        <a:spcBef>
                          <a:spcPts val="0"/>
                        </a:spcBef>
                        <a:spcAft>
                          <a:spcPts val="0"/>
                        </a:spcAft>
                        <a:buNone/>
                      </a:pPr>
                      <a:r>
                        <a:rPr lang="en-GB" sz="700"/>
                        <a:t>SmolVLM-Instruct (no adapter)</a:t>
                      </a:r>
                      <a:endParaRPr sz="700"/>
                    </a:p>
                  </a:txBody>
                  <a:tcPr marL="91425" marR="91425" marT="91425" marB="91425"/>
                </a:tc>
                <a:tc>
                  <a:txBody>
                    <a:bodyPr/>
                    <a:lstStyle/>
                    <a:p>
                      <a:pPr marL="0" lvl="0" indent="0" algn="l" rtl="0">
                        <a:spcBef>
                          <a:spcPts val="0"/>
                        </a:spcBef>
                        <a:spcAft>
                          <a:spcPts val="0"/>
                        </a:spcAft>
                        <a:buNone/>
                      </a:pPr>
                      <a:r>
                        <a:rPr lang="en-GB" sz="700"/>
                        <a:t>• Pin-level breakdown</a:t>
                      </a:r>
                      <a:endParaRPr sz="700"/>
                    </a:p>
                  </a:txBody>
                  <a:tcPr marL="91425" marR="91425" marT="91425" marB="91425"/>
                </a:tc>
                <a:tc>
                  <a:txBody>
                    <a:bodyPr/>
                    <a:lstStyle/>
                    <a:p>
                      <a:pPr marL="0" lvl="0" indent="0" algn="l" rtl="0">
                        <a:spcBef>
                          <a:spcPts val="0"/>
                        </a:spcBef>
                        <a:spcAft>
                          <a:spcPts val="0"/>
                        </a:spcAft>
                        <a:buNone/>
                      </a:pPr>
                      <a:r>
                        <a:rPr lang="en-GB" sz="700"/>
                        <a:t>• Jumbled, lacks cohesive overall summary</a:t>
                      </a:r>
                      <a:endParaRPr sz="700"/>
                    </a:p>
                  </a:txBody>
                  <a:tcPr marL="91425" marR="91425" marT="91425" marB="91425"/>
                </a:tc>
                <a:extLst>
                  <a:ext uri="{0D108BD9-81ED-4DB2-BD59-A6C34878D82A}">
                    <a16:rowId xmlns:a16="http://schemas.microsoft.com/office/drawing/2014/main" val="10003"/>
                  </a:ext>
                </a:extLst>
              </a:tr>
              <a:tr h="384525">
                <a:tc>
                  <a:txBody>
                    <a:bodyPr/>
                    <a:lstStyle/>
                    <a:p>
                      <a:pPr marL="0" lvl="0" indent="0" algn="l" rtl="0">
                        <a:spcBef>
                          <a:spcPts val="0"/>
                        </a:spcBef>
                        <a:spcAft>
                          <a:spcPts val="0"/>
                        </a:spcAft>
                        <a:buNone/>
                      </a:pPr>
                      <a:r>
                        <a:rPr lang="en-GB" sz="700"/>
                        <a:t>SmolVLM-Instruct (adapter)</a:t>
                      </a:r>
                      <a:endParaRPr sz="700"/>
                    </a:p>
                  </a:txBody>
                  <a:tcPr marL="91425" marR="91425" marT="91425" marB="91425"/>
                </a:tc>
                <a:tc>
                  <a:txBody>
                    <a:bodyPr/>
                    <a:lstStyle/>
                    <a:p>
                      <a:pPr marL="0" lvl="0" indent="0" algn="l" rtl="0">
                        <a:spcBef>
                          <a:spcPts val="0"/>
                        </a:spcBef>
                        <a:spcAft>
                          <a:spcPts val="0"/>
                        </a:spcAft>
                        <a:buNone/>
                      </a:pPr>
                      <a:r>
                        <a:rPr lang="en-GB" sz="700"/>
                        <a:t>• Captures many correct values</a:t>
                      </a:r>
                      <a:endParaRPr sz="700"/>
                    </a:p>
                    <a:p>
                      <a:pPr marL="0" lvl="0" indent="0" algn="l" rtl="0">
                        <a:spcBef>
                          <a:spcPts val="0"/>
                        </a:spcBef>
                        <a:spcAft>
                          <a:spcPts val="0"/>
                        </a:spcAft>
                        <a:buNone/>
                      </a:pPr>
                      <a:r>
                        <a:rPr lang="en-GB" sz="700"/>
                        <a:t>• Solid mid-tier performance</a:t>
                      </a:r>
                      <a:endParaRPr sz="700"/>
                    </a:p>
                  </a:txBody>
                  <a:tcPr marL="91425" marR="91425" marT="91425" marB="91425"/>
                </a:tc>
                <a:tc>
                  <a:txBody>
                    <a:bodyPr/>
                    <a:lstStyle/>
                    <a:p>
                      <a:pPr marL="0" lvl="0" indent="0" algn="l" rtl="0">
                        <a:spcBef>
                          <a:spcPts val="0"/>
                        </a:spcBef>
                        <a:spcAft>
                          <a:spcPts val="0"/>
                        </a:spcAft>
                        <a:buNone/>
                      </a:pPr>
                      <a:r>
                        <a:rPr lang="en-GB" sz="700"/>
                        <a:t>• Occasional pin-name mix-ups and </a:t>
                      </a:r>
                      <a:r>
                        <a:rPr lang="en-GB" sz="700">
                          <a:solidFill>
                            <a:schemeClr val="dk1"/>
                          </a:solidFill>
                        </a:rPr>
                        <a:t>extra “network” details</a:t>
                      </a:r>
                      <a:endParaRPr sz="700"/>
                    </a:p>
                    <a:p>
                      <a:pPr marL="0" lvl="0" indent="0" algn="l" rtl="0">
                        <a:spcBef>
                          <a:spcPts val="0"/>
                        </a:spcBef>
                        <a:spcAft>
                          <a:spcPts val="0"/>
                        </a:spcAft>
                        <a:buNone/>
                      </a:pPr>
                      <a:r>
                        <a:rPr lang="en-GB" sz="700"/>
                        <a:t>• High inference time</a:t>
                      </a:r>
                      <a:endParaRPr sz="700"/>
                    </a:p>
                  </a:txBody>
                  <a:tcPr marL="91425" marR="91425" marT="91425" marB="91425"/>
                </a:tc>
                <a:extLst>
                  <a:ext uri="{0D108BD9-81ED-4DB2-BD59-A6C34878D82A}">
                    <a16:rowId xmlns:a16="http://schemas.microsoft.com/office/drawing/2014/main" val="10004"/>
                  </a:ext>
                </a:extLst>
              </a:tr>
              <a:tr h="384525">
                <a:tc>
                  <a:txBody>
                    <a:bodyPr/>
                    <a:lstStyle/>
                    <a:p>
                      <a:pPr marL="0" lvl="0" indent="0" algn="l" rtl="0">
                        <a:spcBef>
                          <a:spcPts val="0"/>
                        </a:spcBef>
                        <a:spcAft>
                          <a:spcPts val="0"/>
                        </a:spcAft>
                        <a:buNone/>
                      </a:pPr>
                      <a:r>
                        <a:rPr lang="en-GB" sz="700"/>
                        <a:t>SmolVLM-500M (no adapter)</a:t>
                      </a:r>
                      <a:endParaRPr sz="700"/>
                    </a:p>
                  </a:txBody>
                  <a:tcPr marL="91425" marR="91425" marT="91425" marB="91425"/>
                </a:tc>
                <a:tc>
                  <a:txBody>
                    <a:bodyPr/>
                    <a:lstStyle/>
                    <a:p>
                      <a:pPr marL="0" lvl="0" indent="0" algn="l" rtl="0">
                        <a:spcBef>
                          <a:spcPts val="0"/>
                        </a:spcBef>
                        <a:spcAft>
                          <a:spcPts val="0"/>
                        </a:spcAft>
                        <a:buNone/>
                      </a:pPr>
                      <a:r>
                        <a:rPr lang="en-GB" sz="700"/>
                        <a:t>• Very brief, fast outputs</a:t>
                      </a:r>
                      <a:endParaRPr sz="700"/>
                    </a:p>
                  </a:txBody>
                  <a:tcPr marL="91425" marR="91425" marT="91425" marB="91425"/>
                </a:tc>
                <a:tc>
                  <a:txBody>
                    <a:bodyPr/>
                    <a:lstStyle/>
                    <a:p>
                      <a:pPr marL="0" lvl="0" indent="0" algn="l" rtl="0">
                        <a:spcBef>
                          <a:spcPts val="0"/>
                        </a:spcBef>
                        <a:spcAft>
                          <a:spcPts val="0"/>
                        </a:spcAft>
                        <a:buNone/>
                      </a:pPr>
                      <a:r>
                        <a:rPr lang="en-GB" sz="700"/>
                        <a:t>• Minimal useful detail</a:t>
                      </a:r>
                      <a:endParaRPr sz="700"/>
                    </a:p>
                    <a:p>
                      <a:pPr marL="0" lvl="0" indent="0" algn="l" rtl="0">
                        <a:spcBef>
                          <a:spcPts val="0"/>
                        </a:spcBef>
                        <a:spcAft>
                          <a:spcPts val="0"/>
                        </a:spcAft>
                        <a:buNone/>
                      </a:pPr>
                      <a:r>
                        <a:rPr lang="en-GB" sz="700"/>
                        <a:t>• Often nonsensical</a:t>
                      </a:r>
                      <a:endParaRPr sz="700"/>
                    </a:p>
                  </a:txBody>
                  <a:tcPr marL="91425" marR="91425" marT="91425" marB="91425"/>
                </a:tc>
                <a:extLst>
                  <a:ext uri="{0D108BD9-81ED-4DB2-BD59-A6C34878D82A}">
                    <a16:rowId xmlns:a16="http://schemas.microsoft.com/office/drawing/2014/main" val="10005"/>
                  </a:ext>
                </a:extLst>
              </a:tr>
              <a:tr h="384525">
                <a:tc>
                  <a:txBody>
                    <a:bodyPr/>
                    <a:lstStyle/>
                    <a:p>
                      <a:pPr marL="0" lvl="0" indent="0" algn="l" rtl="0">
                        <a:spcBef>
                          <a:spcPts val="0"/>
                        </a:spcBef>
                        <a:spcAft>
                          <a:spcPts val="0"/>
                        </a:spcAft>
                        <a:buNone/>
                      </a:pPr>
                      <a:r>
                        <a:rPr lang="en-GB" sz="700">
                          <a:solidFill>
                            <a:schemeClr val="dk1"/>
                          </a:solidFill>
                        </a:rPr>
                        <a:t>SmolVLM-500M (adapter)</a:t>
                      </a:r>
                      <a:endParaRPr sz="700"/>
                    </a:p>
                  </a:txBody>
                  <a:tcPr marL="91425" marR="91425" marT="91425" marB="91425"/>
                </a:tc>
                <a:tc>
                  <a:txBody>
                    <a:bodyPr/>
                    <a:lstStyle/>
                    <a:p>
                      <a:pPr marL="0" lvl="0" indent="0" algn="l" rtl="0">
                        <a:spcBef>
                          <a:spcPts val="0"/>
                        </a:spcBef>
                        <a:spcAft>
                          <a:spcPts val="0"/>
                        </a:spcAft>
                        <a:buNone/>
                      </a:pPr>
                      <a:r>
                        <a:rPr lang="en-GB" sz="700"/>
                        <a:t>• Identifies the circuit properly</a:t>
                      </a:r>
                      <a:endParaRPr sz="700"/>
                    </a:p>
                  </a:txBody>
                  <a:tcPr marL="91425" marR="91425" marT="91425" marB="91425"/>
                </a:tc>
                <a:tc>
                  <a:txBody>
                    <a:bodyPr/>
                    <a:lstStyle/>
                    <a:p>
                      <a:pPr marL="0" lvl="0" indent="0" algn="l" rtl="0">
                        <a:spcBef>
                          <a:spcPts val="0"/>
                        </a:spcBef>
                        <a:spcAft>
                          <a:spcPts val="0"/>
                        </a:spcAft>
                        <a:buNone/>
                      </a:pPr>
                      <a:r>
                        <a:rPr lang="en-GB" sz="700"/>
                        <a:t>• Extremely low detail</a:t>
                      </a:r>
                      <a:endParaRPr sz="700"/>
                    </a:p>
                    <a:p>
                      <a:pPr marL="0" lvl="0" indent="0" algn="l" rtl="0">
                        <a:spcBef>
                          <a:spcPts val="0"/>
                        </a:spcBef>
                        <a:spcAft>
                          <a:spcPts val="0"/>
                        </a:spcAft>
                        <a:buNone/>
                      </a:pPr>
                      <a:r>
                        <a:rPr lang="en-GB" sz="700"/>
                        <a:t>• Off-topic, repetitive</a:t>
                      </a:r>
                      <a:endParaRPr sz="700"/>
                    </a:p>
                  </a:txBody>
                  <a:tcPr marL="91425" marR="91425" marT="91425" marB="91425"/>
                </a:tc>
                <a:extLst>
                  <a:ext uri="{0D108BD9-81ED-4DB2-BD59-A6C34878D82A}">
                    <a16:rowId xmlns:a16="http://schemas.microsoft.com/office/drawing/2014/main" val="10006"/>
                  </a:ext>
                </a:extLst>
              </a:tr>
              <a:tr h="384525">
                <a:tc>
                  <a:txBody>
                    <a:bodyPr/>
                    <a:lstStyle/>
                    <a:p>
                      <a:pPr marL="0" lvl="0" indent="0" algn="l" rtl="0">
                        <a:spcBef>
                          <a:spcPts val="0"/>
                        </a:spcBef>
                        <a:spcAft>
                          <a:spcPts val="0"/>
                        </a:spcAft>
                        <a:buNone/>
                      </a:pPr>
                      <a:r>
                        <a:rPr lang="en-GB" sz="700"/>
                        <a:t>Qwen2.5-VL (no adapter)</a:t>
                      </a:r>
                      <a:endParaRPr sz="700"/>
                    </a:p>
                  </a:txBody>
                  <a:tcPr marL="91425" marR="91425" marT="91425" marB="91425"/>
                </a:tc>
                <a:tc>
                  <a:txBody>
                    <a:bodyPr/>
                    <a:lstStyle/>
                    <a:p>
                      <a:pPr marL="0" lvl="0" indent="0" algn="l" rtl="0">
                        <a:spcBef>
                          <a:spcPts val="0"/>
                        </a:spcBef>
                        <a:spcAft>
                          <a:spcPts val="0"/>
                        </a:spcAft>
                        <a:buNone/>
                      </a:pPr>
                      <a:r>
                        <a:rPr lang="en-GB" sz="700"/>
                        <a:t>• Very high accuracy</a:t>
                      </a:r>
                      <a:endParaRPr sz="700"/>
                    </a:p>
                    <a:p>
                      <a:pPr marL="0" lvl="0" indent="0" algn="l" rtl="0">
                        <a:spcBef>
                          <a:spcPts val="0"/>
                        </a:spcBef>
                        <a:spcAft>
                          <a:spcPts val="0"/>
                        </a:spcAft>
                        <a:buNone/>
                      </a:pPr>
                      <a:r>
                        <a:rPr lang="en-GB" sz="700"/>
                        <a:t>• Only minor omissions (e.g., 1 mm, delay)</a:t>
                      </a:r>
                      <a:endParaRPr sz="700"/>
                    </a:p>
                  </a:txBody>
                  <a:tcPr marL="91425" marR="91425" marT="91425" marB="91425"/>
                </a:tc>
                <a:tc>
                  <a:txBody>
                    <a:bodyPr/>
                    <a:lstStyle/>
                    <a:p>
                      <a:pPr marL="0" lvl="0" indent="0" algn="l" rtl="0">
                        <a:spcBef>
                          <a:spcPts val="0"/>
                        </a:spcBef>
                        <a:spcAft>
                          <a:spcPts val="0"/>
                        </a:spcAft>
                        <a:buNone/>
                      </a:pPr>
                      <a:r>
                        <a:rPr lang="en-GB" sz="700"/>
                        <a:t>• Occasional small value mismatches</a:t>
                      </a:r>
                      <a:endParaRPr sz="700"/>
                    </a:p>
                  </a:txBody>
                  <a:tcPr marL="91425" marR="91425" marT="91425" marB="91425"/>
                </a:tc>
                <a:extLst>
                  <a:ext uri="{0D108BD9-81ED-4DB2-BD59-A6C34878D82A}">
                    <a16:rowId xmlns:a16="http://schemas.microsoft.com/office/drawing/2014/main" val="10007"/>
                  </a:ext>
                </a:extLst>
              </a:tr>
              <a:tr h="384525">
                <a:tc>
                  <a:txBody>
                    <a:bodyPr/>
                    <a:lstStyle/>
                    <a:p>
                      <a:pPr marL="0" lvl="0" indent="0" algn="l" rtl="0">
                        <a:spcBef>
                          <a:spcPts val="0"/>
                        </a:spcBef>
                        <a:spcAft>
                          <a:spcPts val="0"/>
                        </a:spcAft>
                        <a:buNone/>
                      </a:pPr>
                      <a:r>
                        <a:rPr lang="en-GB" sz="700">
                          <a:solidFill>
                            <a:schemeClr val="dk1"/>
                          </a:solidFill>
                        </a:rPr>
                        <a:t>Qwen2.5-VL (adapter)</a:t>
                      </a:r>
                      <a:endParaRPr sz="700"/>
                    </a:p>
                  </a:txBody>
                  <a:tcPr marL="91425" marR="91425" marT="91425" marB="91425"/>
                </a:tc>
                <a:tc>
                  <a:txBody>
                    <a:bodyPr/>
                    <a:lstStyle/>
                    <a:p>
                      <a:pPr marL="0" lvl="0" indent="0" algn="l" rtl="0">
                        <a:spcBef>
                          <a:spcPts val="0"/>
                        </a:spcBef>
                        <a:spcAft>
                          <a:spcPts val="0"/>
                        </a:spcAft>
                        <a:buNone/>
                      </a:pPr>
                      <a:r>
                        <a:rPr lang="en-GB" sz="700"/>
                        <a:t>• Perfect accuracy on all key parameters</a:t>
                      </a:r>
                      <a:endParaRPr sz="700"/>
                    </a:p>
                    <a:p>
                      <a:pPr marL="0" lvl="0" indent="0" algn="l" rtl="0">
                        <a:spcBef>
                          <a:spcPts val="0"/>
                        </a:spcBef>
                        <a:spcAft>
                          <a:spcPts val="0"/>
                        </a:spcAft>
                        <a:buNone/>
                      </a:pPr>
                      <a:r>
                        <a:rPr lang="en-GB" sz="700"/>
                        <a:t>• Clear, logical flow</a:t>
                      </a:r>
                      <a:endParaRPr sz="700"/>
                    </a:p>
                  </a:txBody>
                  <a:tcPr marL="91425" marR="91425" marT="91425" marB="91425"/>
                </a:tc>
                <a:tc>
                  <a:txBody>
                    <a:bodyPr/>
                    <a:lstStyle/>
                    <a:p>
                      <a:pPr marL="0" lvl="0" indent="0" algn="l" rtl="0">
                        <a:spcBef>
                          <a:spcPts val="0"/>
                        </a:spcBef>
                        <a:spcAft>
                          <a:spcPts val="0"/>
                        </a:spcAft>
                        <a:buNone/>
                      </a:pPr>
                      <a:r>
                        <a:rPr lang="en-GB" sz="700"/>
                        <a:t>• None notable at 11-image scale</a:t>
                      </a:r>
                      <a:endParaRPr sz="700"/>
                    </a:p>
                  </a:txBody>
                  <a:tcPr marL="91425" marR="91425" marT="91425" marB="91425"/>
                </a:tc>
                <a:extLst>
                  <a:ext uri="{0D108BD9-81ED-4DB2-BD59-A6C34878D82A}">
                    <a16:rowId xmlns:a16="http://schemas.microsoft.com/office/drawing/2014/main" val="10008"/>
                  </a:ext>
                </a:extLst>
              </a:tr>
              <a:tr h="384525">
                <a:tc>
                  <a:txBody>
                    <a:bodyPr/>
                    <a:lstStyle/>
                    <a:p>
                      <a:pPr marL="0" lvl="0" indent="0" algn="l" rtl="0">
                        <a:spcBef>
                          <a:spcPts val="0"/>
                        </a:spcBef>
                        <a:spcAft>
                          <a:spcPts val="0"/>
                        </a:spcAft>
                        <a:buNone/>
                      </a:pPr>
                      <a:r>
                        <a:rPr lang="en-GB" sz="700"/>
                        <a:t>Granite-Vision-3.2 (no adapter)</a:t>
                      </a:r>
                      <a:endParaRPr sz="700"/>
                    </a:p>
                  </a:txBody>
                  <a:tcPr marL="91425" marR="91425" marT="91425" marB="91425"/>
                </a:tc>
                <a:tc>
                  <a:txBody>
                    <a:bodyPr/>
                    <a:lstStyle/>
                    <a:p>
                      <a:pPr marL="0" lvl="0" indent="0" algn="l" rtl="0">
                        <a:spcBef>
                          <a:spcPts val="0"/>
                        </a:spcBef>
                        <a:spcAft>
                          <a:spcPts val="0"/>
                        </a:spcAft>
                        <a:buNone/>
                      </a:pPr>
                      <a:r>
                        <a:rPr lang="en-GB" sz="700"/>
                        <a:t>• Rough topology recognition</a:t>
                      </a:r>
                      <a:endParaRPr sz="700"/>
                    </a:p>
                  </a:txBody>
                  <a:tcPr marL="91425" marR="91425" marT="91425" marB="91425"/>
                </a:tc>
                <a:tc>
                  <a:txBody>
                    <a:bodyPr/>
                    <a:lstStyle/>
                    <a:p>
                      <a:pPr marL="0" lvl="0" indent="0" algn="l" rtl="0">
                        <a:spcBef>
                          <a:spcPts val="0"/>
                        </a:spcBef>
                        <a:spcAft>
                          <a:spcPts val="0"/>
                        </a:spcAft>
                        <a:buNone/>
                      </a:pPr>
                      <a:r>
                        <a:rPr lang="en-GB" sz="700"/>
                        <a:t>• Generic transistor/amplifier descriptions</a:t>
                      </a:r>
                      <a:endParaRPr sz="700"/>
                    </a:p>
                    <a:p>
                      <a:pPr marL="0" lvl="0" indent="0" algn="l" rtl="0">
                        <a:spcBef>
                          <a:spcPts val="0"/>
                        </a:spcBef>
                        <a:spcAft>
                          <a:spcPts val="0"/>
                        </a:spcAft>
                        <a:buNone/>
                      </a:pPr>
                      <a:r>
                        <a:rPr lang="en-GB" sz="700"/>
                        <a:t>• Misses specific details</a:t>
                      </a:r>
                      <a:endParaRPr sz="700"/>
                    </a:p>
                  </a:txBody>
                  <a:tcPr marL="91425" marR="91425" marT="91425" marB="91425"/>
                </a:tc>
                <a:extLst>
                  <a:ext uri="{0D108BD9-81ED-4DB2-BD59-A6C34878D82A}">
                    <a16:rowId xmlns:a16="http://schemas.microsoft.com/office/drawing/2014/main" val="10009"/>
                  </a:ext>
                </a:extLst>
              </a:tr>
              <a:tr h="384525">
                <a:tc>
                  <a:txBody>
                    <a:bodyPr/>
                    <a:lstStyle/>
                    <a:p>
                      <a:pPr marL="0" lvl="0" indent="0" algn="l" rtl="0">
                        <a:spcBef>
                          <a:spcPts val="0"/>
                        </a:spcBef>
                        <a:spcAft>
                          <a:spcPts val="0"/>
                        </a:spcAft>
                        <a:buNone/>
                      </a:pPr>
                      <a:r>
                        <a:rPr lang="en-GB" sz="700"/>
                        <a:t>Granite-Vision-3.2 (adapter)</a:t>
                      </a:r>
                      <a:endParaRPr sz="700"/>
                    </a:p>
                  </a:txBody>
                  <a:tcPr marL="91425" marR="91425" marT="91425" marB="91425"/>
                </a:tc>
                <a:tc>
                  <a:txBody>
                    <a:bodyPr/>
                    <a:lstStyle/>
                    <a:p>
                      <a:pPr marL="0" lvl="0" indent="0" algn="l" rtl="0">
                        <a:spcBef>
                          <a:spcPts val="0"/>
                        </a:spcBef>
                        <a:spcAft>
                          <a:spcPts val="0"/>
                        </a:spcAft>
                        <a:buNone/>
                      </a:pPr>
                      <a:r>
                        <a:rPr lang="en-GB" sz="700"/>
                        <a:t>• Correctly identifies most parameters</a:t>
                      </a:r>
                      <a:endParaRPr sz="700"/>
                    </a:p>
                    <a:p>
                      <a:pPr marL="0" lvl="0" indent="0" algn="l" rtl="0">
                        <a:spcBef>
                          <a:spcPts val="0"/>
                        </a:spcBef>
                        <a:spcAft>
                          <a:spcPts val="0"/>
                        </a:spcAft>
                        <a:buNone/>
                      </a:pPr>
                      <a:r>
                        <a:rPr lang="en-GB" sz="700"/>
                        <a:t>• Generally coherent</a:t>
                      </a:r>
                      <a:endParaRPr sz="700"/>
                    </a:p>
                  </a:txBody>
                  <a:tcPr marL="91425" marR="91425" marT="91425" marB="91425"/>
                </a:tc>
                <a:tc>
                  <a:txBody>
                    <a:bodyPr/>
                    <a:lstStyle/>
                    <a:p>
                      <a:pPr marL="0" lvl="0" indent="0" algn="l" rtl="0">
                        <a:spcBef>
                          <a:spcPts val="0"/>
                        </a:spcBef>
                        <a:spcAft>
                          <a:spcPts val="0"/>
                        </a:spcAft>
                        <a:buNone/>
                      </a:pPr>
                      <a:r>
                        <a:rPr lang="en-GB" sz="700"/>
                        <a:t>• Introduces extraneous jargon (“transceiver,” “passives”)</a:t>
                      </a:r>
                      <a:endParaRPr sz="700"/>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2570"/>
              <a:t>SI Analysis Performance Evaluation</a:t>
            </a:r>
            <a:endParaRPr sz="2570"/>
          </a:p>
        </p:txBody>
      </p:sp>
      <p:pic>
        <p:nvPicPr>
          <p:cNvPr id="285" name="Google Shape;285;p46" title="final_score_si_analysis.png"/>
          <p:cNvPicPr preferRelativeResize="0"/>
          <p:nvPr/>
        </p:nvPicPr>
        <p:blipFill>
          <a:blip r:embed="rId3">
            <a:alphaModFix/>
          </a:blip>
          <a:stretch>
            <a:fillRect/>
          </a:stretch>
        </p:blipFill>
        <p:spPr>
          <a:xfrm>
            <a:off x="4699075" y="1584450"/>
            <a:ext cx="4171051" cy="2176675"/>
          </a:xfrm>
          <a:prstGeom prst="rect">
            <a:avLst/>
          </a:prstGeom>
          <a:noFill/>
          <a:ln>
            <a:noFill/>
          </a:ln>
        </p:spPr>
      </p:pic>
      <p:pic>
        <p:nvPicPr>
          <p:cNvPr id="286" name="Google Shape;286;p46" title="si_analysis_img_performance.png"/>
          <p:cNvPicPr preferRelativeResize="0"/>
          <p:nvPr/>
        </p:nvPicPr>
        <p:blipFill>
          <a:blip r:embed="rId4">
            <a:alphaModFix/>
          </a:blip>
          <a:stretch>
            <a:fillRect/>
          </a:stretch>
        </p:blipFill>
        <p:spPr>
          <a:xfrm>
            <a:off x="115027" y="1100625"/>
            <a:ext cx="4417074" cy="3144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7"/>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2570"/>
              <a:t>SI Analysis Performance Evaluation</a:t>
            </a:r>
            <a:endParaRPr sz="2570"/>
          </a:p>
        </p:txBody>
      </p:sp>
      <p:graphicFrame>
        <p:nvGraphicFramePr>
          <p:cNvPr id="292" name="Google Shape;292;p47"/>
          <p:cNvGraphicFramePr/>
          <p:nvPr/>
        </p:nvGraphicFramePr>
        <p:xfrm>
          <a:off x="348450" y="805675"/>
          <a:ext cx="3000000" cy="3000000"/>
        </p:xfrm>
        <a:graphic>
          <a:graphicData uri="http://schemas.openxmlformats.org/drawingml/2006/table">
            <a:tbl>
              <a:tblPr>
                <a:noFill/>
                <a:tableStyleId>{57D76EBA-3A3C-4FC6-9546-A542B5990890}</a:tableStyleId>
              </a:tblPr>
              <a:tblGrid>
                <a:gridCol w="2802425">
                  <a:extLst>
                    <a:ext uri="{9D8B030D-6E8A-4147-A177-3AD203B41FA5}">
                      <a16:colId xmlns:a16="http://schemas.microsoft.com/office/drawing/2014/main" val="20000"/>
                    </a:ext>
                  </a:extLst>
                </a:gridCol>
                <a:gridCol w="2802425">
                  <a:extLst>
                    <a:ext uri="{9D8B030D-6E8A-4147-A177-3AD203B41FA5}">
                      <a16:colId xmlns:a16="http://schemas.microsoft.com/office/drawing/2014/main" val="20001"/>
                    </a:ext>
                  </a:extLst>
                </a:gridCol>
                <a:gridCol w="2802425">
                  <a:extLst>
                    <a:ext uri="{9D8B030D-6E8A-4147-A177-3AD203B41FA5}">
                      <a16:colId xmlns:a16="http://schemas.microsoft.com/office/drawing/2014/main" val="20002"/>
                    </a:ext>
                  </a:extLst>
                </a:gridCol>
              </a:tblGrid>
              <a:tr h="363275">
                <a:tc>
                  <a:txBody>
                    <a:bodyPr/>
                    <a:lstStyle/>
                    <a:p>
                      <a:pPr marL="0" lvl="0" indent="0" algn="l" rtl="0">
                        <a:spcBef>
                          <a:spcPts val="0"/>
                        </a:spcBef>
                        <a:spcAft>
                          <a:spcPts val="0"/>
                        </a:spcAft>
                        <a:buNone/>
                      </a:pPr>
                      <a:r>
                        <a:rPr lang="en-GB" sz="1200" b="1"/>
                        <a:t>Model Variant</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Strengths</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Drawbacks</a:t>
                      </a:r>
                      <a:endParaRPr sz="1200" b="1"/>
                    </a:p>
                  </a:txBody>
                  <a:tcPr marL="91425" marR="91425" marT="91425" marB="91425">
                    <a:gradFill>
                      <a:gsLst>
                        <a:gs pos="0">
                          <a:srgbClr val="DCECD5"/>
                        </a:gs>
                        <a:gs pos="100000">
                          <a:srgbClr val="92BC81"/>
                        </a:gs>
                      </a:gsLst>
                      <a:lin ang="5400012" scaled="0"/>
                    </a:gradFill>
                  </a:tcPr>
                </a:tc>
                <a:extLst>
                  <a:ext uri="{0D108BD9-81ED-4DB2-BD59-A6C34878D82A}">
                    <a16:rowId xmlns:a16="http://schemas.microsoft.com/office/drawing/2014/main" val="10000"/>
                  </a:ext>
                </a:extLst>
              </a:tr>
              <a:tr h="393525">
                <a:tc>
                  <a:txBody>
                    <a:bodyPr/>
                    <a:lstStyle/>
                    <a:p>
                      <a:pPr marL="0" lvl="0" indent="0" algn="l" rtl="0">
                        <a:spcBef>
                          <a:spcPts val="0"/>
                        </a:spcBef>
                        <a:spcAft>
                          <a:spcPts val="0"/>
                        </a:spcAft>
                        <a:buNone/>
                      </a:pPr>
                      <a:r>
                        <a:rPr lang="en-GB" sz="700"/>
                        <a:t>LlaVA-1.6-Mistral (no adapter)</a:t>
                      </a:r>
                      <a:endParaRPr sz="700"/>
                    </a:p>
                  </a:txBody>
                  <a:tcPr marL="91425" marR="91425" marT="91425" marB="91425"/>
                </a:tc>
                <a:tc>
                  <a:txBody>
                    <a:bodyPr/>
                    <a:lstStyle/>
                    <a:p>
                      <a:pPr marL="0" lvl="0" indent="0" algn="l" rtl="0">
                        <a:spcBef>
                          <a:spcPts val="0"/>
                        </a:spcBef>
                        <a:spcAft>
                          <a:spcPts val="0"/>
                        </a:spcAft>
                        <a:buNone/>
                      </a:pPr>
                      <a:r>
                        <a:rPr lang="en-GB" sz="700"/>
                        <a:t>References two time-domain plots; avoids star-topology hallucination</a:t>
                      </a:r>
                      <a:endParaRPr sz="700"/>
                    </a:p>
                  </a:txBody>
                  <a:tcPr marL="91425" marR="91425" marT="91425" marB="91425"/>
                </a:tc>
                <a:tc>
                  <a:txBody>
                    <a:bodyPr/>
                    <a:lstStyle/>
                    <a:p>
                      <a:pPr marL="0" lvl="0" indent="0" algn="l" rtl="0">
                        <a:spcBef>
                          <a:spcPts val="0"/>
                        </a:spcBef>
                        <a:spcAft>
                          <a:spcPts val="0"/>
                        </a:spcAft>
                        <a:buNone/>
                      </a:pPr>
                      <a:r>
                        <a:rPr lang="en-GB" sz="700"/>
                        <a:t>Uses 0–40 s timescale; mislabels bottom plot as close-up or frequency domain</a:t>
                      </a:r>
                      <a:endParaRPr sz="700"/>
                    </a:p>
                  </a:txBody>
                  <a:tcPr marL="91425" marR="91425" marT="91425" marB="91425"/>
                </a:tc>
                <a:extLst>
                  <a:ext uri="{0D108BD9-81ED-4DB2-BD59-A6C34878D82A}">
                    <a16:rowId xmlns:a16="http://schemas.microsoft.com/office/drawing/2014/main" val="10001"/>
                  </a:ext>
                </a:extLst>
              </a:tr>
              <a:tr h="393525">
                <a:tc>
                  <a:txBody>
                    <a:bodyPr/>
                    <a:lstStyle/>
                    <a:p>
                      <a:pPr marL="0" lvl="0" indent="0" algn="l" rtl="0">
                        <a:spcBef>
                          <a:spcPts val="0"/>
                        </a:spcBef>
                        <a:spcAft>
                          <a:spcPts val="0"/>
                        </a:spcAft>
                        <a:buNone/>
                      </a:pPr>
                      <a:r>
                        <a:rPr lang="en-GB" sz="700"/>
                        <a:t>LlaVA-1.6-Mistral (adapter)</a:t>
                      </a:r>
                      <a:endParaRPr sz="700"/>
                    </a:p>
                  </a:txBody>
                  <a:tcPr marL="91425" marR="91425" marT="91425" marB="91425"/>
                </a:tc>
                <a:tc>
                  <a:txBody>
                    <a:bodyPr/>
                    <a:lstStyle/>
                    <a:p>
                      <a:pPr marL="0" lvl="0" indent="0" algn="l" rtl="0">
                        <a:spcBef>
                          <a:spcPts val="0"/>
                        </a:spcBef>
                        <a:spcAft>
                          <a:spcPts val="0"/>
                        </a:spcAft>
                        <a:buNone/>
                      </a:pPr>
                      <a:r>
                        <a:rPr lang="en-GB" sz="700"/>
                        <a:t>Consistent descriptive detail</a:t>
                      </a:r>
                      <a:endParaRPr sz="700"/>
                    </a:p>
                  </a:txBody>
                  <a:tcPr marL="91425" marR="91425" marT="91425" marB="91425"/>
                </a:tc>
                <a:tc>
                  <a:txBody>
                    <a:bodyPr/>
                    <a:lstStyle/>
                    <a:p>
                      <a:pPr marL="0" lvl="0" indent="0" algn="l" rtl="0">
                        <a:spcBef>
                          <a:spcPts val="0"/>
                        </a:spcBef>
                        <a:spcAft>
                          <a:spcPts val="0"/>
                        </a:spcAft>
                        <a:buNone/>
                      </a:pPr>
                      <a:r>
                        <a:rPr lang="en-GB" sz="700"/>
                        <a:t>Completely ignores waveforms; hallucinates star-topology PCB rendering</a:t>
                      </a:r>
                      <a:endParaRPr sz="700"/>
                    </a:p>
                  </a:txBody>
                  <a:tcPr marL="91425" marR="91425" marT="91425" marB="91425"/>
                </a:tc>
                <a:extLst>
                  <a:ext uri="{0D108BD9-81ED-4DB2-BD59-A6C34878D82A}">
                    <a16:rowId xmlns:a16="http://schemas.microsoft.com/office/drawing/2014/main" val="10002"/>
                  </a:ext>
                </a:extLst>
              </a:tr>
              <a:tr h="393525">
                <a:tc>
                  <a:txBody>
                    <a:bodyPr/>
                    <a:lstStyle/>
                    <a:p>
                      <a:pPr marL="0" lvl="0" indent="0" algn="l" rtl="0">
                        <a:spcBef>
                          <a:spcPts val="0"/>
                        </a:spcBef>
                        <a:spcAft>
                          <a:spcPts val="0"/>
                        </a:spcAft>
                        <a:buNone/>
                      </a:pPr>
                      <a:r>
                        <a:rPr lang="en-GB" sz="700"/>
                        <a:t>SmolVLM-Instruct (no adapter)</a:t>
                      </a:r>
                      <a:endParaRPr sz="700"/>
                    </a:p>
                  </a:txBody>
                  <a:tcPr marL="91425" marR="91425" marT="91425" marB="91425"/>
                </a:tc>
                <a:tc>
                  <a:txBody>
                    <a:bodyPr/>
                    <a:lstStyle/>
                    <a:p>
                      <a:pPr marL="0" lvl="0" indent="0" algn="l" rtl="0">
                        <a:spcBef>
                          <a:spcPts val="0"/>
                        </a:spcBef>
                        <a:spcAft>
                          <a:spcPts val="0"/>
                        </a:spcAft>
                        <a:buNone/>
                      </a:pPr>
                      <a:r>
                        <a:rPr lang="en-GB" sz="700"/>
                        <a:t>Enumerates multiple waveform traces</a:t>
                      </a:r>
                      <a:endParaRPr sz="700"/>
                    </a:p>
                  </a:txBody>
                  <a:tcPr marL="91425" marR="91425" marT="91425" marB="91425"/>
                </a:tc>
                <a:tc>
                  <a:txBody>
                    <a:bodyPr/>
                    <a:lstStyle/>
                    <a:p>
                      <a:pPr marL="0" lvl="0" indent="0" algn="l" rtl="0">
                        <a:spcBef>
                          <a:spcPts val="0"/>
                        </a:spcBef>
                        <a:spcAft>
                          <a:spcPts val="0"/>
                        </a:spcAft>
                        <a:buNone/>
                      </a:pPr>
                      <a:r>
                        <a:rPr lang="en-GB" sz="700"/>
                        <a:t>Wrong amplitude/time scale (0–2 mV); ignores negative current dips; lacks cohesive summary</a:t>
                      </a:r>
                      <a:endParaRPr sz="700"/>
                    </a:p>
                  </a:txBody>
                  <a:tcPr marL="91425" marR="91425" marT="91425" marB="91425"/>
                </a:tc>
                <a:extLst>
                  <a:ext uri="{0D108BD9-81ED-4DB2-BD59-A6C34878D82A}">
                    <a16:rowId xmlns:a16="http://schemas.microsoft.com/office/drawing/2014/main" val="10003"/>
                  </a:ext>
                </a:extLst>
              </a:tr>
              <a:tr h="393525">
                <a:tc>
                  <a:txBody>
                    <a:bodyPr/>
                    <a:lstStyle/>
                    <a:p>
                      <a:pPr marL="0" lvl="0" indent="0" algn="l" rtl="0">
                        <a:spcBef>
                          <a:spcPts val="0"/>
                        </a:spcBef>
                        <a:spcAft>
                          <a:spcPts val="0"/>
                        </a:spcAft>
                        <a:buNone/>
                      </a:pPr>
                      <a:r>
                        <a:rPr lang="en-GB" sz="700"/>
                        <a:t>SmolVLM-Instruct (adapter)</a:t>
                      </a:r>
                      <a:endParaRPr sz="700"/>
                    </a:p>
                  </a:txBody>
                  <a:tcPr marL="91425" marR="91425" marT="91425" marB="91425"/>
                </a:tc>
                <a:tc>
                  <a:txBody>
                    <a:bodyPr/>
                    <a:lstStyle/>
                    <a:p>
                      <a:pPr marL="0" lvl="0" indent="0" algn="l" rtl="0">
                        <a:spcBef>
                          <a:spcPts val="0"/>
                        </a:spcBef>
                        <a:spcAft>
                          <a:spcPts val="0"/>
                        </a:spcAft>
                        <a:buNone/>
                      </a:pPr>
                      <a:r>
                        <a:rPr lang="en-GB" sz="700"/>
                        <a:t>Correctly cites ~3.3 V top and ~10–20 mA bottom; mentions fast transitions</a:t>
                      </a:r>
                      <a:endParaRPr sz="700"/>
                    </a:p>
                  </a:txBody>
                  <a:tcPr marL="91425" marR="91425" marT="91425" marB="91425"/>
                </a:tc>
                <a:tc>
                  <a:txBody>
                    <a:bodyPr/>
                    <a:lstStyle/>
                    <a:p>
                      <a:pPr marL="0" lvl="0" indent="0" algn="l" rtl="0">
                        <a:spcBef>
                          <a:spcPts val="0"/>
                        </a:spcBef>
                        <a:spcAft>
                          <a:spcPts val="0"/>
                        </a:spcAft>
                        <a:buNone/>
                      </a:pPr>
                      <a:r>
                        <a:rPr lang="en-GB" sz="700"/>
                        <a:t>Omits negative dips; scale confusion (0–40 ns vs s); lacks overshoot/reflection details</a:t>
                      </a:r>
                      <a:endParaRPr sz="700"/>
                    </a:p>
                  </a:txBody>
                  <a:tcPr marL="91425" marR="91425" marT="91425" marB="91425"/>
                </a:tc>
                <a:extLst>
                  <a:ext uri="{0D108BD9-81ED-4DB2-BD59-A6C34878D82A}">
                    <a16:rowId xmlns:a16="http://schemas.microsoft.com/office/drawing/2014/main" val="10004"/>
                  </a:ext>
                </a:extLst>
              </a:tr>
              <a:tr h="393525">
                <a:tc>
                  <a:txBody>
                    <a:bodyPr/>
                    <a:lstStyle/>
                    <a:p>
                      <a:pPr marL="0" lvl="0" indent="0" algn="l" rtl="0">
                        <a:spcBef>
                          <a:spcPts val="0"/>
                        </a:spcBef>
                        <a:spcAft>
                          <a:spcPts val="0"/>
                        </a:spcAft>
                        <a:buNone/>
                      </a:pPr>
                      <a:r>
                        <a:rPr lang="en-GB" sz="700"/>
                        <a:t>SmolVLM-500M (no adapter)</a:t>
                      </a:r>
                      <a:endParaRPr sz="700"/>
                    </a:p>
                  </a:txBody>
                  <a:tcPr marL="91425" marR="91425" marT="91425" marB="91425"/>
                </a:tc>
                <a:tc>
                  <a:txBody>
                    <a:bodyPr/>
                    <a:lstStyle/>
                    <a:p>
                      <a:pPr marL="0" lvl="0" indent="0" algn="l" rtl="0">
                        <a:spcBef>
                          <a:spcPts val="0"/>
                        </a:spcBef>
                        <a:spcAft>
                          <a:spcPts val="0"/>
                        </a:spcAft>
                        <a:buNone/>
                      </a:pPr>
                      <a:r>
                        <a:rPr lang="en-GB" sz="700"/>
                        <a:t>Fast, brief enumeration</a:t>
                      </a:r>
                      <a:endParaRPr sz="700"/>
                    </a:p>
                  </a:txBody>
                  <a:tcPr marL="91425" marR="91425" marT="91425" marB="91425"/>
                </a:tc>
                <a:tc>
                  <a:txBody>
                    <a:bodyPr/>
                    <a:lstStyle/>
                    <a:p>
                      <a:pPr marL="0" lvl="0" indent="0" algn="l" rtl="0">
                        <a:spcBef>
                          <a:spcPts val="0"/>
                        </a:spcBef>
                        <a:spcAft>
                          <a:spcPts val="0"/>
                        </a:spcAft>
                        <a:buNone/>
                      </a:pPr>
                      <a:r>
                        <a:rPr lang="en-GB" sz="700"/>
                        <a:t>Highly inaccurate amplitude/time refs; rarely mentions current plot or negative dips</a:t>
                      </a:r>
                      <a:endParaRPr sz="700"/>
                    </a:p>
                  </a:txBody>
                  <a:tcPr marL="91425" marR="91425" marT="91425" marB="91425"/>
                </a:tc>
                <a:extLst>
                  <a:ext uri="{0D108BD9-81ED-4DB2-BD59-A6C34878D82A}">
                    <a16:rowId xmlns:a16="http://schemas.microsoft.com/office/drawing/2014/main" val="10005"/>
                  </a:ext>
                </a:extLst>
              </a:tr>
              <a:tr h="393525">
                <a:tc>
                  <a:txBody>
                    <a:bodyPr/>
                    <a:lstStyle/>
                    <a:p>
                      <a:pPr marL="0" lvl="0" indent="0" algn="l" rtl="0">
                        <a:spcBef>
                          <a:spcPts val="0"/>
                        </a:spcBef>
                        <a:spcAft>
                          <a:spcPts val="0"/>
                        </a:spcAft>
                        <a:buNone/>
                      </a:pPr>
                      <a:r>
                        <a:rPr lang="en-GB" sz="700">
                          <a:solidFill>
                            <a:schemeClr val="dk1"/>
                          </a:solidFill>
                        </a:rPr>
                        <a:t>SmolVLM-500M (adapter)</a:t>
                      </a:r>
                      <a:endParaRPr sz="700"/>
                    </a:p>
                  </a:txBody>
                  <a:tcPr marL="91425" marR="91425" marT="91425" marB="91425"/>
                </a:tc>
                <a:tc>
                  <a:txBody>
                    <a:bodyPr/>
                    <a:lstStyle/>
                    <a:p>
                      <a:pPr marL="0" lvl="0" indent="0" algn="l" rtl="0">
                        <a:spcBef>
                          <a:spcPts val="0"/>
                        </a:spcBef>
                        <a:spcAft>
                          <a:spcPts val="0"/>
                        </a:spcAft>
                        <a:buNone/>
                      </a:pPr>
                      <a:r>
                        <a:rPr lang="en-GB" sz="700"/>
                        <a:t>Detailed step-by-step enumeration</a:t>
                      </a:r>
                      <a:endParaRPr sz="700"/>
                    </a:p>
                  </a:txBody>
                  <a:tcPr marL="91425" marR="91425" marT="91425" marB="91425"/>
                </a:tc>
                <a:tc>
                  <a:txBody>
                    <a:bodyPr/>
                    <a:lstStyle/>
                    <a:p>
                      <a:pPr marL="0" lvl="0" indent="0" algn="l" rtl="0">
                        <a:spcBef>
                          <a:spcPts val="0"/>
                        </a:spcBef>
                        <a:spcAft>
                          <a:spcPts val="0"/>
                        </a:spcAft>
                        <a:buNone/>
                      </a:pPr>
                      <a:r>
                        <a:rPr lang="en-GB" sz="700"/>
                        <a:t>Long, repetitive descriptions; wrong amplitude (2.5 mV); ignores second plot</a:t>
                      </a:r>
                      <a:endParaRPr sz="700"/>
                    </a:p>
                  </a:txBody>
                  <a:tcPr marL="91425" marR="91425" marT="91425" marB="91425"/>
                </a:tc>
                <a:extLst>
                  <a:ext uri="{0D108BD9-81ED-4DB2-BD59-A6C34878D82A}">
                    <a16:rowId xmlns:a16="http://schemas.microsoft.com/office/drawing/2014/main" val="10006"/>
                  </a:ext>
                </a:extLst>
              </a:tr>
              <a:tr h="393525">
                <a:tc>
                  <a:txBody>
                    <a:bodyPr/>
                    <a:lstStyle/>
                    <a:p>
                      <a:pPr marL="0" lvl="0" indent="0" algn="l" rtl="0">
                        <a:spcBef>
                          <a:spcPts val="0"/>
                        </a:spcBef>
                        <a:spcAft>
                          <a:spcPts val="0"/>
                        </a:spcAft>
                        <a:buNone/>
                      </a:pPr>
                      <a:r>
                        <a:rPr lang="en-GB" sz="700"/>
                        <a:t>Qwen2.5-VL (no adapter)</a:t>
                      </a:r>
                      <a:endParaRPr sz="700"/>
                    </a:p>
                  </a:txBody>
                  <a:tcPr marL="91425" marR="91425" marT="91425" marB="91425"/>
                </a:tc>
                <a:tc>
                  <a:txBody>
                    <a:bodyPr/>
                    <a:lstStyle/>
                    <a:p>
                      <a:pPr marL="0" lvl="0" indent="0" algn="l" rtl="0">
                        <a:spcBef>
                          <a:spcPts val="0"/>
                        </a:spcBef>
                        <a:spcAft>
                          <a:spcPts val="0"/>
                        </a:spcAft>
                        <a:buNone/>
                      </a:pPr>
                      <a:r>
                        <a:rPr lang="en-GB" sz="700"/>
                        <a:t>Identifies voltage vs. current waveforms accurately</a:t>
                      </a:r>
                      <a:endParaRPr sz="700"/>
                    </a:p>
                  </a:txBody>
                  <a:tcPr marL="91425" marR="91425" marT="91425" marB="91425"/>
                </a:tc>
                <a:tc>
                  <a:txBody>
                    <a:bodyPr/>
                    <a:lstStyle/>
                    <a:p>
                      <a:pPr marL="0" lvl="0" indent="0" algn="l" rtl="0">
                        <a:spcBef>
                          <a:spcPts val="0"/>
                        </a:spcBef>
                        <a:spcAft>
                          <a:spcPts val="0"/>
                        </a:spcAft>
                        <a:buNone/>
                      </a:pPr>
                      <a:r>
                        <a:rPr lang="en-GB" sz="700"/>
                        <a:t>Uses 0–40 s timescale; misstates amplitude (±10–30 A or ~30 V); no negative dips</a:t>
                      </a:r>
                      <a:endParaRPr sz="700"/>
                    </a:p>
                  </a:txBody>
                  <a:tcPr marL="91425" marR="91425" marT="91425" marB="91425"/>
                </a:tc>
                <a:extLst>
                  <a:ext uri="{0D108BD9-81ED-4DB2-BD59-A6C34878D82A}">
                    <a16:rowId xmlns:a16="http://schemas.microsoft.com/office/drawing/2014/main" val="10007"/>
                  </a:ext>
                </a:extLst>
              </a:tr>
              <a:tr h="393525">
                <a:tc>
                  <a:txBody>
                    <a:bodyPr/>
                    <a:lstStyle/>
                    <a:p>
                      <a:pPr marL="0" lvl="0" indent="0" algn="l" rtl="0">
                        <a:spcBef>
                          <a:spcPts val="0"/>
                        </a:spcBef>
                        <a:spcAft>
                          <a:spcPts val="0"/>
                        </a:spcAft>
                        <a:buNone/>
                      </a:pPr>
                      <a:r>
                        <a:rPr lang="en-GB" sz="700">
                          <a:solidFill>
                            <a:schemeClr val="dk1"/>
                          </a:solidFill>
                        </a:rPr>
                        <a:t>Qwen2.5-VL (adapter)</a:t>
                      </a:r>
                      <a:endParaRPr sz="700"/>
                    </a:p>
                  </a:txBody>
                  <a:tcPr marL="91425" marR="91425" marT="91425" marB="91425"/>
                </a:tc>
                <a:tc>
                  <a:txBody>
                    <a:bodyPr/>
                    <a:lstStyle/>
                    <a:p>
                      <a:pPr marL="0" lvl="0" indent="0" algn="l" rtl="0">
                        <a:spcBef>
                          <a:spcPts val="0"/>
                        </a:spcBef>
                        <a:spcAft>
                          <a:spcPts val="0"/>
                        </a:spcAft>
                        <a:buNone/>
                      </a:pPr>
                      <a:r>
                        <a:rPr lang="en-GB" sz="700"/>
                        <a:t>Recognizes overshoot/undershoot and reflections; clear waveform roles</a:t>
                      </a:r>
                      <a:endParaRPr sz="700"/>
                    </a:p>
                  </a:txBody>
                  <a:tcPr marL="91425" marR="91425" marT="91425" marB="91425"/>
                </a:tc>
                <a:tc>
                  <a:txBody>
                    <a:bodyPr/>
                    <a:lstStyle/>
                    <a:p>
                      <a:pPr marL="0" lvl="0" indent="0" algn="l" rtl="0">
                        <a:spcBef>
                          <a:spcPts val="0"/>
                        </a:spcBef>
                        <a:spcAft>
                          <a:spcPts val="0"/>
                        </a:spcAft>
                        <a:buNone/>
                      </a:pPr>
                      <a:r>
                        <a:rPr lang="en-GB" sz="700"/>
                        <a:t>Still uses wrong timescale/amplitude; sometimes invents extra lines; rarely mentions negative dips</a:t>
                      </a:r>
                      <a:endParaRPr sz="700"/>
                    </a:p>
                  </a:txBody>
                  <a:tcPr marL="91425" marR="91425" marT="91425" marB="91425"/>
                </a:tc>
                <a:extLst>
                  <a:ext uri="{0D108BD9-81ED-4DB2-BD59-A6C34878D82A}">
                    <a16:rowId xmlns:a16="http://schemas.microsoft.com/office/drawing/2014/main" val="10008"/>
                  </a:ext>
                </a:extLst>
              </a:tr>
              <a:tr h="393525">
                <a:tc>
                  <a:txBody>
                    <a:bodyPr/>
                    <a:lstStyle/>
                    <a:p>
                      <a:pPr marL="0" lvl="0" indent="0" algn="l" rtl="0">
                        <a:spcBef>
                          <a:spcPts val="0"/>
                        </a:spcBef>
                        <a:spcAft>
                          <a:spcPts val="0"/>
                        </a:spcAft>
                        <a:buNone/>
                      </a:pPr>
                      <a:r>
                        <a:rPr lang="en-GB" sz="700"/>
                        <a:t>Granite-Vision-3.2 (no adapter)</a:t>
                      </a:r>
                      <a:endParaRPr sz="700"/>
                    </a:p>
                  </a:txBody>
                  <a:tcPr marL="91425" marR="91425" marT="91425" marB="91425"/>
                </a:tc>
                <a:tc>
                  <a:txBody>
                    <a:bodyPr/>
                    <a:lstStyle/>
                    <a:p>
                      <a:pPr marL="0" lvl="0" indent="0" algn="l" rtl="0">
                        <a:spcBef>
                          <a:spcPts val="0"/>
                        </a:spcBef>
                        <a:spcAft>
                          <a:spcPts val="0"/>
                        </a:spcAft>
                        <a:buNone/>
                      </a:pPr>
                      <a:r>
                        <a:rPr lang="en-GB" sz="700"/>
                        <a:t>Notes top=voltage &amp; bottom=current</a:t>
                      </a:r>
                      <a:endParaRPr sz="700"/>
                    </a:p>
                  </a:txBody>
                  <a:tcPr marL="91425" marR="91425" marT="91425" marB="91425"/>
                </a:tc>
                <a:tc>
                  <a:txBody>
                    <a:bodyPr/>
                    <a:lstStyle/>
                    <a:p>
                      <a:pPr marL="0" lvl="0" indent="0" algn="l" rtl="0">
                        <a:spcBef>
                          <a:spcPts val="0"/>
                        </a:spcBef>
                        <a:spcAft>
                          <a:spcPts val="0"/>
                        </a:spcAft>
                        <a:buNone/>
                      </a:pPr>
                      <a:r>
                        <a:rPr lang="en-GB" sz="700"/>
                        <a:t>Describes waveforms as sinusoidal/AC-like; misses amplitudes &amp; negative dips</a:t>
                      </a:r>
                      <a:endParaRPr sz="700"/>
                    </a:p>
                  </a:txBody>
                  <a:tcPr marL="91425" marR="91425" marT="91425" marB="91425"/>
                </a:tc>
                <a:extLst>
                  <a:ext uri="{0D108BD9-81ED-4DB2-BD59-A6C34878D82A}">
                    <a16:rowId xmlns:a16="http://schemas.microsoft.com/office/drawing/2014/main" val="10009"/>
                  </a:ext>
                </a:extLst>
              </a:tr>
              <a:tr h="393525">
                <a:tc>
                  <a:txBody>
                    <a:bodyPr/>
                    <a:lstStyle/>
                    <a:p>
                      <a:pPr marL="0" lvl="0" indent="0" algn="l" rtl="0">
                        <a:spcBef>
                          <a:spcPts val="0"/>
                        </a:spcBef>
                        <a:spcAft>
                          <a:spcPts val="0"/>
                        </a:spcAft>
                        <a:buNone/>
                      </a:pPr>
                      <a:r>
                        <a:rPr lang="en-GB" sz="700"/>
                        <a:t>Granite-Vision-3.2 (adapter)</a:t>
                      </a:r>
                      <a:endParaRPr sz="700"/>
                    </a:p>
                  </a:txBody>
                  <a:tcPr marL="91425" marR="91425" marT="91425" marB="91425"/>
                </a:tc>
                <a:tc>
                  <a:txBody>
                    <a:bodyPr/>
                    <a:lstStyle/>
                    <a:p>
                      <a:pPr marL="0" lvl="0" indent="0" algn="l" rtl="0">
                        <a:spcBef>
                          <a:spcPts val="0"/>
                        </a:spcBef>
                        <a:spcAft>
                          <a:spcPts val="0"/>
                        </a:spcAft>
                        <a:buNone/>
                      </a:pPr>
                      <a:r>
                        <a:rPr lang="en-GB" sz="700"/>
                        <a:t>Accurate ~3.3 V square &amp; negative mA dips; mentions ringing/reflections</a:t>
                      </a:r>
                      <a:endParaRPr sz="700"/>
                    </a:p>
                  </a:txBody>
                  <a:tcPr marL="91425" marR="91425" marT="91425" marB="91425"/>
                </a:tc>
                <a:tc>
                  <a:txBody>
                    <a:bodyPr/>
                    <a:lstStyle/>
                    <a:p>
                      <a:pPr marL="0" lvl="0" indent="0" algn="l" rtl="0">
                        <a:spcBef>
                          <a:spcPts val="0"/>
                        </a:spcBef>
                        <a:spcAft>
                          <a:spcPts val="0"/>
                        </a:spcAft>
                        <a:buNone/>
                      </a:pPr>
                      <a:r>
                        <a:rPr lang="en-GB" sz="700"/>
                        <a:t>Numeric approximations (e.g., exact 2 ns or 20 mA); occasional scale mismatches</a:t>
                      </a:r>
                      <a:endParaRPr sz="700"/>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8"/>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GB" sz="2550"/>
              <a:t>FD Analysis Performance Evaluation</a:t>
            </a:r>
            <a:endParaRPr sz="2550"/>
          </a:p>
        </p:txBody>
      </p:sp>
      <p:pic>
        <p:nvPicPr>
          <p:cNvPr id="298" name="Google Shape;298;p48" title="fd_analysis_img_performance.png"/>
          <p:cNvPicPr preferRelativeResize="0"/>
          <p:nvPr/>
        </p:nvPicPr>
        <p:blipFill>
          <a:blip r:embed="rId3">
            <a:alphaModFix/>
          </a:blip>
          <a:stretch>
            <a:fillRect/>
          </a:stretch>
        </p:blipFill>
        <p:spPr>
          <a:xfrm>
            <a:off x="243500" y="1043325"/>
            <a:ext cx="4558249" cy="3242724"/>
          </a:xfrm>
          <a:prstGeom prst="rect">
            <a:avLst/>
          </a:prstGeom>
          <a:noFill/>
          <a:ln>
            <a:noFill/>
          </a:ln>
        </p:spPr>
      </p:pic>
      <p:pic>
        <p:nvPicPr>
          <p:cNvPr id="299" name="Google Shape;299;p48" title="final_score_fd_analysis.png"/>
          <p:cNvPicPr preferRelativeResize="0"/>
          <p:nvPr/>
        </p:nvPicPr>
        <p:blipFill>
          <a:blip r:embed="rId4">
            <a:alphaModFix/>
          </a:blip>
          <a:stretch>
            <a:fillRect/>
          </a:stretch>
        </p:blipFill>
        <p:spPr>
          <a:xfrm>
            <a:off x="4801750" y="1533350"/>
            <a:ext cx="4007450" cy="2076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9"/>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GB" sz="2550"/>
              <a:t>FD Analysis Performance Evaluation</a:t>
            </a:r>
            <a:endParaRPr sz="2550"/>
          </a:p>
        </p:txBody>
      </p:sp>
      <p:graphicFrame>
        <p:nvGraphicFramePr>
          <p:cNvPr id="305" name="Google Shape;305;p49"/>
          <p:cNvGraphicFramePr/>
          <p:nvPr/>
        </p:nvGraphicFramePr>
        <p:xfrm>
          <a:off x="317050" y="815775"/>
          <a:ext cx="3000000" cy="3000000"/>
        </p:xfrm>
        <a:graphic>
          <a:graphicData uri="http://schemas.openxmlformats.org/drawingml/2006/table">
            <a:tbl>
              <a:tblPr>
                <a:noFill/>
                <a:tableStyleId>{57D76EBA-3A3C-4FC6-9546-A542B5990890}</a:tableStyleId>
              </a:tblPr>
              <a:tblGrid>
                <a:gridCol w="2828550">
                  <a:extLst>
                    <a:ext uri="{9D8B030D-6E8A-4147-A177-3AD203B41FA5}">
                      <a16:colId xmlns:a16="http://schemas.microsoft.com/office/drawing/2014/main" val="20000"/>
                    </a:ext>
                  </a:extLst>
                </a:gridCol>
                <a:gridCol w="2828550">
                  <a:extLst>
                    <a:ext uri="{9D8B030D-6E8A-4147-A177-3AD203B41FA5}">
                      <a16:colId xmlns:a16="http://schemas.microsoft.com/office/drawing/2014/main" val="20001"/>
                    </a:ext>
                  </a:extLst>
                </a:gridCol>
                <a:gridCol w="2828550">
                  <a:extLst>
                    <a:ext uri="{9D8B030D-6E8A-4147-A177-3AD203B41FA5}">
                      <a16:colId xmlns:a16="http://schemas.microsoft.com/office/drawing/2014/main" val="20002"/>
                    </a:ext>
                  </a:extLst>
                </a:gridCol>
              </a:tblGrid>
              <a:tr h="362025">
                <a:tc>
                  <a:txBody>
                    <a:bodyPr/>
                    <a:lstStyle/>
                    <a:p>
                      <a:pPr marL="0" lvl="0" indent="0" algn="l" rtl="0">
                        <a:spcBef>
                          <a:spcPts val="0"/>
                        </a:spcBef>
                        <a:spcAft>
                          <a:spcPts val="0"/>
                        </a:spcAft>
                        <a:buNone/>
                      </a:pPr>
                      <a:r>
                        <a:rPr lang="en-GB" sz="1200" b="1"/>
                        <a:t>Model Variant</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Strengths</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Drawbacks</a:t>
                      </a:r>
                      <a:endParaRPr sz="1200" b="1"/>
                    </a:p>
                  </a:txBody>
                  <a:tcPr marL="91425" marR="91425" marT="91425" marB="91425">
                    <a:gradFill>
                      <a:gsLst>
                        <a:gs pos="0">
                          <a:srgbClr val="DCECD5"/>
                        </a:gs>
                        <a:gs pos="100000">
                          <a:srgbClr val="92BC81"/>
                        </a:gs>
                      </a:gsLst>
                      <a:lin ang="5400012" scaled="0"/>
                    </a:gradFill>
                  </a:tcPr>
                </a:tc>
                <a:extLst>
                  <a:ext uri="{0D108BD9-81ED-4DB2-BD59-A6C34878D82A}">
                    <a16:rowId xmlns:a16="http://schemas.microsoft.com/office/drawing/2014/main" val="10000"/>
                  </a:ext>
                </a:extLst>
              </a:tr>
              <a:tr h="392200">
                <a:tc>
                  <a:txBody>
                    <a:bodyPr/>
                    <a:lstStyle/>
                    <a:p>
                      <a:pPr marL="0" lvl="0" indent="0" algn="l" rtl="0">
                        <a:spcBef>
                          <a:spcPts val="0"/>
                        </a:spcBef>
                        <a:spcAft>
                          <a:spcPts val="0"/>
                        </a:spcAft>
                        <a:buNone/>
                      </a:pPr>
                      <a:r>
                        <a:rPr lang="en-GB" sz="700"/>
                        <a:t>LlaVA-1.6-Mistral (no adapter)</a:t>
                      </a:r>
                      <a:endParaRPr sz="700"/>
                    </a:p>
                  </a:txBody>
                  <a:tcPr marL="91425" marR="91425" marT="91425" marB="91425"/>
                </a:tc>
                <a:tc>
                  <a:txBody>
                    <a:bodyPr/>
                    <a:lstStyle/>
                    <a:p>
                      <a:pPr marL="0" lvl="0" indent="0" algn="l" rtl="0">
                        <a:spcBef>
                          <a:spcPts val="0"/>
                        </a:spcBef>
                        <a:spcAft>
                          <a:spcPts val="0"/>
                        </a:spcAft>
                        <a:buNone/>
                      </a:pPr>
                      <a:r>
                        <a:rPr lang="en-GB" sz="700"/>
                        <a:t>Acknowledges source as PCB simulation/design; recognizes it’s a frequency-domain plot</a:t>
                      </a:r>
                      <a:endParaRPr sz="700"/>
                    </a:p>
                  </a:txBody>
                  <a:tcPr marL="91425" marR="91425" marT="91425" marB="91425"/>
                </a:tc>
                <a:tc>
                  <a:txBody>
                    <a:bodyPr/>
                    <a:lstStyle/>
                    <a:p>
                      <a:pPr marL="0" lvl="0" indent="0" algn="l" rtl="0">
                        <a:spcBef>
                          <a:spcPts val="0"/>
                        </a:spcBef>
                        <a:spcAft>
                          <a:spcPts val="0"/>
                        </a:spcAft>
                        <a:buNone/>
                      </a:pPr>
                      <a:r>
                        <a:rPr lang="en-GB" sz="700"/>
                        <a:t>Confuses FD plot with time-domain waveforms; rarely references S-parameters or frequency</a:t>
                      </a:r>
                      <a:endParaRPr sz="700"/>
                    </a:p>
                  </a:txBody>
                  <a:tcPr marL="91425" marR="91425" marT="91425" marB="91425"/>
                </a:tc>
                <a:extLst>
                  <a:ext uri="{0D108BD9-81ED-4DB2-BD59-A6C34878D82A}">
                    <a16:rowId xmlns:a16="http://schemas.microsoft.com/office/drawing/2014/main" val="10001"/>
                  </a:ext>
                </a:extLst>
              </a:tr>
              <a:tr h="392200">
                <a:tc>
                  <a:txBody>
                    <a:bodyPr/>
                    <a:lstStyle/>
                    <a:p>
                      <a:pPr marL="0" lvl="0" indent="0" algn="l" rtl="0">
                        <a:spcBef>
                          <a:spcPts val="0"/>
                        </a:spcBef>
                        <a:spcAft>
                          <a:spcPts val="0"/>
                        </a:spcAft>
                        <a:buNone/>
                      </a:pPr>
                      <a:r>
                        <a:rPr lang="en-GB" sz="700"/>
                        <a:t>LlaVA-1.6-Mistral (adapter)</a:t>
                      </a:r>
                      <a:endParaRPr sz="700"/>
                    </a:p>
                  </a:txBody>
                  <a:tcPr marL="91425" marR="91425" marT="91425" marB="91425"/>
                </a:tc>
                <a:tc>
                  <a:txBody>
                    <a:bodyPr/>
                    <a:lstStyle/>
                    <a:p>
                      <a:pPr marL="0" lvl="0" indent="0" algn="l" rtl="0">
                        <a:spcBef>
                          <a:spcPts val="0"/>
                        </a:spcBef>
                        <a:spcAft>
                          <a:spcPts val="0"/>
                        </a:spcAft>
                        <a:buNone/>
                      </a:pPr>
                      <a:r>
                        <a:rPr lang="en-GB" sz="700"/>
                        <a:t>Mentions “PCB design” generically</a:t>
                      </a:r>
                      <a:endParaRPr sz="700"/>
                    </a:p>
                  </a:txBody>
                  <a:tcPr marL="91425" marR="91425" marT="91425" marB="91425"/>
                </a:tc>
                <a:tc>
                  <a:txBody>
                    <a:bodyPr/>
                    <a:lstStyle/>
                    <a:p>
                      <a:pPr marL="0" lvl="0" indent="0" algn="l" rtl="0">
                        <a:spcBef>
                          <a:spcPts val="0"/>
                        </a:spcBef>
                        <a:spcAft>
                          <a:spcPts val="0"/>
                        </a:spcAft>
                        <a:buNone/>
                      </a:pPr>
                      <a:r>
                        <a:rPr lang="en-GB" sz="700"/>
                        <a:t>Hallucinates 3D star-topology PCB; no numeric or shape-based analysis</a:t>
                      </a:r>
                      <a:endParaRPr sz="700"/>
                    </a:p>
                  </a:txBody>
                  <a:tcPr marL="91425" marR="91425" marT="91425" marB="91425"/>
                </a:tc>
                <a:extLst>
                  <a:ext uri="{0D108BD9-81ED-4DB2-BD59-A6C34878D82A}">
                    <a16:rowId xmlns:a16="http://schemas.microsoft.com/office/drawing/2014/main" val="10002"/>
                  </a:ext>
                </a:extLst>
              </a:tr>
              <a:tr h="392200">
                <a:tc>
                  <a:txBody>
                    <a:bodyPr/>
                    <a:lstStyle/>
                    <a:p>
                      <a:pPr marL="0" lvl="0" indent="0" algn="l" rtl="0">
                        <a:spcBef>
                          <a:spcPts val="0"/>
                        </a:spcBef>
                        <a:spcAft>
                          <a:spcPts val="0"/>
                        </a:spcAft>
                        <a:buNone/>
                      </a:pPr>
                      <a:r>
                        <a:rPr lang="en-GB" sz="700"/>
                        <a:t>SmolVLM-Instruct (no adapter)</a:t>
                      </a:r>
                      <a:endParaRPr sz="700"/>
                    </a:p>
                  </a:txBody>
                  <a:tcPr marL="91425" marR="91425" marT="91425" marB="91425"/>
                </a:tc>
                <a:tc>
                  <a:txBody>
                    <a:bodyPr/>
                    <a:lstStyle/>
                    <a:p>
                      <a:pPr marL="0" lvl="0" indent="0" algn="l" rtl="0">
                        <a:spcBef>
                          <a:spcPts val="0"/>
                        </a:spcBef>
                        <a:spcAft>
                          <a:spcPts val="0"/>
                        </a:spcAft>
                        <a:buNone/>
                      </a:pPr>
                      <a:r>
                        <a:rPr lang="en-GB" sz="700"/>
                        <a:t>Recognizes frequency vs. S-parameter magnitude line graph</a:t>
                      </a:r>
                      <a:endParaRPr sz="700"/>
                    </a:p>
                  </a:txBody>
                  <a:tcPr marL="91425" marR="91425" marT="91425" marB="91425"/>
                </a:tc>
                <a:tc>
                  <a:txBody>
                    <a:bodyPr/>
                    <a:lstStyle/>
                    <a:p>
                      <a:pPr marL="0" lvl="0" indent="0" algn="l" rtl="0">
                        <a:spcBef>
                          <a:spcPts val="0"/>
                        </a:spcBef>
                        <a:spcAft>
                          <a:spcPts val="0"/>
                        </a:spcAft>
                        <a:buNone/>
                      </a:pPr>
                      <a:r>
                        <a:rPr lang="en-GB" sz="700"/>
                        <a:t>Lacks numeric detail; waveform shape (dips/oscillations) not described</a:t>
                      </a:r>
                      <a:endParaRPr sz="700"/>
                    </a:p>
                  </a:txBody>
                  <a:tcPr marL="91425" marR="91425" marT="91425" marB="91425"/>
                </a:tc>
                <a:extLst>
                  <a:ext uri="{0D108BD9-81ED-4DB2-BD59-A6C34878D82A}">
                    <a16:rowId xmlns:a16="http://schemas.microsoft.com/office/drawing/2014/main" val="10003"/>
                  </a:ext>
                </a:extLst>
              </a:tr>
              <a:tr h="392200">
                <a:tc>
                  <a:txBody>
                    <a:bodyPr/>
                    <a:lstStyle/>
                    <a:p>
                      <a:pPr marL="0" lvl="0" indent="0" algn="l" rtl="0">
                        <a:spcBef>
                          <a:spcPts val="0"/>
                        </a:spcBef>
                        <a:spcAft>
                          <a:spcPts val="0"/>
                        </a:spcAft>
                        <a:buNone/>
                      </a:pPr>
                      <a:r>
                        <a:rPr lang="en-GB" sz="700"/>
                        <a:t>SmolVLM-Instruct (adapter)</a:t>
                      </a:r>
                      <a:endParaRPr sz="700"/>
                    </a:p>
                  </a:txBody>
                  <a:tcPr marL="91425" marR="91425" marT="91425" marB="91425"/>
                </a:tc>
                <a:tc>
                  <a:txBody>
                    <a:bodyPr/>
                    <a:lstStyle/>
                    <a:p>
                      <a:pPr marL="0" lvl="0" indent="0" algn="l" rtl="0">
                        <a:spcBef>
                          <a:spcPts val="0"/>
                        </a:spcBef>
                        <a:spcAft>
                          <a:spcPts val="0"/>
                        </a:spcAft>
                        <a:buNone/>
                      </a:pPr>
                      <a:r>
                        <a:rPr lang="en-GB" sz="700"/>
                        <a:t>Mentions frequency-domain analysis and S-parameter magnitude; notes mismatches/reflections</a:t>
                      </a:r>
                      <a:endParaRPr sz="700"/>
                    </a:p>
                  </a:txBody>
                  <a:tcPr marL="91425" marR="91425" marT="91425" marB="91425"/>
                </a:tc>
                <a:tc>
                  <a:txBody>
                    <a:bodyPr/>
                    <a:lstStyle/>
                    <a:p>
                      <a:pPr marL="0" lvl="0" indent="0" algn="l" rtl="0">
                        <a:spcBef>
                          <a:spcPts val="0"/>
                        </a:spcBef>
                        <a:spcAft>
                          <a:spcPts val="0"/>
                        </a:spcAft>
                        <a:buNone/>
                      </a:pPr>
                      <a:r>
                        <a:rPr lang="en-GB" sz="700"/>
                        <a:t>Imagines separate phase plot; numeric details off; shape only partially captured</a:t>
                      </a:r>
                      <a:endParaRPr sz="700"/>
                    </a:p>
                  </a:txBody>
                  <a:tcPr marL="91425" marR="91425" marT="91425" marB="91425"/>
                </a:tc>
                <a:extLst>
                  <a:ext uri="{0D108BD9-81ED-4DB2-BD59-A6C34878D82A}">
                    <a16:rowId xmlns:a16="http://schemas.microsoft.com/office/drawing/2014/main" val="10004"/>
                  </a:ext>
                </a:extLst>
              </a:tr>
              <a:tr h="392200">
                <a:tc>
                  <a:txBody>
                    <a:bodyPr/>
                    <a:lstStyle/>
                    <a:p>
                      <a:pPr marL="0" lvl="0" indent="0" algn="l" rtl="0">
                        <a:spcBef>
                          <a:spcPts val="0"/>
                        </a:spcBef>
                        <a:spcAft>
                          <a:spcPts val="0"/>
                        </a:spcAft>
                        <a:buNone/>
                      </a:pPr>
                      <a:r>
                        <a:rPr lang="en-GB" sz="700"/>
                        <a:t>SmolVLM-500M (no adapter)</a:t>
                      </a:r>
                      <a:endParaRPr sz="700"/>
                    </a:p>
                  </a:txBody>
                  <a:tcPr marL="91425" marR="91425" marT="91425" marB="91425"/>
                </a:tc>
                <a:tc>
                  <a:txBody>
                    <a:bodyPr/>
                    <a:lstStyle/>
                    <a:p>
                      <a:pPr marL="0" lvl="0" indent="0" algn="l" rtl="0">
                        <a:spcBef>
                          <a:spcPts val="0"/>
                        </a:spcBef>
                        <a:spcAft>
                          <a:spcPts val="0"/>
                        </a:spcAft>
                        <a:buNone/>
                      </a:pPr>
                      <a:r>
                        <a:rPr lang="en-GB" sz="700"/>
                        <a:t>Identifies frequency axis and magnitude in dB; some mention of peaks/dips</a:t>
                      </a:r>
                      <a:endParaRPr sz="700"/>
                    </a:p>
                  </a:txBody>
                  <a:tcPr marL="91425" marR="91425" marT="91425" marB="91425"/>
                </a:tc>
                <a:tc>
                  <a:txBody>
                    <a:bodyPr/>
                    <a:lstStyle/>
                    <a:p>
                      <a:pPr marL="0" lvl="0" indent="0" algn="l" rtl="0">
                        <a:spcBef>
                          <a:spcPts val="0"/>
                        </a:spcBef>
                        <a:spcAft>
                          <a:spcPts val="0"/>
                        </a:spcAft>
                        <a:buNone/>
                      </a:pPr>
                      <a:r>
                        <a:rPr lang="en-GB" sz="700"/>
                        <a:t>Produces repeated/off-topic numeric descriptions; rarely captures true shape</a:t>
                      </a:r>
                      <a:endParaRPr sz="700"/>
                    </a:p>
                  </a:txBody>
                  <a:tcPr marL="91425" marR="91425" marT="91425" marB="91425"/>
                </a:tc>
                <a:extLst>
                  <a:ext uri="{0D108BD9-81ED-4DB2-BD59-A6C34878D82A}">
                    <a16:rowId xmlns:a16="http://schemas.microsoft.com/office/drawing/2014/main" val="10005"/>
                  </a:ext>
                </a:extLst>
              </a:tr>
              <a:tr h="392200">
                <a:tc>
                  <a:txBody>
                    <a:bodyPr/>
                    <a:lstStyle/>
                    <a:p>
                      <a:pPr marL="0" lvl="0" indent="0" algn="l" rtl="0">
                        <a:spcBef>
                          <a:spcPts val="0"/>
                        </a:spcBef>
                        <a:spcAft>
                          <a:spcPts val="0"/>
                        </a:spcAft>
                        <a:buNone/>
                      </a:pPr>
                      <a:r>
                        <a:rPr lang="en-GB" sz="700">
                          <a:solidFill>
                            <a:schemeClr val="dk1"/>
                          </a:solidFill>
                        </a:rPr>
                        <a:t>SmolVLM-500M (adapter)</a:t>
                      </a:r>
                      <a:endParaRPr sz="700"/>
                    </a:p>
                  </a:txBody>
                  <a:tcPr marL="91425" marR="91425" marT="91425" marB="91425"/>
                </a:tc>
                <a:tc>
                  <a:txBody>
                    <a:bodyPr/>
                    <a:lstStyle/>
                    <a:p>
                      <a:pPr marL="0" lvl="0" indent="0" algn="l" rtl="0">
                        <a:spcBef>
                          <a:spcPts val="0"/>
                        </a:spcBef>
                        <a:spcAft>
                          <a:spcPts val="0"/>
                        </a:spcAft>
                        <a:buNone/>
                      </a:pPr>
                      <a:r>
                        <a:rPr lang="en-GB" sz="700"/>
                        <a:t>Identifies S-parameter magnitude plot; occasionally notes resonance dips</a:t>
                      </a:r>
                      <a:endParaRPr sz="700"/>
                    </a:p>
                  </a:txBody>
                  <a:tcPr marL="91425" marR="91425" marT="91425" marB="91425"/>
                </a:tc>
                <a:tc>
                  <a:txBody>
                    <a:bodyPr/>
                    <a:lstStyle/>
                    <a:p>
                      <a:pPr marL="0" lvl="0" indent="0" algn="l" rtl="0">
                        <a:spcBef>
                          <a:spcPts val="0"/>
                        </a:spcBef>
                        <a:spcAft>
                          <a:spcPts val="0"/>
                        </a:spcAft>
                        <a:buNone/>
                      </a:pPr>
                      <a:r>
                        <a:rPr lang="en-GB" sz="700"/>
                        <a:t>Numeric ranges misaligned with actual dips; lacks thorough shape explanation</a:t>
                      </a:r>
                      <a:endParaRPr sz="700"/>
                    </a:p>
                  </a:txBody>
                  <a:tcPr marL="91425" marR="91425" marT="91425" marB="91425"/>
                </a:tc>
                <a:extLst>
                  <a:ext uri="{0D108BD9-81ED-4DB2-BD59-A6C34878D82A}">
                    <a16:rowId xmlns:a16="http://schemas.microsoft.com/office/drawing/2014/main" val="10006"/>
                  </a:ext>
                </a:extLst>
              </a:tr>
              <a:tr h="392200">
                <a:tc>
                  <a:txBody>
                    <a:bodyPr/>
                    <a:lstStyle/>
                    <a:p>
                      <a:pPr marL="0" lvl="0" indent="0" algn="l" rtl="0">
                        <a:spcBef>
                          <a:spcPts val="0"/>
                        </a:spcBef>
                        <a:spcAft>
                          <a:spcPts val="0"/>
                        </a:spcAft>
                        <a:buNone/>
                      </a:pPr>
                      <a:r>
                        <a:rPr lang="en-GB" sz="700"/>
                        <a:t>Qwen2.5-VL (no adapter)</a:t>
                      </a:r>
                      <a:endParaRPr sz="700"/>
                    </a:p>
                  </a:txBody>
                  <a:tcPr marL="91425" marR="91425" marT="91425" marB="91425"/>
                </a:tc>
                <a:tc>
                  <a:txBody>
                    <a:bodyPr/>
                    <a:lstStyle/>
                    <a:p>
                      <a:pPr marL="0" lvl="0" indent="0" algn="l" rtl="0">
                        <a:spcBef>
                          <a:spcPts val="0"/>
                        </a:spcBef>
                        <a:spcAft>
                          <a:spcPts val="0"/>
                        </a:spcAft>
                        <a:buNone/>
                      </a:pPr>
                      <a:r>
                        <a:rPr lang="en-GB" sz="700"/>
                        <a:t>Recognizes two traces as frequency response with dips/resonances</a:t>
                      </a:r>
                      <a:endParaRPr sz="700"/>
                    </a:p>
                  </a:txBody>
                  <a:tcPr marL="91425" marR="91425" marT="91425" marB="91425"/>
                </a:tc>
                <a:tc>
                  <a:txBody>
                    <a:bodyPr/>
                    <a:lstStyle/>
                    <a:p>
                      <a:pPr marL="0" lvl="0" indent="0" algn="l" rtl="0">
                        <a:spcBef>
                          <a:spcPts val="0"/>
                        </a:spcBef>
                        <a:spcAft>
                          <a:spcPts val="0"/>
                        </a:spcAft>
                        <a:buNone/>
                      </a:pPr>
                      <a:r>
                        <a:rPr lang="en-GB" sz="700"/>
                        <a:t>Incorrect numeric refs (e.g., 0 to –80 dB); inconsistent or partial information</a:t>
                      </a:r>
                      <a:endParaRPr sz="700"/>
                    </a:p>
                  </a:txBody>
                  <a:tcPr marL="91425" marR="91425" marT="91425" marB="91425"/>
                </a:tc>
                <a:extLst>
                  <a:ext uri="{0D108BD9-81ED-4DB2-BD59-A6C34878D82A}">
                    <a16:rowId xmlns:a16="http://schemas.microsoft.com/office/drawing/2014/main" val="10007"/>
                  </a:ext>
                </a:extLst>
              </a:tr>
              <a:tr h="392200">
                <a:tc>
                  <a:txBody>
                    <a:bodyPr/>
                    <a:lstStyle/>
                    <a:p>
                      <a:pPr marL="0" lvl="0" indent="0" algn="l" rtl="0">
                        <a:spcBef>
                          <a:spcPts val="0"/>
                        </a:spcBef>
                        <a:spcAft>
                          <a:spcPts val="0"/>
                        </a:spcAft>
                        <a:buNone/>
                      </a:pPr>
                      <a:r>
                        <a:rPr lang="en-GB" sz="700">
                          <a:solidFill>
                            <a:schemeClr val="dk1"/>
                          </a:solidFill>
                        </a:rPr>
                        <a:t>Qwen2.5-VL (adapter)</a:t>
                      </a:r>
                      <a:endParaRPr sz="700"/>
                    </a:p>
                  </a:txBody>
                  <a:tcPr marL="91425" marR="91425" marT="91425" marB="91425"/>
                </a:tc>
                <a:tc>
                  <a:txBody>
                    <a:bodyPr/>
                    <a:lstStyle/>
                    <a:p>
                      <a:pPr marL="0" lvl="0" indent="0" algn="l" rtl="0">
                        <a:spcBef>
                          <a:spcPts val="0"/>
                        </a:spcBef>
                        <a:spcAft>
                          <a:spcPts val="0"/>
                        </a:spcAft>
                        <a:buNone/>
                      </a:pPr>
                      <a:r>
                        <a:rPr lang="en-GB" sz="700"/>
                        <a:t>Identifies S11 vs. S21 roles; describes red dips/peaks and green stability; notes reflection</a:t>
                      </a:r>
                      <a:endParaRPr sz="700"/>
                    </a:p>
                  </a:txBody>
                  <a:tcPr marL="91425" marR="91425" marT="91425" marB="91425"/>
                </a:tc>
                <a:tc>
                  <a:txBody>
                    <a:bodyPr/>
                    <a:lstStyle/>
                    <a:p>
                      <a:pPr marL="0" lvl="0" indent="0" algn="l" rtl="0">
                        <a:spcBef>
                          <a:spcPts val="0"/>
                        </a:spcBef>
                        <a:spcAft>
                          <a:spcPts val="0"/>
                        </a:spcAft>
                        <a:buNone/>
                      </a:pPr>
                      <a:r>
                        <a:rPr lang="en-GB" sz="700"/>
                        <a:t>Numeric guesses often inaccurate; occasional misaligned dB references</a:t>
                      </a:r>
                      <a:endParaRPr sz="700"/>
                    </a:p>
                  </a:txBody>
                  <a:tcPr marL="91425" marR="91425" marT="91425" marB="91425"/>
                </a:tc>
                <a:extLst>
                  <a:ext uri="{0D108BD9-81ED-4DB2-BD59-A6C34878D82A}">
                    <a16:rowId xmlns:a16="http://schemas.microsoft.com/office/drawing/2014/main" val="10008"/>
                  </a:ext>
                </a:extLst>
              </a:tr>
              <a:tr h="392200">
                <a:tc>
                  <a:txBody>
                    <a:bodyPr/>
                    <a:lstStyle/>
                    <a:p>
                      <a:pPr marL="0" lvl="0" indent="0" algn="l" rtl="0">
                        <a:spcBef>
                          <a:spcPts val="0"/>
                        </a:spcBef>
                        <a:spcAft>
                          <a:spcPts val="0"/>
                        </a:spcAft>
                        <a:buNone/>
                      </a:pPr>
                      <a:r>
                        <a:rPr lang="en-GB" sz="700"/>
                        <a:t>Granite-Vision-3.2 (no adapter)</a:t>
                      </a:r>
                      <a:endParaRPr sz="700"/>
                    </a:p>
                  </a:txBody>
                  <a:tcPr marL="91425" marR="91425" marT="91425" marB="91425"/>
                </a:tc>
                <a:tc>
                  <a:txBody>
                    <a:bodyPr/>
                    <a:lstStyle/>
                    <a:p>
                      <a:pPr marL="0" lvl="0" indent="0" algn="l" rtl="0">
                        <a:spcBef>
                          <a:spcPts val="0"/>
                        </a:spcBef>
                        <a:spcAft>
                          <a:spcPts val="0"/>
                        </a:spcAft>
                        <a:buNone/>
                      </a:pPr>
                      <a:r>
                        <a:rPr lang="en-GB" sz="700"/>
                        <a:t>States red = magnitude, green = phase; identifies a frequency-magnitude plot</a:t>
                      </a:r>
                      <a:endParaRPr sz="700"/>
                    </a:p>
                  </a:txBody>
                  <a:tcPr marL="91425" marR="91425" marT="91425" marB="91425"/>
                </a:tc>
                <a:tc>
                  <a:txBody>
                    <a:bodyPr/>
                    <a:lstStyle/>
                    <a:p>
                      <a:pPr marL="0" lvl="0" indent="0" algn="l" rtl="0">
                        <a:spcBef>
                          <a:spcPts val="0"/>
                        </a:spcBef>
                        <a:spcAft>
                          <a:spcPts val="0"/>
                        </a:spcAft>
                        <a:buNone/>
                      </a:pPr>
                      <a:r>
                        <a:rPr lang="en-GB" sz="700"/>
                        <a:t>Incorrect frequency scale (e.g., audio kHz); misses large negative dips</a:t>
                      </a:r>
                      <a:endParaRPr sz="700"/>
                    </a:p>
                  </a:txBody>
                  <a:tcPr marL="91425" marR="91425" marT="91425" marB="91425"/>
                </a:tc>
                <a:extLst>
                  <a:ext uri="{0D108BD9-81ED-4DB2-BD59-A6C34878D82A}">
                    <a16:rowId xmlns:a16="http://schemas.microsoft.com/office/drawing/2014/main" val="10009"/>
                  </a:ext>
                </a:extLst>
              </a:tr>
              <a:tr h="392200">
                <a:tc>
                  <a:txBody>
                    <a:bodyPr/>
                    <a:lstStyle/>
                    <a:p>
                      <a:pPr marL="0" lvl="0" indent="0" algn="l" rtl="0">
                        <a:spcBef>
                          <a:spcPts val="0"/>
                        </a:spcBef>
                        <a:spcAft>
                          <a:spcPts val="0"/>
                        </a:spcAft>
                        <a:buNone/>
                      </a:pPr>
                      <a:r>
                        <a:rPr lang="en-GB" sz="700"/>
                        <a:t>Granite-Vision-3.2 (adapter)</a:t>
                      </a:r>
                      <a:endParaRPr sz="700"/>
                    </a:p>
                  </a:txBody>
                  <a:tcPr marL="91425" marR="91425" marT="91425" marB="91425"/>
                </a:tc>
                <a:tc>
                  <a:txBody>
                    <a:bodyPr/>
                    <a:lstStyle/>
                    <a:p>
                      <a:pPr marL="0" lvl="0" indent="0" algn="l" rtl="0">
                        <a:spcBef>
                          <a:spcPts val="0"/>
                        </a:spcBef>
                        <a:spcAft>
                          <a:spcPts val="0"/>
                        </a:spcAft>
                        <a:buNone/>
                      </a:pPr>
                      <a:r>
                        <a:rPr lang="en-GB" sz="700"/>
                        <a:t>Accurately describes FD magnitude response; notes red dips, green stability; mentions ringing</a:t>
                      </a:r>
                      <a:endParaRPr sz="700"/>
                    </a:p>
                  </a:txBody>
                  <a:tcPr marL="91425" marR="91425" marT="91425" marB="91425"/>
                </a:tc>
                <a:tc>
                  <a:txBody>
                    <a:bodyPr/>
                    <a:lstStyle/>
                    <a:p>
                      <a:pPr marL="0" lvl="0" indent="0" algn="l" rtl="0">
                        <a:spcBef>
                          <a:spcPts val="0"/>
                        </a:spcBef>
                        <a:spcAft>
                          <a:spcPts val="0"/>
                        </a:spcAft>
                        <a:buNone/>
                      </a:pPr>
                      <a:r>
                        <a:rPr lang="en-GB" sz="700"/>
                        <a:t>Numeric approximations off; occasional axis or detail mismatches</a:t>
                      </a:r>
                      <a:endParaRPr sz="700"/>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0"/>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GB" sz="2550"/>
              <a:t>TDR Analysis Performance Evaluation</a:t>
            </a:r>
            <a:endParaRPr sz="2550"/>
          </a:p>
        </p:txBody>
      </p:sp>
      <p:pic>
        <p:nvPicPr>
          <p:cNvPr id="311" name="Google Shape;311;p50" title="final_score_tdr_analysis.png"/>
          <p:cNvPicPr preferRelativeResize="0"/>
          <p:nvPr/>
        </p:nvPicPr>
        <p:blipFill>
          <a:blip r:embed="rId3">
            <a:alphaModFix/>
          </a:blip>
          <a:stretch>
            <a:fillRect/>
          </a:stretch>
        </p:blipFill>
        <p:spPr>
          <a:xfrm>
            <a:off x="5187400" y="1678925"/>
            <a:ext cx="3823449" cy="1897275"/>
          </a:xfrm>
          <a:prstGeom prst="rect">
            <a:avLst/>
          </a:prstGeom>
          <a:noFill/>
          <a:ln>
            <a:noFill/>
          </a:ln>
        </p:spPr>
      </p:pic>
      <p:pic>
        <p:nvPicPr>
          <p:cNvPr id="312" name="Google Shape;312;p50" title="tdr_analysis_img_performance.png"/>
          <p:cNvPicPr preferRelativeResize="0"/>
          <p:nvPr/>
        </p:nvPicPr>
        <p:blipFill>
          <a:blip r:embed="rId4">
            <a:alphaModFix/>
          </a:blip>
          <a:stretch>
            <a:fillRect/>
          </a:stretch>
        </p:blipFill>
        <p:spPr>
          <a:xfrm>
            <a:off x="256296" y="1044250"/>
            <a:ext cx="4708650" cy="32073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51"/>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rmAutofit/>
          </a:bodyPr>
          <a:lstStyle/>
          <a:p>
            <a:pPr marL="0" lvl="0" indent="0" algn="l" rtl="0">
              <a:spcBef>
                <a:spcPts val="0"/>
              </a:spcBef>
              <a:spcAft>
                <a:spcPts val="0"/>
              </a:spcAft>
              <a:buNone/>
            </a:pPr>
            <a:r>
              <a:rPr lang="en-GB" sz="2550"/>
              <a:t>TDR Analysis Performance Evaluation</a:t>
            </a:r>
            <a:endParaRPr sz="2550"/>
          </a:p>
        </p:txBody>
      </p:sp>
      <p:graphicFrame>
        <p:nvGraphicFramePr>
          <p:cNvPr id="318" name="Google Shape;318;p51"/>
          <p:cNvGraphicFramePr/>
          <p:nvPr/>
        </p:nvGraphicFramePr>
        <p:xfrm>
          <a:off x="360525" y="841725"/>
          <a:ext cx="3000000" cy="3000000"/>
        </p:xfrm>
        <a:graphic>
          <a:graphicData uri="http://schemas.openxmlformats.org/drawingml/2006/table">
            <a:tbl>
              <a:tblPr>
                <a:noFill/>
                <a:tableStyleId>{57D76EBA-3A3C-4FC6-9546-A542B5990890}</a:tableStyleId>
              </a:tblPr>
              <a:tblGrid>
                <a:gridCol w="1951275">
                  <a:extLst>
                    <a:ext uri="{9D8B030D-6E8A-4147-A177-3AD203B41FA5}">
                      <a16:colId xmlns:a16="http://schemas.microsoft.com/office/drawing/2014/main" val="20000"/>
                    </a:ext>
                  </a:extLst>
                </a:gridCol>
                <a:gridCol w="3501400">
                  <a:extLst>
                    <a:ext uri="{9D8B030D-6E8A-4147-A177-3AD203B41FA5}">
                      <a16:colId xmlns:a16="http://schemas.microsoft.com/office/drawing/2014/main" val="20001"/>
                    </a:ext>
                  </a:extLst>
                </a:gridCol>
                <a:gridCol w="2989700">
                  <a:extLst>
                    <a:ext uri="{9D8B030D-6E8A-4147-A177-3AD203B41FA5}">
                      <a16:colId xmlns:a16="http://schemas.microsoft.com/office/drawing/2014/main" val="20002"/>
                    </a:ext>
                  </a:extLst>
                </a:gridCol>
              </a:tblGrid>
              <a:tr h="350925">
                <a:tc>
                  <a:txBody>
                    <a:bodyPr/>
                    <a:lstStyle/>
                    <a:p>
                      <a:pPr marL="0" lvl="0" indent="0" algn="l" rtl="0">
                        <a:spcBef>
                          <a:spcPts val="0"/>
                        </a:spcBef>
                        <a:spcAft>
                          <a:spcPts val="0"/>
                        </a:spcAft>
                        <a:buNone/>
                      </a:pPr>
                      <a:r>
                        <a:rPr lang="en-GB" sz="1200" b="1"/>
                        <a:t>Model Variant</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Strengths</a:t>
                      </a:r>
                      <a:endParaRPr sz="1200" b="1"/>
                    </a:p>
                  </a:txBody>
                  <a:tcPr marL="91425" marR="91425" marT="91425" marB="91425">
                    <a:gradFill>
                      <a:gsLst>
                        <a:gs pos="0">
                          <a:srgbClr val="DCECD5"/>
                        </a:gs>
                        <a:gs pos="100000">
                          <a:srgbClr val="92BC81"/>
                        </a:gs>
                      </a:gsLst>
                      <a:lin ang="5400012" scaled="0"/>
                    </a:gradFill>
                  </a:tcPr>
                </a:tc>
                <a:tc>
                  <a:txBody>
                    <a:bodyPr/>
                    <a:lstStyle/>
                    <a:p>
                      <a:pPr marL="0" lvl="0" indent="0" algn="l" rtl="0">
                        <a:spcBef>
                          <a:spcPts val="0"/>
                        </a:spcBef>
                        <a:spcAft>
                          <a:spcPts val="0"/>
                        </a:spcAft>
                        <a:buNone/>
                      </a:pPr>
                      <a:r>
                        <a:rPr lang="en-GB" sz="1200" b="1"/>
                        <a:t>Drawbacks</a:t>
                      </a:r>
                      <a:endParaRPr sz="1200" b="1"/>
                    </a:p>
                  </a:txBody>
                  <a:tcPr marL="91425" marR="91425" marT="91425" marB="91425">
                    <a:gradFill>
                      <a:gsLst>
                        <a:gs pos="0">
                          <a:srgbClr val="DCECD5"/>
                        </a:gs>
                        <a:gs pos="100000">
                          <a:srgbClr val="92BC81"/>
                        </a:gs>
                      </a:gsLst>
                      <a:lin ang="5400012" scaled="0"/>
                    </a:gradFill>
                  </a:tcPr>
                </a:tc>
                <a:extLst>
                  <a:ext uri="{0D108BD9-81ED-4DB2-BD59-A6C34878D82A}">
                    <a16:rowId xmlns:a16="http://schemas.microsoft.com/office/drawing/2014/main" val="10000"/>
                  </a:ext>
                </a:extLst>
              </a:tr>
              <a:tr h="380150">
                <a:tc>
                  <a:txBody>
                    <a:bodyPr/>
                    <a:lstStyle/>
                    <a:p>
                      <a:pPr marL="0" lvl="0" indent="0" algn="l" rtl="0">
                        <a:spcBef>
                          <a:spcPts val="0"/>
                        </a:spcBef>
                        <a:spcAft>
                          <a:spcPts val="0"/>
                        </a:spcAft>
                        <a:buNone/>
                      </a:pPr>
                      <a:r>
                        <a:rPr lang="en-GB" sz="700"/>
                        <a:t>LlaVA-1.6-Mistral (no adapter)</a:t>
                      </a:r>
                      <a:endParaRPr sz="700"/>
                    </a:p>
                  </a:txBody>
                  <a:tcPr marL="91425" marR="91425" marT="91425" marB="91425"/>
                </a:tc>
                <a:tc>
                  <a:txBody>
                    <a:bodyPr/>
                    <a:lstStyle/>
                    <a:p>
                      <a:pPr marL="0" lvl="0" indent="0" algn="l" rtl="0">
                        <a:spcBef>
                          <a:spcPts val="0"/>
                        </a:spcBef>
                        <a:spcAft>
                          <a:spcPts val="0"/>
                        </a:spcAft>
                        <a:buNone/>
                      </a:pPr>
                      <a:r>
                        <a:rPr lang="en-GB" sz="700">
                          <a:solidFill>
                            <a:schemeClr val="dk1"/>
                          </a:solidFill>
                        </a:rPr>
                        <a:t>Consistently references PCB layout.</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Repeatedly described PCB layout screens or a “star topology” circuit instead of actual TDR waveforms.</a:t>
                      </a:r>
                      <a:endParaRPr sz="700"/>
                    </a:p>
                  </a:txBody>
                  <a:tcPr marL="91425" marR="91425" marT="91425" marB="91425"/>
                </a:tc>
                <a:extLst>
                  <a:ext uri="{0D108BD9-81ED-4DB2-BD59-A6C34878D82A}">
                    <a16:rowId xmlns:a16="http://schemas.microsoft.com/office/drawing/2014/main" val="10001"/>
                  </a:ext>
                </a:extLst>
              </a:tr>
              <a:tr h="380150">
                <a:tc>
                  <a:txBody>
                    <a:bodyPr/>
                    <a:lstStyle/>
                    <a:p>
                      <a:pPr marL="0" lvl="0" indent="0" algn="l" rtl="0">
                        <a:spcBef>
                          <a:spcPts val="0"/>
                        </a:spcBef>
                        <a:spcAft>
                          <a:spcPts val="0"/>
                        </a:spcAft>
                        <a:buNone/>
                      </a:pPr>
                      <a:r>
                        <a:rPr lang="en-GB" sz="700"/>
                        <a:t>LlaVA-1.6-Mistral (adapter)</a:t>
                      </a:r>
                      <a:endParaRPr sz="700"/>
                    </a:p>
                  </a:txBody>
                  <a:tcPr marL="91425" marR="91425" marT="91425" marB="91425"/>
                </a:tc>
                <a:tc>
                  <a:txBody>
                    <a:bodyPr/>
                    <a:lstStyle/>
                    <a:p>
                      <a:pPr marL="0" lvl="0" indent="0" algn="l" rtl="0">
                        <a:spcBef>
                          <a:spcPts val="0"/>
                        </a:spcBef>
                        <a:spcAft>
                          <a:spcPts val="0"/>
                        </a:spcAft>
                        <a:buNone/>
                      </a:pPr>
                      <a:r>
                        <a:rPr lang="en-GB" sz="700"/>
                        <a:t>Repeatedly generates PCB descriptions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Repeatedly described PCB layout screens or a “star topology” circuit instead of actual TDR waveforms.</a:t>
                      </a:r>
                      <a:endParaRPr sz="700"/>
                    </a:p>
                  </a:txBody>
                  <a:tcPr marL="91425" marR="91425" marT="91425" marB="91425"/>
                </a:tc>
                <a:extLst>
                  <a:ext uri="{0D108BD9-81ED-4DB2-BD59-A6C34878D82A}">
                    <a16:rowId xmlns:a16="http://schemas.microsoft.com/office/drawing/2014/main" val="10002"/>
                  </a:ext>
                </a:extLst>
              </a:tr>
              <a:tr h="380150">
                <a:tc>
                  <a:txBody>
                    <a:bodyPr/>
                    <a:lstStyle/>
                    <a:p>
                      <a:pPr marL="0" lvl="0" indent="0" algn="l" rtl="0">
                        <a:spcBef>
                          <a:spcPts val="0"/>
                        </a:spcBef>
                        <a:spcAft>
                          <a:spcPts val="0"/>
                        </a:spcAft>
                        <a:buNone/>
                      </a:pPr>
                      <a:r>
                        <a:rPr lang="en-GB" sz="700"/>
                        <a:t>SmolVLM-Instruct (no adapter)</a:t>
                      </a:r>
                      <a:endParaRPr sz="700"/>
                    </a:p>
                  </a:txBody>
                  <a:tcPr marL="91425" marR="91425" marT="91425" marB="91425"/>
                </a:tc>
                <a:tc>
                  <a:txBody>
                    <a:bodyPr/>
                    <a:lstStyle/>
                    <a:p>
                      <a:pPr marL="0" lvl="0" indent="0" algn="l" rtl="0">
                        <a:spcBef>
                          <a:spcPts val="0"/>
                        </a:spcBef>
                        <a:spcAft>
                          <a:spcPts val="0"/>
                        </a:spcAft>
                        <a:buNone/>
                      </a:pPr>
                      <a:r>
                        <a:rPr lang="en-GB" sz="700"/>
                        <a:t>Extremely fast inference times (often under 10 seconds).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Often misread the TDR plots as “tables” with constant or linearly rising voltage/current.</a:t>
                      </a:r>
                      <a:endParaRPr sz="700"/>
                    </a:p>
                  </a:txBody>
                  <a:tcPr marL="91425" marR="91425" marT="91425" marB="91425"/>
                </a:tc>
                <a:extLst>
                  <a:ext uri="{0D108BD9-81ED-4DB2-BD59-A6C34878D82A}">
                    <a16:rowId xmlns:a16="http://schemas.microsoft.com/office/drawing/2014/main" val="10003"/>
                  </a:ext>
                </a:extLst>
              </a:tr>
              <a:tr h="380150">
                <a:tc>
                  <a:txBody>
                    <a:bodyPr/>
                    <a:lstStyle/>
                    <a:p>
                      <a:pPr marL="0" lvl="0" indent="0" algn="l" rtl="0">
                        <a:spcBef>
                          <a:spcPts val="0"/>
                        </a:spcBef>
                        <a:spcAft>
                          <a:spcPts val="0"/>
                        </a:spcAft>
                        <a:buNone/>
                      </a:pPr>
                      <a:r>
                        <a:rPr lang="en-GB" sz="700"/>
                        <a:t>SmolVLM-Instruct (adapter)</a:t>
                      </a:r>
                      <a:endParaRPr sz="700"/>
                    </a:p>
                  </a:txBody>
                  <a:tcPr marL="91425" marR="91425" marT="91425" marB="91425"/>
                </a:tc>
                <a:tc>
                  <a:txBody>
                    <a:bodyPr/>
                    <a:lstStyle/>
                    <a:p>
                      <a:pPr marL="0" lvl="0" indent="0" algn="l" rtl="0">
                        <a:spcBef>
                          <a:spcPts val="0"/>
                        </a:spcBef>
                        <a:spcAft>
                          <a:spcPts val="0"/>
                        </a:spcAft>
                        <a:buNone/>
                      </a:pPr>
                      <a:r>
                        <a:rPr lang="en-GB" sz="700"/>
                        <a:t>Recognizes top/middle/bottom as voltage/current/impedance, references transients.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Numeric details are usually **off** (e.g., “2 A,” “200 mV,” or time scales from 0–2 ns).</a:t>
                      </a:r>
                      <a:endParaRPr sz="700"/>
                    </a:p>
                  </a:txBody>
                  <a:tcPr marL="91425" marR="91425" marT="91425" marB="91425"/>
                </a:tc>
                <a:extLst>
                  <a:ext uri="{0D108BD9-81ED-4DB2-BD59-A6C34878D82A}">
                    <a16:rowId xmlns:a16="http://schemas.microsoft.com/office/drawing/2014/main" val="10004"/>
                  </a:ext>
                </a:extLst>
              </a:tr>
              <a:tr h="380150">
                <a:tc>
                  <a:txBody>
                    <a:bodyPr/>
                    <a:lstStyle/>
                    <a:p>
                      <a:pPr marL="0" lvl="0" indent="0" algn="l" rtl="0">
                        <a:spcBef>
                          <a:spcPts val="0"/>
                        </a:spcBef>
                        <a:spcAft>
                          <a:spcPts val="0"/>
                        </a:spcAft>
                        <a:buNone/>
                      </a:pPr>
                      <a:r>
                        <a:rPr lang="en-GB" sz="700"/>
                        <a:t>SmolVLM-500M (no adapter)</a:t>
                      </a:r>
                      <a:endParaRPr sz="700"/>
                    </a:p>
                  </a:txBody>
                  <a:tcPr marL="91425" marR="91425" marT="91425" marB="91425"/>
                </a:tc>
                <a:tc>
                  <a:txBody>
                    <a:bodyPr/>
                    <a:lstStyle/>
                    <a:p>
                      <a:pPr marL="0" lvl="0" indent="0" algn="l" rtl="0">
                        <a:spcBef>
                          <a:spcPts val="0"/>
                        </a:spcBef>
                        <a:spcAft>
                          <a:spcPts val="0"/>
                        </a:spcAft>
                        <a:buNone/>
                      </a:pPr>
                      <a:r>
                        <a:rPr lang="en-GB" sz="700"/>
                        <a:t>Extremely fast inference times (often under 10 seconds).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Tends to meltdown about “Impedance (Impedance (Impedance…”), producing gibberish or irrelevant text.</a:t>
                      </a:r>
                      <a:endParaRPr sz="700"/>
                    </a:p>
                  </a:txBody>
                  <a:tcPr marL="91425" marR="91425" marT="91425" marB="91425"/>
                </a:tc>
                <a:extLst>
                  <a:ext uri="{0D108BD9-81ED-4DB2-BD59-A6C34878D82A}">
                    <a16:rowId xmlns:a16="http://schemas.microsoft.com/office/drawing/2014/main" val="10005"/>
                  </a:ext>
                </a:extLst>
              </a:tr>
              <a:tr h="380150">
                <a:tc>
                  <a:txBody>
                    <a:bodyPr/>
                    <a:lstStyle/>
                    <a:p>
                      <a:pPr marL="0" lvl="0" indent="0" algn="l" rtl="0">
                        <a:spcBef>
                          <a:spcPts val="0"/>
                        </a:spcBef>
                        <a:spcAft>
                          <a:spcPts val="0"/>
                        </a:spcAft>
                        <a:buNone/>
                      </a:pPr>
                      <a:r>
                        <a:rPr lang="en-GB" sz="700">
                          <a:solidFill>
                            <a:schemeClr val="dk1"/>
                          </a:solidFill>
                        </a:rPr>
                        <a:t>SmolVLM-500M (adapter)</a:t>
                      </a:r>
                      <a:endParaRPr sz="700"/>
                    </a:p>
                  </a:txBody>
                  <a:tcPr marL="91425" marR="91425" marT="91425" marB="91425"/>
                </a:tc>
                <a:tc>
                  <a:txBody>
                    <a:bodyPr/>
                    <a:lstStyle/>
                    <a:p>
                      <a:pPr marL="0" lvl="0" indent="0" algn="l" rtl="0">
                        <a:spcBef>
                          <a:spcPts val="0"/>
                        </a:spcBef>
                        <a:spcAft>
                          <a:spcPts val="0"/>
                        </a:spcAft>
                        <a:buNone/>
                      </a:pPr>
                      <a:r>
                        <a:rPr lang="en-GB" sz="700"/>
                        <a:t>At least attempts to mention “voltage,” “current,” “impedance.”</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Magnitudes are incorrect, rarely references TDR reflection or mismatch.</a:t>
                      </a:r>
                      <a:endParaRPr sz="700"/>
                    </a:p>
                  </a:txBody>
                  <a:tcPr marL="91425" marR="91425" marT="91425" marB="91425"/>
                </a:tc>
                <a:extLst>
                  <a:ext uri="{0D108BD9-81ED-4DB2-BD59-A6C34878D82A}">
                    <a16:rowId xmlns:a16="http://schemas.microsoft.com/office/drawing/2014/main" val="10006"/>
                  </a:ext>
                </a:extLst>
              </a:tr>
              <a:tr h="380150">
                <a:tc>
                  <a:txBody>
                    <a:bodyPr/>
                    <a:lstStyle/>
                    <a:p>
                      <a:pPr marL="0" lvl="0" indent="0" algn="l" rtl="0">
                        <a:spcBef>
                          <a:spcPts val="0"/>
                        </a:spcBef>
                        <a:spcAft>
                          <a:spcPts val="0"/>
                        </a:spcAft>
                        <a:buNone/>
                      </a:pPr>
                      <a:r>
                        <a:rPr lang="en-GB" sz="700"/>
                        <a:t>Qwen2.5-VL (no adapter)</a:t>
                      </a:r>
                      <a:endParaRPr sz="700"/>
                    </a:p>
                  </a:txBody>
                  <a:tcPr marL="91425" marR="91425" marT="91425" marB="91425"/>
                </a:tc>
                <a:tc>
                  <a:txBody>
                    <a:bodyPr/>
                    <a:lstStyle/>
                    <a:p>
                      <a:pPr marL="0" lvl="0" indent="0" algn="l" rtl="0">
                        <a:spcBef>
                          <a:spcPts val="0"/>
                        </a:spcBef>
                        <a:spcAft>
                          <a:spcPts val="0"/>
                        </a:spcAft>
                        <a:buNone/>
                      </a:pPr>
                      <a:r>
                        <a:rPr lang="en-GB" sz="700"/>
                        <a:t>Identifies “voltage/current/impedance,” notes “transient” or “step changes.”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Uses **seconds** instead of nanoseconds, numeric scales off (e.g., 30 mV → 60 Ω, etc.).</a:t>
                      </a:r>
                      <a:endParaRPr sz="700"/>
                    </a:p>
                  </a:txBody>
                  <a:tcPr marL="91425" marR="91425" marT="91425" marB="91425"/>
                </a:tc>
                <a:extLst>
                  <a:ext uri="{0D108BD9-81ED-4DB2-BD59-A6C34878D82A}">
                    <a16:rowId xmlns:a16="http://schemas.microsoft.com/office/drawing/2014/main" val="10007"/>
                  </a:ext>
                </a:extLst>
              </a:tr>
              <a:tr h="380150">
                <a:tc>
                  <a:txBody>
                    <a:bodyPr/>
                    <a:lstStyle/>
                    <a:p>
                      <a:pPr marL="0" lvl="0" indent="0" algn="l" rtl="0">
                        <a:spcBef>
                          <a:spcPts val="0"/>
                        </a:spcBef>
                        <a:spcAft>
                          <a:spcPts val="0"/>
                        </a:spcAft>
                        <a:buNone/>
                      </a:pPr>
                      <a:r>
                        <a:rPr lang="en-GB" sz="700">
                          <a:solidFill>
                            <a:schemeClr val="dk1"/>
                          </a:solidFill>
                        </a:rPr>
                        <a:t>Qwen2.5-VL (adapter)</a:t>
                      </a:r>
                      <a:endParaRPr sz="700"/>
                    </a:p>
                  </a:txBody>
                  <a:tcPr marL="91425" marR="91425" marT="91425" marB="91425"/>
                </a:tc>
                <a:tc>
                  <a:txBody>
                    <a:bodyPr/>
                    <a:lstStyle/>
                    <a:p>
                      <a:pPr marL="0" lvl="0" indent="0" algn="l" rtl="0">
                        <a:spcBef>
                          <a:spcPts val="0"/>
                        </a:spcBef>
                        <a:spcAft>
                          <a:spcPts val="0"/>
                        </a:spcAft>
                        <a:buNone/>
                      </a:pPr>
                      <a:r>
                        <a:rPr lang="en-GB" sz="700"/>
                        <a:t>Distinguishes top/middle/bottom waveforms, mentions transients, new steady states.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Still uses second-scale timing and off numeric details.</a:t>
                      </a:r>
                      <a:endParaRPr sz="700"/>
                    </a:p>
                  </a:txBody>
                  <a:tcPr marL="91425" marR="91425" marT="91425" marB="91425"/>
                </a:tc>
                <a:extLst>
                  <a:ext uri="{0D108BD9-81ED-4DB2-BD59-A6C34878D82A}">
                    <a16:rowId xmlns:a16="http://schemas.microsoft.com/office/drawing/2014/main" val="10008"/>
                  </a:ext>
                </a:extLst>
              </a:tr>
              <a:tr h="380150">
                <a:tc>
                  <a:txBody>
                    <a:bodyPr/>
                    <a:lstStyle/>
                    <a:p>
                      <a:pPr marL="0" lvl="0" indent="0" algn="l" rtl="0">
                        <a:spcBef>
                          <a:spcPts val="0"/>
                        </a:spcBef>
                        <a:spcAft>
                          <a:spcPts val="0"/>
                        </a:spcAft>
                        <a:buNone/>
                      </a:pPr>
                      <a:r>
                        <a:rPr lang="en-GB" sz="700"/>
                        <a:t>Granite-Vision-3.2 (no adapter)</a:t>
                      </a:r>
                      <a:endParaRPr sz="700"/>
                    </a:p>
                  </a:txBody>
                  <a:tcPr marL="91425" marR="91425" marT="91425" marB="91425"/>
                </a:tc>
                <a:tc>
                  <a:txBody>
                    <a:bodyPr/>
                    <a:lstStyle/>
                    <a:p>
                      <a:pPr marL="0" lvl="0" indent="0" algn="l" rtl="0">
                        <a:spcBef>
                          <a:spcPts val="0"/>
                        </a:spcBef>
                        <a:spcAft>
                          <a:spcPts val="0"/>
                        </a:spcAft>
                        <a:buNone/>
                      </a:pPr>
                      <a:r>
                        <a:rPr lang="en-GB" sz="700"/>
                        <a:t>Usually identifies voltage/current/impedance waveforms.</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Often claims “constant voltage/current” or describes it as a PSU test with stable lines, ignoring TDR steps.</a:t>
                      </a:r>
                      <a:endParaRPr sz="700"/>
                    </a:p>
                  </a:txBody>
                  <a:tcPr marL="91425" marR="91425" marT="91425" marB="91425"/>
                </a:tc>
                <a:extLst>
                  <a:ext uri="{0D108BD9-81ED-4DB2-BD59-A6C34878D82A}">
                    <a16:rowId xmlns:a16="http://schemas.microsoft.com/office/drawing/2014/main" val="10009"/>
                  </a:ext>
                </a:extLst>
              </a:tr>
              <a:tr h="482525">
                <a:tc>
                  <a:txBody>
                    <a:bodyPr/>
                    <a:lstStyle/>
                    <a:p>
                      <a:pPr marL="0" lvl="0" indent="0" algn="l" rtl="0">
                        <a:spcBef>
                          <a:spcPts val="0"/>
                        </a:spcBef>
                        <a:spcAft>
                          <a:spcPts val="0"/>
                        </a:spcAft>
                        <a:buNone/>
                      </a:pPr>
                      <a:r>
                        <a:rPr lang="en-GB" sz="700"/>
                        <a:t>Granite-Vision-3.2 (adapter)</a:t>
                      </a:r>
                      <a:endParaRPr sz="700"/>
                    </a:p>
                  </a:txBody>
                  <a:tcPr marL="91425" marR="91425" marT="91425" marB="91425"/>
                </a:tc>
                <a:tc>
                  <a:txBody>
                    <a:bodyPr/>
                    <a:lstStyle/>
                    <a:p>
                      <a:pPr marL="0" lvl="0" indent="0" algn="l" rtl="0">
                        <a:spcBef>
                          <a:spcPts val="0"/>
                        </a:spcBef>
                        <a:spcAft>
                          <a:spcPts val="0"/>
                        </a:spcAft>
                        <a:buNone/>
                      </a:pPr>
                      <a:r>
                        <a:rPr lang="en-GB" sz="700"/>
                        <a:t>Mentions rapid rise times, mismatch around 2–2.5 ns, new stable states, voltage/current/impedance stepping.</a:t>
                      </a:r>
                      <a:endParaRPr sz="700"/>
                    </a:p>
                  </a:txBody>
                  <a:tcPr marL="91425" marR="91425" marT="91425" marB="91425"/>
                </a:tc>
                <a:tc>
                  <a:txBody>
                    <a:bodyPr/>
                    <a:lstStyle/>
                    <a:p>
                      <a:pPr marL="0" lvl="0" indent="0" algn="l" rtl="0">
                        <a:lnSpc>
                          <a:spcPct val="90000"/>
                        </a:lnSpc>
                        <a:spcBef>
                          <a:spcPts val="0"/>
                        </a:spcBef>
                        <a:spcAft>
                          <a:spcPts val="0"/>
                        </a:spcAft>
                        <a:buNone/>
                      </a:pPr>
                      <a:r>
                        <a:rPr lang="en-GB" sz="700"/>
                        <a:t> Numeric magnitudes (e.g., “300 mV → 400 mV,” “4.5 mA → 3 mA,” “50 Ω → 100 Ω → 200 Ω”) do not match actual scale but do reflect the **shape** of TDR transitions.</a:t>
                      </a:r>
                      <a:endParaRPr sz="700"/>
                    </a:p>
                  </a:txBody>
                  <a:tcPr marL="91425" marR="91425" marT="91425" marB="91425"/>
                </a:tc>
                <a:extLst>
                  <a:ext uri="{0D108BD9-81ED-4DB2-BD59-A6C34878D82A}">
                    <a16:rowId xmlns:a16="http://schemas.microsoft.com/office/drawing/2014/main" val="1001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2"/>
          <p:cNvSpPr txBox="1">
            <a:spLocks noGrp="1"/>
          </p:cNvSpPr>
          <p:nvPr>
            <p:ph type="title"/>
          </p:nvPr>
        </p:nvSpPr>
        <p:spPr>
          <a:xfrm>
            <a:off x="332510" y="240506"/>
            <a:ext cx="5782500" cy="5400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SzPts val="990"/>
              <a:buNone/>
            </a:pPr>
            <a:r>
              <a:rPr lang="en-GB" sz="2370"/>
              <a:t>VLM Selection and Future Improvements</a:t>
            </a:r>
            <a:endParaRPr sz="2370"/>
          </a:p>
        </p:txBody>
      </p:sp>
      <p:sp>
        <p:nvSpPr>
          <p:cNvPr id="324" name="Google Shape;324;p52"/>
          <p:cNvSpPr txBox="1">
            <a:spLocks noGrp="1"/>
          </p:cNvSpPr>
          <p:nvPr>
            <p:ph type="body" idx="1"/>
          </p:nvPr>
        </p:nvSpPr>
        <p:spPr>
          <a:xfrm>
            <a:off x="332500" y="946201"/>
            <a:ext cx="8478900" cy="3686400"/>
          </a:xfrm>
          <a:prstGeom prst="rect">
            <a:avLst/>
          </a:prstGeom>
        </p:spPr>
        <p:txBody>
          <a:bodyPr spcFirstLastPara="1" wrap="square" lIns="68575" tIns="34275" rIns="68575" bIns="34275" anchor="t" anchorCtr="0">
            <a:normAutofit/>
          </a:bodyPr>
          <a:lstStyle/>
          <a:p>
            <a:pPr marL="0" lvl="0" indent="0" algn="l" rtl="0">
              <a:lnSpc>
                <a:spcPct val="115000"/>
              </a:lnSpc>
              <a:spcBef>
                <a:spcPts val="800"/>
              </a:spcBef>
              <a:spcAft>
                <a:spcPts val="0"/>
              </a:spcAft>
              <a:buNone/>
            </a:pPr>
            <a:r>
              <a:rPr lang="en-GB" sz="1000"/>
              <a:t>The Granite-Vision-3.2 model (fine-tuned) performs the best among all the models compared.</a:t>
            </a:r>
            <a:endParaRPr sz="1000"/>
          </a:p>
          <a:p>
            <a:pPr marL="0" lvl="0" indent="0" algn="l" rtl="0">
              <a:lnSpc>
                <a:spcPct val="115000"/>
              </a:lnSpc>
              <a:spcBef>
                <a:spcPts val="800"/>
              </a:spcBef>
              <a:spcAft>
                <a:spcPts val="0"/>
              </a:spcAft>
              <a:buNone/>
            </a:pPr>
            <a:r>
              <a:rPr lang="en-GB" sz="1000"/>
              <a:t>The possible reasons are,</a:t>
            </a:r>
            <a:endParaRPr sz="1000"/>
          </a:p>
          <a:p>
            <a:pPr marL="457200" lvl="0" indent="-292100" algn="l" rtl="0">
              <a:lnSpc>
                <a:spcPct val="115000"/>
              </a:lnSpc>
              <a:spcBef>
                <a:spcPts val="800"/>
              </a:spcBef>
              <a:spcAft>
                <a:spcPts val="0"/>
              </a:spcAft>
              <a:buSzPts val="1000"/>
              <a:buChar char="•"/>
            </a:pPr>
            <a:r>
              <a:rPr lang="en-GB" sz="1000"/>
              <a:t>It was pre-trained on charts, infographics, plots, etc., enabling it perform better in interpreting graphs and waveforms.</a:t>
            </a:r>
            <a:endParaRPr sz="1000"/>
          </a:p>
          <a:p>
            <a:pPr marL="457200" lvl="0" indent="-292100" algn="l" rtl="0">
              <a:lnSpc>
                <a:spcPct val="115000"/>
              </a:lnSpc>
              <a:spcBef>
                <a:spcPts val="0"/>
              </a:spcBef>
              <a:spcAft>
                <a:spcPts val="0"/>
              </a:spcAft>
              <a:buSzPts val="1000"/>
              <a:buChar char="•"/>
            </a:pPr>
            <a:r>
              <a:rPr lang="en-GB" sz="1000"/>
              <a:t>Unlike other models (such as LlaVA-1.6) whose loss drops rapidly and plateau (indicating possible overfitting), Granite-Vision’s loss reduces gradually indicating better generalization.</a:t>
            </a:r>
            <a:endParaRPr sz="1000"/>
          </a:p>
          <a:p>
            <a:pPr marL="0" lvl="0" indent="0" algn="l" rtl="0">
              <a:spcBef>
                <a:spcPts val="800"/>
              </a:spcBef>
              <a:spcAft>
                <a:spcPts val="0"/>
              </a:spcAft>
              <a:buNone/>
            </a:pPr>
            <a:endParaRPr sz="1000"/>
          </a:p>
          <a:p>
            <a:pPr marL="0" lvl="0" indent="0" algn="l" rtl="0">
              <a:spcBef>
                <a:spcPts val="800"/>
              </a:spcBef>
              <a:spcAft>
                <a:spcPts val="0"/>
              </a:spcAft>
              <a:buNone/>
            </a:pPr>
            <a:r>
              <a:rPr lang="en-GB" sz="1400" b="1">
                <a:solidFill>
                  <a:schemeClr val="accent1"/>
                </a:solidFill>
              </a:rPr>
              <a:t>Future Scope and Improvements:</a:t>
            </a:r>
            <a:endParaRPr sz="1400" b="1">
              <a:solidFill>
                <a:schemeClr val="accent1"/>
              </a:solidFill>
            </a:endParaRPr>
          </a:p>
          <a:p>
            <a:pPr marL="457200" lvl="0" indent="-292100" algn="l" rtl="0">
              <a:lnSpc>
                <a:spcPct val="150000"/>
              </a:lnSpc>
              <a:spcBef>
                <a:spcPts val="800"/>
              </a:spcBef>
              <a:spcAft>
                <a:spcPts val="0"/>
              </a:spcAft>
              <a:buSzPts val="1000"/>
              <a:buChar char="•"/>
            </a:pPr>
            <a:r>
              <a:rPr lang="en-GB" sz="1000"/>
              <a:t>Adding more topologies into dataset, since our dataset only consisted of P2P topology circuits.</a:t>
            </a:r>
            <a:endParaRPr sz="1000"/>
          </a:p>
          <a:p>
            <a:pPr marL="457200" lvl="0" indent="-292100" algn="l" rtl="0">
              <a:lnSpc>
                <a:spcPct val="150000"/>
              </a:lnSpc>
              <a:spcBef>
                <a:spcPts val="0"/>
              </a:spcBef>
              <a:spcAft>
                <a:spcPts val="0"/>
              </a:spcAft>
              <a:buSzPts val="1000"/>
              <a:buChar char="•"/>
            </a:pPr>
            <a:r>
              <a:rPr lang="en-GB" sz="1000"/>
              <a:t>We could improve the performance by further fine-tuning the hyperparameters during training.</a:t>
            </a:r>
            <a:endParaRPr sz="1000"/>
          </a:p>
          <a:p>
            <a:pPr marL="457200" lvl="0" indent="-292100" algn="l" rtl="0">
              <a:lnSpc>
                <a:spcPct val="115000"/>
              </a:lnSpc>
              <a:spcBef>
                <a:spcPts val="0"/>
              </a:spcBef>
              <a:spcAft>
                <a:spcPts val="0"/>
              </a:spcAft>
              <a:buSzPts val="1000"/>
              <a:buChar char="•"/>
            </a:pPr>
            <a:r>
              <a:rPr lang="en-GB" sz="1000"/>
              <a:t>WIth the rapidly evolving landscape of LLMs and VLMs, newer and better models with different architectures could outperform the Granite-Vision models.</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3"/>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fontScale="90000"/>
          </a:bodyPr>
          <a:lstStyle/>
          <a:p>
            <a:pPr marL="0" lvl="0" indent="0" algn="l" rtl="0">
              <a:lnSpc>
                <a:spcPct val="90000"/>
              </a:lnSpc>
              <a:spcBef>
                <a:spcPts val="0"/>
              </a:spcBef>
              <a:spcAft>
                <a:spcPts val="0"/>
              </a:spcAft>
              <a:buClr>
                <a:srgbClr val="84B819"/>
              </a:buClr>
              <a:buSzPct val="100000"/>
              <a:buFont typeface="Arial"/>
              <a:buNone/>
            </a:pPr>
            <a:r>
              <a:rPr lang="en-GB"/>
              <a:t>File and Web RAG Architecture</a:t>
            </a:r>
            <a:endParaRPr/>
          </a:p>
        </p:txBody>
      </p:sp>
      <p:sp>
        <p:nvSpPr>
          <p:cNvPr id="330" name="Google Shape;330;p53"/>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331" name="Google Shape;331;p53"/>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24</a:t>
            </a:fld>
            <a:endParaRPr/>
          </a:p>
        </p:txBody>
      </p:sp>
      <p:sp>
        <p:nvSpPr>
          <p:cNvPr id="332" name="Google Shape;332;p53"/>
          <p:cNvSpPr/>
          <p:nvPr/>
        </p:nvSpPr>
        <p:spPr>
          <a:xfrm>
            <a:off x="1040800" y="2086554"/>
            <a:ext cx="1529100" cy="594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Web Search (RAG)</a:t>
            </a:r>
            <a:endParaRPr/>
          </a:p>
        </p:txBody>
      </p:sp>
      <p:sp>
        <p:nvSpPr>
          <p:cNvPr id="333" name="Google Shape;333;p53"/>
          <p:cNvSpPr/>
          <p:nvPr/>
        </p:nvSpPr>
        <p:spPr>
          <a:xfrm>
            <a:off x="6574101" y="2086554"/>
            <a:ext cx="1529100" cy="594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Multiple File Upload (RAG)</a:t>
            </a:r>
            <a:endParaRPr/>
          </a:p>
        </p:txBody>
      </p:sp>
      <p:sp>
        <p:nvSpPr>
          <p:cNvPr id="334" name="Google Shape;334;p53"/>
          <p:cNvSpPr/>
          <p:nvPr/>
        </p:nvSpPr>
        <p:spPr>
          <a:xfrm>
            <a:off x="3836023" y="895350"/>
            <a:ext cx="1529100" cy="594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t>LLM Agent</a:t>
            </a:r>
            <a:endParaRPr/>
          </a:p>
        </p:txBody>
      </p:sp>
      <p:sp>
        <p:nvSpPr>
          <p:cNvPr id="335" name="Google Shape;335;p53"/>
          <p:cNvSpPr/>
          <p:nvPr/>
        </p:nvSpPr>
        <p:spPr>
          <a:xfrm>
            <a:off x="1040800" y="2903320"/>
            <a:ext cx="1529100" cy="123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269999" lvl="0" indent="-304800" algn="l" rtl="0">
              <a:spcBef>
                <a:spcPts val="0"/>
              </a:spcBef>
              <a:spcAft>
                <a:spcPts val="0"/>
              </a:spcAft>
              <a:buClr>
                <a:schemeClr val="dk1"/>
              </a:buClr>
              <a:buSzPts val="1200"/>
              <a:buChar char="●"/>
            </a:pPr>
            <a:r>
              <a:rPr lang="en-GB" sz="1200">
                <a:solidFill>
                  <a:schemeClr val="dk1"/>
                </a:solidFill>
              </a:rPr>
              <a:t>Google (API)</a:t>
            </a:r>
            <a:endParaRPr sz="1200">
              <a:solidFill>
                <a:schemeClr val="dk1"/>
              </a:solidFill>
            </a:endParaRPr>
          </a:p>
          <a:p>
            <a:pPr marL="269999" lvl="0" indent="-304800" algn="l" rtl="0">
              <a:spcBef>
                <a:spcPts val="0"/>
              </a:spcBef>
              <a:spcAft>
                <a:spcPts val="0"/>
              </a:spcAft>
              <a:buClr>
                <a:schemeClr val="dk1"/>
              </a:buClr>
              <a:buSzPts val="1200"/>
              <a:buChar char="●"/>
            </a:pPr>
            <a:r>
              <a:rPr lang="en-GB" sz="1200">
                <a:solidFill>
                  <a:schemeClr val="dk1"/>
                </a:solidFill>
              </a:rPr>
              <a:t>DuckDuckGo</a:t>
            </a:r>
            <a:endParaRPr sz="1200">
              <a:solidFill>
                <a:schemeClr val="dk1"/>
              </a:solidFill>
            </a:endParaRPr>
          </a:p>
          <a:p>
            <a:pPr marL="269999" lvl="0" indent="-304800" algn="l" rtl="0">
              <a:spcBef>
                <a:spcPts val="0"/>
              </a:spcBef>
              <a:spcAft>
                <a:spcPts val="0"/>
              </a:spcAft>
              <a:buClr>
                <a:schemeClr val="dk1"/>
              </a:buClr>
              <a:buSzPts val="1200"/>
              <a:buChar char="●"/>
            </a:pPr>
            <a:r>
              <a:rPr lang="en-GB" sz="1200">
                <a:solidFill>
                  <a:schemeClr val="dk1"/>
                </a:solidFill>
              </a:rPr>
              <a:t>Brave</a:t>
            </a:r>
            <a:endParaRPr sz="1200">
              <a:solidFill>
                <a:schemeClr val="dk1"/>
              </a:solidFill>
            </a:endParaRPr>
          </a:p>
          <a:p>
            <a:pPr marL="269999" lvl="0" indent="-304800" algn="l" rtl="0">
              <a:spcBef>
                <a:spcPts val="0"/>
              </a:spcBef>
              <a:spcAft>
                <a:spcPts val="0"/>
              </a:spcAft>
              <a:buClr>
                <a:schemeClr val="dk1"/>
              </a:buClr>
              <a:buSzPts val="1200"/>
              <a:buChar char="●"/>
            </a:pPr>
            <a:r>
              <a:rPr lang="en-GB" sz="1200">
                <a:solidFill>
                  <a:schemeClr val="dk1"/>
                </a:solidFill>
              </a:rPr>
              <a:t>Bing</a:t>
            </a:r>
            <a:endParaRPr sz="1200">
              <a:solidFill>
                <a:schemeClr val="dk1"/>
              </a:solidFill>
            </a:endParaRPr>
          </a:p>
          <a:p>
            <a:pPr marL="269999" lvl="0" indent="-304800" algn="l" rtl="0">
              <a:spcBef>
                <a:spcPts val="0"/>
              </a:spcBef>
              <a:spcAft>
                <a:spcPts val="0"/>
              </a:spcAft>
              <a:buClr>
                <a:schemeClr val="dk1"/>
              </a:buClr>
              <a:buSzPts val="1200"/>
              <a:buChar char="●"/>
            </a:pPr>
            <a:r>
              <a:rPr lang="en-GB" sz="1200">
                <a:solidFill>
                  <a:schemeClr val="dk1"/>
                </a:solidFill>
              </a:rPr>
              <a:t>Yahoo</a:t>
            </a:r>
            <a:endParaRPr sz="1200">
              <a:solidFill>
                <a:schemeClr val="dk1"/>
              </a:solidFill>
            </a:endParaRPr>
          </a:p>
          <a:p>
            <a:pPr marL="269999" lvl="0" indent="-304800" algn="l" rtl="0">
              <a:spcBef>
                <a:spcPts val="0"/>
              </a:spcBef>
              <a:spcAft>
                <a:spcPts val="0"/>
              </a:spcAft>
              <a:buClr>
                <a:schemeClr val="dk1"/>
              </a:buClr>
              <a:buSzPts val="1200"/>
              <a:buChar char="●"/>
            </a:pPr>
            <a:r>
              <a:rPr lang="en-GB" sz="1200">
                <a:solidFill>
                  <a:schemeClr val="dk1"/>
                </a:solidFill>
              </a:rPr>
              <a:t>StartPage</a:t>
            </a:r>
            <a:endParaRPr sz="1200">
              <a:solidFill>
                <a:schemeClr val="dk1"/>
              </a:solidFill>
            </a:endParaRPr>
          </a:p>
        </p:txBody>
      </p:sp>
      <p:sp>
        <p:nvSpPr>
          <p:cNvPr id="336" name="Google Shape;336;p53"/>
          <p:cNvSpPr/>
          <p:nvPr/>
        </p:nvSpPr>
        <p:spPr>
          <a:xfrm>
            <a:off x="6574101" y="2989935"/>
            <a:ext cx="1529100" cy="123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PDF</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CSV</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DOCX</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XLSX</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PPTX</a:t>
            </a:r>
            <a:endParaRPr/>
          </a:p>
        </p:txBody>
      </p:sp>
      <p:sp>
        <p:nvSpPr>
          <p:cNvPr id="337" name="Google Shape;337;p53"/>
          <p:cNvSpPr/>
          <p:nvPr/>
        </p:nvSpPr>
        <p:spPr>
          <a:xfrm>
            <a:off x="3712520" y="3909012"/>
            <a:ext cx="1776300" cy="123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mistral:7b</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deepseek-r1:1.5b</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deepseek-r1:7b</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deepseek-r1:14b</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qwen2.5:7b</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gemma2:latest</a:t>
            </a:r>
            <a:endParaRPr sz="1200">
              <a:solidFill>
                <a:schemeClr val="dk1"/>
              </a:solidFill>
              <a:latin typeface="Calibri"/>
              <a:ea typeface="Calibri"/>
              <a:cs typeface="Calibri"/>
              <a:sym typeface="Calibri"/>
            </a:endParaRPr>
          </a:p>
          <a:p>
            <a:pPr marL="269999" lvl="0" indent="-304800" algn="l" rtl="0">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llama3.1:latest</a:t>
            </a:r>
            <a:endParaRPr sz="1200">
              <a:solidFill>
                <a:schemeClr val="dk1"/>
              </a:solidFill>
              <a:latin typeface="Calibri"/>
              <a:ea typeface="Calibri"/>
              <a:cs typeface="Calibri"/>
              <a:sym typeface="Calibri"/>
            </a:endParaRPr>
          </a:p>
        </p:txBody>
      </p:sp>
      <p:pic>
        <p:nvPicPr>
          <p:cNvPr id="338" name="Google Shape;338;p53"/>
          <p:cNvPicPr preferRelativeResize="0"/>
          <p:nvPr/>
        </p:nvPicPr>
        <p:blipFill>
          <a:blip r:embed="rId3">
            <a:alphaModFix/>
          </a:blip>
          <a:stretch>
            <a:fillRect/>
          </a:stretch>
        </p:blipFill>
        <p:spPr>
          <a:xfrm>
            <a:off x="4331550" y="3422991"/>
            <a:ext cx="538160" cy="486022"/>
          </a:xfrm>
          <a:prstGeom prst="rect">
            <a:avLst/>
          </a:prstGeom>
          <a:noFill/>
          <a:ln>
            <a:noFill/>
          </a:ln>
        </p:spPr>
      </p:pic>
      <p:cxnSp>
        <p:nvCxnSpPr>
          <p:cNvPr id="339" name="Google Shape;339;p53"/>
          <p:cNvCxnSpPr>
            <a:stCxn id="336" idx="2"/>
            <a:endCxn id="337" idx="3"/>
          </p:cNvCxnSpPr>
          <p:nvPr/>
        </p:nvCxnSpPr>
        <p:spPr>
          <a:xfrm rot="5400000">
            <a:off x="6262851" y="3450435"/>
            <a:ext cx="301800" cy="1849800"/>
          </a:xfrm>
          <a:prstGeom prst="curvedConnector2">
            <a:avLst/>
          </a:prstGeom>
          <a:noFill/>
          <a:ln w="9525" cap="flat" cmpd="sng">
            <a:solidFill>
              <a:schemeClr val="dk2"/>
            </a:solidFill>
            <a:prstDash val="solid"/>
            <a:round/>
            <a:headEnd type="none" w="med" len="med"/>
            <a:tailEnd type="triangle" w="med" len="med"/>
          </a:ln>
        </p:spPr>
      </p:cxnSp>
      <p:cxnSp>
        <p:nvCxnSpPr>
          <p:cNvPr id="340" name="Google Shape;340;p53"/>
          <p:cNvCxnSpPr>
            <a:stCxn id="335" idx="2"/>
            <a:endCxn id="337" idx="1"/>
          </p:cNvCxnSpPr>
          <p:nvPr/>
        </p:nvCxnSpPr>
        <p:spPr>
          <a:xfrm rot="-5400000" flipH="1">
            <a:off x="2564650" y="3378520"/>
            <a:ext cx="388500" cy="1907100"/>
          </a:xfrm>
          <a:prstGeom prst="curvedConnector2">
            <a:avLst/>
          </a:prstGeom>
          <a:noFill/>
          <a:ln w="9525" cap="flat" cmpd="sng">
            <a:solidFill>
              <a:schemeClr val="dk2"/>
            </a:solidFill>
            <a:prstDash val="solid"/>
            <a:round/>
            <a:headEnd type="none" w="med" len="med"/>
            <a:tailEnd type="triangle" w="med" len="med"/>
          </a:ln>
        </p:spPr>
      </p:cxnSp>
      <p:cxnSp>
        <p:nvCxnSpPr>
          <p:cNvPr id="341" name="Google Shape;341;p53"/>
          <p:cNvCxnSpPr>
            <a:stCxn id="332" idx="2"/>
            <a:endCxn id="335" idx="0"/>
          </p:cNvCxnSpPr>
          <p:nvPr/>
        </p:nvCxnSpPr>
        <p:spPr>
          <a:xfrm>
            <a:off x="1805350" y="2680554"/>
            <a:ext cx="0" cy="222900"/>
          </a:xfrm>
          <a:prstGeom prst="straightConnector1">
            <a:avLst/>
          </a:prstGeom>
          <a:noFill/>
          <a:ln w="9525" cap="flat" cmpd="sng">
            <a:solidFill>
              <a:schemeClr val="dk2"/>
            </a:solidFill>
            <a:prstDash val="solid"/>
            <a:round/>
            <a:headEnd type="none" w="med" len="med"/>
            <a:tailEnd type="triangle" w="med" len="med"/>
          </a:ln>
        </p:spPr>
      </p:cxnSp>
      <p:cxnSp>
        <p:nvCxnSpPr>
          <p:cNvPr id="342" name="Google Shape;342;p53"/>
          <p:cNvCxnSpPr>
            <a:stCxn id="333" idx="2"/>
            <a:endCxn id="336" idx="0"/>
          </p:cNvCxnSpPr>
          <p:nvPr/>
        </p:nvCxnSpPr>
        <p:spPr>
          <a:xfrm>
            <a:off x="7338651" y="2680554"/>
            <a:ext cx="0" cy="309300"/>
          </a:xfrm>
          <a:prstGeom prst="straightConnector1">
            <a:avLst/>
          </a:prstGeom>
          <a:noFill/>
          <a:ln w="9525" cap="flat" cmpd="sng">
            <a:solidFill>
              <a:schemeClr val="dk2"/>
            </a:solidFill>
            <a:prstDash val="solid"/>
            <a:round/>
            <a:headEnd type="none" w="med" len="med"/>
            <a:tailEnd type="triangle" w="med" len="med"/>
          </a:ln>
        </p:spPr>
      </p:cxnSp>
      <p:cxnSp>
        <p:nvCxnSpPr>
          <p:cNvPr id="343" name="Google Shape;343;p53"/>
          <p:cNvCxnSpPr>
            <a:stCxn id="332" idx="0"/>
            <a:endCxn id="334" idx="1"/>
          </p:cNvCxnSpPr>
          <p:nvPr/>
        </p:nvCxnSpPr>
        <p:spPr>
          <a:xfrm rot="-5400000">
            <a:off x="2373550" y="624054"/>
            <a:ext cx="894300" cy="2030700"/>
          </a:xfrm>
          <a:prstGeom prst="curvedConnector2">
            <a:avLst/>
          </a:prstGeom>
          <a:noFill/>
          <a:ln w="9525" cap="flat" cmpd="sng">
            <a:solidFill>
              <a:schemeClr val="dk2"/>
            </a:solidFill>
            <a:prstDash val="solid"/>
            <a:round/>
            <a:headEnd type="none" w="med" len="med"/>
            <a:tailEnd type="triangle" w="med" len="med"/>
          </a:ln>
        </p:spPr>
      </p:cxnSp>
      <p:cxnSp>
        <p:nvCxnSpPr>
          <p:cNvPr id="344" name="Google Shape;344;p53"/>
          <p:cNvCxnSpPr>
            <a:stCxn id="333" idx="0"/>
            <a:endCxn id="334" idx="3"/>
          </p:cNvCxnSpPr>
          <p:nvPr/>
        </p:nvCxnSpPr>
        <p:spPr>
          <a:xfrm rot="5400000" flipH="1">
            <a:off x="5904801" y="652704"/>
            <a:ext cx="894300" cy="1973400"/>
          </a:xfrm>
          <a:prstGeom prst="curvedConnector2">
            <a:avLst/>
          </a:prstGeom>
          <a:noFill/>
          <a:ln w="9525" cap="flat" cmpd="sng">
            <a:solidFill>
              <a:schemeClr val="dk2"/>
            </a:solidFill>
            <a:prstDash val="solid"/>
            <a:round/>
            <a:headEnd type="none" w="med" len="med"/>
            <a:tailEnd type="triangle" w="med" len="med"/>
          </a:ln>
        </p:spPr>
      </p:cxnSp>
      <p:pic>
        <p:nvPicPr>
          <p:cNvPr id="345" name="Google Shape;345;p53"/>
          <p:cNvPicPr preferRelativeResize="0"/>
          <p:nvPr/>
        </p:nvPicPr>
        <p:blipFill>
          <a:blip r:embed="rId4">
            <a:alphaModFix/>
          </a:blip>
          <a:stretch>
            <a:fillRect/>
          </a:stretch>
        </p:blipFill>
        <p:spPr>
          <a:xfrm>
            <a:off x="3884046" y="2127306"/>
            <a:ext cx="1433184" cy="97075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4"/>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Supported File Types</a:t>
            </a:r>
            <a:endParaRPr/>
          </a:p>
        </p:txBody>
      </p:sp>
      <p:sp>
        <p:nvSpPr>
          <p:cNvPr id="351" name="Google Shape;351;p54"/>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352" name="Google Shape;352;p54"/>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25</a:t>
            </a:fld>
            <a:endParaRPr/>
          </a:p>
        </p:txBody>
      </p:sp>
      <p:sp>
        <p:nvSpPr>
          <p:cNvPr id="353" name="Google Shape;353;p54"/>
          <p:cNvSpPr/>
          <p:nvPr/>
        </p:nvSpPr>
        <p:spPr>
          <a:xfrm>
            <a:off x="1770150" y="1080375"/>
            <a:ext cx="2717700" cy="1970400"/>
          </a:xfrm>
          <a:prstGeom prst="roundRect">
            <a:avLst>
              <a:gd name="adj" fmla="val 1375"/>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54" name="Google Shape;354;p54"/>
          <p:cNvSpPr/>
          <p:nvPr/>
        </p:nvSpPr>
        <p:spPr>
          <a:xfrm>
            <a:off x="1938346" y="1260936"/>
            <a:ext cx="2102700" cy="2820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1400"/>
              <a:buFont typeface="DM Sans"/>
              <a:buNone/>
            </a:pPr>
            <a:r>
              <a:rPr lang="en-GB" sz="1400" b="0" i="0" u="none" strike="noStrike" cap="none">
                <a:solidFill>
                  <a:srgbClr val="161613"/>
                </a:solidFill>
                <a:latin typeface="DM Sans"/>
                <a:ea typeface="DM Sans"/>
                <a:cs typeface="DM Sans"/>
                <a:sym typeface="DM Sans"/>
              </a:rPr>
              <a:t>Document Files</a:t>
            </a:r>
            <a:endParaRPr sz="1400" b="0" i="0" u="none" strike="noStrike" cap="none"/>
          </a:p>
        </p:txBody>
      </p:sp>
      <p:sp>
        <p:nvSpPr>
          <p:cNvPr id="355" name="Google Shape;355;p54"/>
          <p:cNvSpPr/>
          <p:nvPr/>
        </p:nvSpPr>
        <p:spPr>
          <a:xfrm>
            <a:off x="1938346" y="1651346"/>
            <a:ext cx="2381400" cy="577800"/>
          </a:xfrm>
          <a:prstGeom prst="rect">
            <a:avLst/>
          </a:prstGeom>
          <a:noFill/>
          <a:ln>
            <a:noFill/>
          </a:ln>
        </p:spPr>
        <p:txBody>
          <a:bodyPr spcFirstLastPara="1" wrap="square" lIns="0" tIns="0" rIns="0" bIns="0" anchor="t" anchorCtr="0">
            <a:noAutofit/>
          </a:bodyPr>
          <a:lstStyle/>
          <a:p>
            <a:pPr marL="215900" marR="0" lvl="0" indent="-222250" algn="l" rtl="0">
              <a:lnSpc>
                <a:spcPct val="150000"/>
              </a:lnSpc>
              <a:spcBef>
                <a:spcPts val="0"/>
              </a:spcBef>
              <a:spcAft>
                <a:spcPts val="0"/>
              </a:spcAft>
              <a:buClr>
                <a:srgbClr val="161613"/>
              </a:buClr>
              <a:buSzPts val="1100"/>
              <a:buFont typeface="Inter"/>
              <a:buChar char="•"/>
            </a:pPr>
            <a:r>
              <a:rPr lang="en-GB" sz="1100" b="0" i="0" u="none" strike="noStrike" cap="none">
                <a:solidFill>
                  <a:srgbClr val="161613"/>
                </a:solidFill>
                <a:latin typeface="Inter"/>
                <a:ea typeface="Inter"/>
                <a:cs typeface="Inter"/>
                <a:sym typeface="Inter"/>
              </a:rPr>
              <a:t>PDF: Extracted using PyMuPDF or pdfplumber</a:t>
            </a:r>
            <a:endParaRPr sz="1100" b="0" i="0" u="none" strike="noStrike" cap="none"/>
          </a:p>
        </p:txBody>
      </p:sp>
      <p:sp>
        <p:nvSpPr>
          <p:cNvPr id="356" name="Google Shape;356;p54"/>
          <p:cNvSpPr/>
          <p:nvPr/>
        </p:nvSpPr>
        <p:spPr>
          <a:xfrm>
            <a:off x="1938346" y="2292265"/>
            <a:ext cx="2381400" cy="577800"/>
          </a:xfrm>
          <a:prstGeom prst="rect">
            <a:avLst/>
          </a:prstGeom>
          <a:noFill/>
          <a:ln>
            <a:noFill/>
          </a:ln>
        </p:spPr>
        <p:txBody>
          <a:bodyPr spcFirstLastPara="1" wrap="square" lIns="0" tIns="0" rIns="0" bIns="0" anchor="t" anchorCtr="0">
            <a:noAutofit/>
          </a:bodyPr>
          <a:lstStyle/>
          <a:p>
            <a:pPr marL="215900" marR="0" lvl="0" indent="-222250" algn="l" rtl="0">
              <a:lnSpc>
                <a:spcPct val="162857"/>
              </a:lnSpc>
              <a:spcBef>
                <a:spcPts val="0"/>
              </a:spcBef>
              <a:spcAft>
                <a:spcPts val="0"/>
              </a:spcAft>
              <a:buClr>
                <a:srgbClr val="161613"/>
              </a:buClr>
              <a:buSzPts val="1100"/>
              <a:buFont typeface="Inter"/>
              <a:buChar char="•"/>
            </a:pPr>
            <a:r>
              <a:rPr lang="en-GB" sz="1100" b="0" i="0" u="none" strike="noStrike" cap="none">
                <a:solidFill>
                  <a:srgbClr val="161613"/>
                </a:solidFill>
                <a:latin typeface="Inter"/>
                <a:ea typeface="Inter"/>
                <a:cs typeface="Inter"/>
                <a:sym typeface="Inter"/>
              </a:rPr>
              <a:t>DOCX: Processed with python-docx</a:t>
            </a:r>
            <a:endParaRPr sz="1100" b="0" i="0" u="none" strike="noStrike" cap="none"/>
          </a:p>
        </p:txBody>
      </p:sp>
      <p:sp>
        <p:nvSpPr>
          <p:cNvPr id="357" name="Google Shape;357;p54"/>
          <p:cNvSpPr/>
          <p:nvPr/>
        </p:nvSpPr>
        <p:spPr>
          <a:xfrm>
            <a:off x="4656058" y="1080375"/>
            <a:ext cx="2717700" cy="1970400"/>
          </a:xfrm>
          <a:prstGeom prst="roundRect">
            <a:avLst>
              <a:gd name="adj" fmla="val 1375"/>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58" name="Google Shape;358;p54"/>
          <p:cNvSpPr/>
          <p:nvPr/>
        </p:nvSpPr>
        <p:spPr>
          <a:xfrm>
            <a:off x="4824254" y="1260936"/>
            <a:ext cx="2102700" cy="2820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1400"/>
              <a:buFont typeface="DM Sans"/>
              <a:buNone/>
            </a:pPr>
            <a:r>
              <a:rPr lang="en-GB" sz="1400" b="0" i="0" u="none" strike="noStrike" cap="none">
                <a:solidFill>
                  <a:srgbClr val="161613"/>
                </a:solidFill>
                <a:latin typeface="DM Sans"/>
                <a:ea typeface="DM Sans"/>
                <a:cs typeface="DM Sans"/>
                <a:sym typeface="DM Sans"/>
              </a:rPr>
              <a:t>Data Files</a:t>
            </a:r>
            <a:endParaRPr sz="1400" b="0" i="0" u="none" strike="noStrike" cap="none"/>
          </a:p>
        </p:txBody>
      </p:sp>
      <p:sp>
        <p:nvSpPr>
          <p:cNvPr id="359" name="Google Shape;359;p54"/>
          <p:cNvSpPr/>
          <p:nvPr/>
        </p:nvSpPr>
        <p:spPr>
          <a:xfrm>
            <a:off x="4824254" y="1651346"/>
            <a:ext cx="2381400" cy="577800"/>
          </a:xfrm>
          <a:prstGeom prst="rect">
            <a:avLst/>
          </a:prstGeom>
          <a:noFill/>
          <a:ln>
            <a:noFill/>
          </a:ln>
        </p:spPr>
        <p:txBody>
          <a:bodyPr spcFirstLastPara="1" wrap="square" lIns="0" tIns="0" rIns="0" bIns="0" anchor="t" anchorCtr="0">
            <a:noAutofit/>
          </a:bodyPr>
          <a:lstStyle/>
          <a:p>
            <a:pPr marL="215900" marR="0" lvl="0" indent="-222250" algn="l" rtl="0">
              <a:lnSpc>
                <a:spcPct val="162857"/>
              </a:lnSpc>
              <a:spcBef>
                <a:spcPts val="0"/>
              </a:spcBef>
              <a:spcAft>
                <a:spcPts val="0"/>
              </a:spcAft>
              <a:buClr>
                <a:srgbClr val="161613"/>
              </a:buClr>
              <a:buSzPts val="1100"/>
              <a:buFont typeface="Inter"/>
              <a:buChar char="•"/>
            </a:pPr>
            <a:r>
              <a:rPr lang="en-GB" sz="1100" b="0" i="0" u="none" strike="noStrike" cap="none">
                <a:solidFill>
                  <a:srgbClr val="161613"/>
                </a:solidFill>
                <a:latin typeface="Inter"/>
                <a:ea typeface="Inter"/>
                <a:cs typeface="Inter"/>
                <a:sym typeface="Inter"/>
              </a:rPr>
              <a:t>CSV: Processed using pandas</a:t>
            </a:r>
            <a:endParaRPr sz="1100" b="0" i="0" u="none" strike="noStrike" cap="none"/>
          </a:p>
        </p:txBody>
      </p:sp>
      <p:sp>
        <p:nvSpPr>
          <p:cNvPr id="360" name="Google Shape;360;p54"/>
          <p:cNvSpPr/>
          <p:nvPr/>
        </p:nvSpPr>
        <p:spPr>
          <a:xfrm>
            <a:off x="4824254" y="2292265"/>
            <a:ext cx="2381400" cy="577800"/>
          </a:xfrm>
          <a:prstGeom prst="rect">
            <a:avLst/>
          </a:prstGeom>
          <a:noFill/>
          <a:ln>
            <a:noFill/>
          </a:ln>
        </p:spPr>
        <p:txBody>
          <a:bodyPr spcFirstLastPara="1" wrap="square" lIns="0" tIns="0" rIns="0" bIns="0" anchor="t" anchorCtr="0">
            <a:noAutofit/>
          </a:bodyPr>
          <a:lstStyle/>
          <a:p>
            <a:pPr marL="215900" marR="0" lvl="0" indent="-222250" algn="l" rtl="0">
              <a:lnSpc>
                <a:spcPct val="162857"/>
              </a:lnSpc>
              <a:spcBef>
                <a:spcPts val="0"/>
              </a:spcBef>
              <a:spcAft>
                <a:spcPts val="0"/>
              </a:spcAft>
              <a:buClr>
                <a:srgbClr val="161613"/>
              </a:buClr>
              <a:buSzPts val="1100"/>
              <a:buFont typeface="Inter"/>
              <a:buChar char="•"/>
            </a:pPr>
            <a:r>
              <a:rPr lang="en-GB" sz="1100" b="0" i="0" u="none" strike="noStrike" cap="none">
                <a:solidFill>
                  <a:srgbClr val="161613"/>
                </a:solidFill>
                <a:latin typeface="Inter"/>
                <a:ea typeface="Inter"/>
                <a:cs typeface="Inter"/>
                <a:sym typeface="Inter"/>
              </a:rPr>
              <a:t>XLSX: Processed using pandas</a:t>
            </a:r>
            <a:endParaRPr sz="1100" b="0" i="0" u="none" strike="noStrike" cap="none"/>
          </a:p>
        </p:txBody>
      </p:sp>
      <p:sp>
        <p:nvSpPr>
          <p:cNvPr id="361" name="Google Shape;361;p54"/>
          <p:cNvSpPr/>
          <p:nvPr/>
        </p:nvSpPr>
        <p:spPr>
          <a:xfrm>
            <a:off x="1770150" y="3231175"/>
            <a:ext cx="2717700" cy="1040700"/>
          </a:xfrm>
          <a:prstGeom prst="roundRect">
            <a:avLst>
              <a:gd name="adj" fmla="val 2603"/>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62" name="Google Shape;362;p54"/>
          <p:cNvSpPr/>
          <p:nvPr/>
        </p:nvSpPr>
        <p:spPr>
          <a:xfrm>
            <a:off x="1938346" y="3411742"/>
            <a:ext cx="2102700" cy="2820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1400"/>
              <a:buFont typeface="DM Sans"/>
              <a:buNone/>
            </a:pPr>
            <a:r>
              <a:rPr lang="en-GB" sz="1400" b="0" i="0" u="none" strike="noStrike" cap="none">
                <a:solidFill>
                  <a:srgbClr val="161613"/>
                </a:solidFill>
                <a:latin typeface="DM Sans"/>
                <a:ea typeface="DM Sans"/>
                <a:cs typeface="DM Sans"/>
                <a:sym typeface="DM Sans"/>
              </a:rPr>
              <a:t>Presentation Files</a:t>
            </a:r>
            <a:endParaRPr sz="1400" b="0" i="0" u="none" strike="noStrike" cap="none"/>
          </a:p>
        </p:txBody>
      </p:sp>
      <p:sp>
        <p:nvSpPr>
          <p:cNvPr id="363" name="Google Shape;363;p54"/>
          <p:cNvSpPr/>
          <p:nvPr/>
        </p:nvSpPr>
        <p:spPr>
          <a:xfrm>
            <a:off x="1938346" y="3802152"/>
            <a:ext cx="5266500" cy="288900"/>
          </a:xfrm>
          <a:prstGeom prst="rect">
            <a:avLst/>
          </a:prstGeom>
          <a:noFill/>
          <a:ln>
            <a:noFill/>
          </a:ln>
        </p:spPr>
        <p:txBody>
          <a:bodyPr spcFirstLastPara="1" wrap="square" lIns="0" tIns="0" rIns="0" bIns="0" anchor="t" anchorCtr="0">
            <a:noAutofit/>
          </a:bodyPr>
          <a:lstStyle/>
          <a:p>
            <a:pPr marL="215900" marR="0" lvl="0" indent="-222250" algn="l" rtl="0">
              <a:lnSpc>
                <a:spcPct val="162857"/>
              </a:lnSpc>
              <a:spcBef>
                <a:spcPts val="0"/>
              </a:spcBef>
              <a:spcAft>
                <a:spcPts val="0"/>
              </a:spcAft>
              <a:buClr>
                <a:srgbClr val="161613"/>
              </a:buClr>
              <a:buSzPts val="1100"/>
              <a:buFont typeface="Inter"/>
              <a:buChar char="•"/>
            </a:pPr>
            <a:r>
              <a:rPr lang="en-GB" sz="1100" b="0" i="0" u="none" strike="noStrike" cap="none">
                <a:solidFill>
                  <a:srgbClr val="161613"/>
                </a:solidFill>
                <a:latin typeface="Inter"/>
                <a:ea typeface="Inter"/>
                <a:cs typeface="Inter"/>
                <a:sym typeface="Inter"/>
              </a:rPr>
              <a:t>PPTX: Handled via python-pptx</a:t>
            </a:r>
            <a:endParaRPr sz="1100" b="0" i="0" u="none" strike="noStrike" cap="none"/>
          </a:p>
        </p:txBody>
      </p:sp>
      <p:pic>
        <p:nvPicPr>
          <p:cNvPr id="364" name="Google Shape;364;p54"/>
          <p:cNvPicPr preferRelativeResize="0"/>
          <p:nvPr/>
        </p:nvPicPr>
        <p:blipFill>
          <a:blip r:embed="rId3">
            <a:alphaModFix/>
          </a:blip>
          <a:stretch>
            <a:fillRect/>
          </a:stretch>
        </p:blipFill>
        <p:spPr>
          <a:xfrm>
            <a:off x="400461" y="1080374"/>
            <a:ext cx="882796" cy="832340"/>
          </a:xfrm>
          <a:prstGeom prst="rect">
            <a:avLst/>
          </a:prstGeom>
          <a:noFill/>
          <a:ln>
            <a:noFill/>
          </a:ln>
        </p:spPr>
      </p:pic>
      <p:pic>
        <p:nvPicPr>
          <p:cNvPr id="365" name="Google Shape;365;p54"/>
          <p:cNvPicPr preferRelativeResize="0"/>
          <p:nvPr/>
        </p:nvPicPr>
        <p:blipFill>
          <a:blip r:embed="rId4">
            <a:alphaModFix amt="50000"/>
          </a:blip>
          <a:stretch>
            <a:fillRect/>
          </a:stretch>
        </p:blipFill>
        <p:spPr>
          <a:xfrm>
            <a:off x="400439" y="3231175"/>
            <a:ext cx="882816" cy="832348"/>
          </a:xfrm>
          <a:prstGeom prst="rect">
            <a:avLst/>
          </a:prstGeom>
          <a:noFill/>
          <a:ln>
            <a:noFill/>
          </a:ln>
        </p:spPr>
      </p:pic>
      <p:pic>
        <p:nvPicPr>
          <p:cNvPr id="366" name="Google Shape;366;p54"/>
          <p:cNvPicPr preferRelativeResize="0"/>
          <p:nvPr/>
        </p:nvPicPr>
        <p:blipFill>
          <a:blip r:embed="rId5">
            <a:alphaModFix amt="50000"/>
          </a:blip>
          <a:stretch>
            <a:fillRect/>
          </a:stretch>
        </p:blipFill>
        <p:spPr>
          <a:xfrm>
            <a:off x="5032401" y="3231176"/>
            <a:ext cx="918027" cy="787649"/>
          </a:xfrm>
          <a:prstGeom prst="rect">
            <a:avLst/>
          </a:prstGeom>
          <a:noFill/>
          <a:ln>
            <a:noFill/>
          </a:ln>
        </p:spPr>
      </p:pic>
      <p:pic>
        <p:nvPicPr>
          <p:cNvPr id="367" name="Google Shape;367;p54"/>
          <p:cNvPicPr preferRelativeResize="0"/>
          <p:nvPr/>
        </p:nvPicPr>
        <p:blipFill>
          <a:blip r:embed="rId6">
            <a:alphaModFix amt="50000"/>
          </a:blip>
          <a:stretch>
            <a:fillRect/>
          </a:stretch>
        </p:blipFill>
        <p:spPr>
          <a:xfrm>
            <a:off x="7482363" y="1080383"/>
            <a:ext cx="970125" cy="914666"/>
          </a:xfrm>
          <a:prstGeom prst="rect">
            <a:avLst/>
          </a:prstGeom>
          <a:noFill/>
          <a:ln>
            <a:noFill/>
          </a:ln>
        </p:spPr>
      </p:pic>
      <p:pic>
        <p:nvPicPr>
          <p:cNvPr id="368" name="Google Shape;368;p54"/>
          <p:cNvPicPr preferRelativeResize="0"/>
          <p:nvPr/>
        </p:nvPicPr>
        <p:blipFill>
          <a:blip r:embed="rId7">
            <a:alphaModFix amt="50000"/>
          </a:blip>
          <a:stretch>
            <a:fillRect/>
          </a:stretch>
        </p:blipFill>
        <p:spPr>
          <a:xfrm>
            <a:off x="7508425" y="3192225"/>
            <a:ext cx="918026" cy="8655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65"/>
                                        </p:tgtEl>
                                      </p:cBhvr>
                                    </p:animEffect>
                                    <p:set>
                                      <p:cBhvr>
                                        <p:cTn id="7" dur="1" fill="hold">
                                          <p:stCondLst>
                                            <p:cond delay="1000"/>
                                          </p:stCondLst>
                                        </p:cTn>
                                        <p:tgtEl>
                                          <p:spTgt spid="36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66"/>
                                        </p:tgtEl>
                                      </p:cBhvr>
                                    </p:animEffect>
                                    <p:set>
                                      <p:cBhvr>
                                        <p:cTn id="10" dur="1" fill="hold">
                                          <p:stCondLst>
                                            <p:cond delay="1000"/>
                                          </p:stCondLst>
                                        </p:cTn>
                                        <p:tgtEl>
                                          <p:spTgt spid="366"/>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68"/>
                                        </p:tgtEl>
                                      </p:cBhvr>
                                    </p:animEffect>
                                    <p:set>
                                      <p:cBhvr>
                                        <p:cTn id="13" dur="1" fill="hold">
                                          <p:stCondLst>
                                            <p:cond delay="1000"/>
                                          </p:stCondLst>
                                        </p:cTn>
                                        <p:tgtEl>
                                          <p:spTgt spid="368"/>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367"/>
                                        </p:tgtEl>
                                      </p:cBhvr>
                                    </p:animEffect>
                                    <p:set>
                                      <p:cBhvr>
                                        <p:cTn id="16" dur="1" fill="hold">
                                          <p:stCondLst>
                                            <p:cond delay="1000"/>
                                          </p:stCondLst>
                                        </p:cTn>
                                        <p:tgtEl>
                                          <p:spTgt spid="3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5"/>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Search Engines</a:t>
            </a:r>
            <a:endParaRPr/>
          </a:p>
        </p:txBody>
      </p:sp>
      <p:sp>
        <p:nvSpPr>
          <p:cNvPr id="374" name="Google Shape;374;p55"/>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375" name="Google Shape;375;p55"/>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26</a:t>
            </a:fld>
            <a:endParaRPr/>
          </a:p>
        </p:txBody>
      </p:sp>
      <p:pic>
        <p:nvPicPr>
          <p:cNvPr id="376" name="Google Shape;376;p55"/>
          <p:cNvPicPr preferRelativeResize="0"/>
          <p:nvPr/>
        </p:nvPicPr>
        <p:blipFill>
          <a:blip r:embed="rId3">
            <a:alphaModFix amt="60000"/>
          </a:blip>
          <a:stretch>
            <a:fillRect/>
          </a:stretch>
        </p:blipFill>
        <p:spPr>
          <a:xfrm>
            <a:off x="2535975" y="4146700"/>
            <a:ext cx="1822226" cy="617300"/>
          </a:xfrm>
          <a:prstGeom prst="rect">
            <a:avLst/>
          </a:prstGeom>
          <a:noFill/>
          <a:ln>
            <a:noFill/>
          </a:ln>
        </p:spPr>
      </p:pic>
      <p:pic>
        <p:nvPicPr>
          <p:cNvPr id="377" name="Google Shape;377;p55"/>
          <p:cNvPicPr preferRelativeResize="0"/>
          <p:nvPr/>
        </p:nvPicPr>
        <p:blipFill>
          <a:blip r:embed="rId4">
            <a:alphaModFix amt="50000"/>
          </a:blip>
          <a:stretch>
            <a:fillRect/>
          </a:stretch>
        </p:blipFill>
        <p:spPr>
          <a:xfrm>
            <a:off x="702588" y="2728775"/>
            <a:ext cx="1317212" cy="1317250"/>
          </a:xfrm>
          <a:prstGeom prst="rect">
            <a:avLst/>
          </a:prstGeom>
          <a:noFill/>
          <a:ln>
            <a:noFill/>
          </a:ln>
        </p:spPr>
      </p:pic>
      <p:pic>
        <p:nvPicPr>
          <p:cNvPr id="378" name="Google Shape;378;p55"/>
          <p:cNvPicPr preferRelativeResize="0"/>
          <p:nvPr/>
        </p:nvPicPr>
        <p:blipFill>
          <a:blip r:embed="rId5">
            <a:alphaModFix/>
          </a:blip>
          <a:stretch>
            <a:fillRect/>
          </a:stretch>
        </p:blipFill>
        <p:spPr>
          <a:xfrm>
            <a:off x="605287" y="1178650"/>
            <a:ext cx="1511814" cy="1193050"/>
          </a:xfrm>
          <a:prstGeom prst="rect">
            <a:avLst/>
          </a:prstGeom>
          <a:noFill/>
          <a:ln>
            <a:noFill/>
          </a:ln>
          <a:effectLst>
            <a:outerShdw blurRad="57150" dist="19050" dir="5400000" algn="bl" rotWithShape="0">
              <a:srgbClr val="000000">
                <a:alpha val="50000"/>
              </a:srgbClr>
            </a:outerShdw>
          </a:effectLst>
        </p:spPr>
      </p:pic>
      <p:pic>
        <p:nvPicPr>
          <p:cNvPr id="379" name="Google Shape;379;p55"/>
          <p:cNvPicPr preferRelativeResize="0"/>
          <p:nvPr/>
        </p:nvPicPr>
        <p:blipFill>
          <a:blip r:embed="rId6">
            <a:alphaModFix amt="60000"/>
          </a:blip>
          <a:stretch>
            <a:fillRect/>
          </a:stretch>
        </p:blipFill>
        <p:spPr>
          <a:xfrm>
            <a:off x="4770600" y="4087104"/>
            <a:ext cx="1822224" cy="736496"/>
          </a:xfrm>
          <a:prstGeom prst="rect">
            <a:avLst/>
          </a:prstGeom>
          <a:noFill/>
          <a:ln>
            <a:noFill/>
          </a:ln>
        </p:spPr>
      </p:pic>
      <p:pic>
        <p:nvPicPr>
          <p:cNvPr id="380" name="Google Shape;380;p55"/>
          <p:cNvPicPr preferRelativeResize="0"/>
          <p:nvPr/>
        </p:nvPicPr>
        <p:blipFill rotWithShape="1">
          <a:blip r:embed="rId7">
            <a:alphaModFix amt="60000"/>
          </a:blip>
          <a:srcRect t="26316" b="18663"/>
          <a:stretch/>
        </p:blipFill>
        <p:spPr>
          <a:xfrm>
            <a:off x="7059350" y="4208675"/>
            <a:ext cx="1793226" cy="493341"/>
          </a:xfrm>
          <a:prstGeom prst="rect">
            <a:avLst/>
          </a:prstGeom>
          <a:noFill/>
          <a:ln>
            <a:noFill/>
          </a:ln>
        </p:spPr>
      </p:pic>
      <p:graphicFrame>
        <p:nvGraphicFramePr>
          <p:cNvPr id="381" name="Google Shape;381;p55"/>
          <p:cNvGraphicFramePr/>
          <p:nvPr/>
        </p:nvGraphicFramePr>
        <p:xfrm>
          <a:off x="2959475" y="1581250"/>
          <a:ext cx="3000000" cy="3000000"/>
        </p:xfrm>
        <a:graphic>
          <a:graphicData uri="http://schemas.openxmlformats.org/drawingml/2006/table">
            <a:tbl>
              <a:tblPr>
                <a:noFill/>
                <a:tableStyleId>{57D76EBA-3A3C-4FC6-9546-A542B5990890}</a:tableStyleId>
              </a:tblPr>
              <a:tblGrid>
                <a:gridCol w="2926025">
                  <a:extLst>
                    <a:ext uri="{9D8B030D-6E8A-4147-A177-3AD203B41FA5}">
                      <a16:colId xmlns:a16="http://schemas.microsoft.com/office/drawing/2014/main" val="20000"/>
                    </a:ext>
                  </a:extLst>
                </a:gridCol>
                <a:gridCol w="29260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a:t>Google</a:t>
                      </a:r>
                      <a:endParaRPr/>
                    </a:p>
                  </a:txBody>
                  <a:tcPr marL="91425" marR="91425" marT="91425" marB="91425"/>
                </a:tc>
                <a:tc>
                  <a:txBody>
                    <a:bodyPr/>
                    <a:lstStyle/>
                    <a:p>
                      <a:pPr marL="0" lvl="0" indent="0" algn="l" rtl="0">
                        <a:spcBef>
                          <a:spcPts val="0"/>
                        </a:spcBef>
                        <a:spcAft>
                          <a:spcPts val="0"/>
                        </a:spcAft>
                        <a:buNone/>
                      </a:pPr>
                      <a:r>
                        <a:rPr lang="en-GB"/>
                        <a:t>100 queries/day</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t>SerpAPI (Google Scraper)</a:t>
                      </a:r>
                      <a:endParaRPr/>
                    </a:p>
                  </a:txBody>
                  <a:tcPr marL="91425" marR="91425" marT="91425" marB="91425"/>
                </a:tc>
                <a:tc>
                  <a:txBody>
                    <a:bodyPr/>
                    <a:lstStyle/>
                    <a:p>
                      <a:pPr marL="0" lvl="0" indent="0" algn="l" rtl="0">
                        <a:spcBef>
                          <a:spcPts val="0"/>
                        </a:spcBef>
                        <a:spcAft>
                          <a:spcPts val="0"/>
                        </a:spcAft>
                        <a:buNone/>
                      </a:pPr>
                      <a:r>
                        <a:rPr lang="en-GB"/>
                        <a:t>100 searches/month</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a:t>Brave Search API</a:t>
                      </a:r>
                      <a:endParaRPr/>
                    </a:p>
                  </a:txBody>
                  <a:tcPr marL="91425" marR="91425" marT="91425" marB="91425"/>
                </a:tc>
                <a:tc>
                  <a:txBody>
                    <a:bodyPr/>
                    <a:lstStyle/>
                    <a:p>
                      <a:pPr marL="0" lvl="0" indent="0" algn="l" rtl="0">
                        <a:spcBef>
                          <a:spcPts val="0"/>
                        </a:spcBef>
                        <a:spcAft>
                          <a:spcPts val="0"/>
                        </a:spcAft>
                        <a:buNone/>
                      </a:pPr>
                      <a:r>
                        <a:rPr lang="en-GB"/>
                        <a:t>2,000 queries/month</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a:t>Whoogle API</a:t>
                      </a:r>
                      <a:endParaRPr/>
                    </a:p>
                  </a:txBody>
                  <a:tcPr marL="91425" marR="91425" marT="91425" marB="91425"/>
                </a:tc>
                <a:tc>
                  <a:txBody>
                    <a:bodyPr/>
                    <a:lstStyle/>
                    <a:p>
                      <a:pPr marL="0" lvl="0" indent="0" algn="l" rtl="0">
                        <a:spcBef>
                          <a:spcPts val="0"/>
                        </a:spcBef>
                        <a:spcAft>
                          <a:spcPts val="0"/>
                        </a:spcAft>
                        <a:buNone/>
                      </a:pPr>
                      <a:r>
                        <a:rPr lang="en-GB"/>
                        <a:t>Requires self-hosting</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a:t>Bing Search API</a:t>
                      </a:r>
                      <a:endParaRPr/>
                    </a:p>
                  </a:txBody>
                  <a:tcPr marL="91425" marR="91425" marT="91425" marB="91425"/>
                </a:tc>
                <a:tc>
                  <a:txBody>
                    <a:bodyPr/>
                    <a:lstStyle/>
                    <a:p>
                      <a:pPr marL="0" lvl="0" indent="0" algn="l" rtl="0">
                        <a:spcBef>
                          <a:spcPts val="0"/>
                        </a:spcBef>
                        <a:spcAft>
                          <a:spcPts val="0"/>
                        </a:spcAft>
                        <a:buNone/>
                      </a:pPr>
                      <a:r>
                        <a:rPr lang="en-GB"/>
                        <a:t>1000 requests/month</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GB"/>
                        <a:t>DuckDuckGo</a:t>
                      </a:r>
                      <a:endParaRPr/>
                    </a:p>
                  </a:txBody>
                  <a:tcPr marL="91425" marR="91425" marT="91425" marB="91425"/>
                </a:tc>
                <a:tc>
                  <a:txBody>
                    <a:bodyPr/>
                    <a:lstStyle/>
                    <a:p>
                      <a:pPr marL="0" lvl="0" indent="0" algn="l" rtl="0">
                        <a:spcBef>
                          <a:spcPts val="0"/>
                        </a:spcBef>
                        <a:spcAft>
                          <a:spcPts val="0"/>
                        </a:spcAft>
                        <a:buNone/>
                      </a:pPr>
                      <a:r>
                        <a:rPr lang="en-GB"/>
                        <a:t>Free</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76"/>
                                        </p:tgtEl>
                                      </p:cBhvr>
                                    </p:animEffect>
                                    <p:set>
                                      <p:cBhvr>
                                        <p:cTn id="7" dur="1" fill="hold">
                                          <p:stCondLst>
                                            <p:cond delay="1000"/>
                                          </p:stCondLst>
                                        </p:cTn>
                                        <p:tgtEl>
                                          <p:spTgt spid="376"/>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77"/>
                                        </p:tgtEl>
                                      </p:cBhvr>
                                    </p:animEffect>
                                    <p:set>
                                      <p:cBhvr>
                                        <p:cTn id="10" dur="1" fill="hold">
                                          <p:stCondLst>
                                            <p:cond delay="1000"/>
                                          </p:stCondLst>
                                        </p:cTn>
                                        <p:tgtEl>
                                          <p:spTgt spid="377"/>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79"/>
                                        </p:tgtEl>
                                      </p:cBhvr>
                                    </p:animEffect>
                                    <p:set>
                                      <p:cBhvr>
                                        <p:cTn id="13" dur="1" fill="hold">
                                          <p:stCondLst>
                                            <p:cond delay="1000"/>
                                          </p:stCondLst>
                                        </p:cTn>
                                        <p:tgtEl>
                                          <p:spTgt spid="37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380"/>
                                        </p:tgtEl>
                                      </p:cBhvr>
                                    </p:animEffect>
                                    <p:set>
                                      <p:cBhvr>
                                        <p:cTn id="16" dur="1" fill="hold">
                                          <p:stCondLst>
                                            <p:cond delay="1000"/>
                                          </p:stCondLst>
                                        </p:cTn>
                                        <p:tgtEl>
                                          <p:spTgt spid="3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6"/>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Web RAG</a:t>
            </a:r>
            <a:endParaRPr/>
          </a:p>
        </p:txBody>
      </p:sp>
      <p:sp>
        <p:nvSpPr>
          <p:cNvPr id="387" name="Google Shape;387;p56"/>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388" name="Google Shape;388;p56"/>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27</a:t>
            </a:fld>
            <a:endParaRPr/>
          </a:p>
        </p:txBody>
      </p:sp>
      <p:sp>
        <p:nvSpPr>
          <p:cNvPr id="389" name="Google Shape;389;p56"/>
          <p:cNvSpPr/>
          <p:nvPr/>
        </p:nvSpPr>
        <p:spPr>
          <a:xfrm>
            <a:off x="222262" y="1021063"/>
            <a:ext cx="1189800" cy="30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t>Search Query</a:t>
            </a:r>
            <a:endParaRPr sz="900"/>
          </a:p>
        </p:txBody>
      </p:sp>
      <p:sp>
        <p:nvSpPr>
          <p:cNvPr id="390" name="Google Shape;390;p56"/>
          <p:cNvSpPr/>
          <p:nvPr/>
        </p:nvSpPr>
        <p:spPr>
          <a:xfrm>
            <a:off x="222246" y="2925863"/>
            <a:ext cx="1189800" cy="30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t>Search Engine</a:t>
            </a:r>
            <a:endParaRPr sz="900"/>
          </a:p>
        </p:txBody>
      </p:sp>
      <p:sp>
        <p:nvSpPr>
          <p:cNvPr id="391" name="Google Shape;391;p56"/>
          <p:cNvSpPr/>
          <p:nvPr/>
        </p:nvSpPr>
        <p:spPr>
          <a:xfrm>
            <a:off x="222225" y="2505361"/>
            <a:ext cx="1189800" cy="30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t>Number of Queries</a:t>
            </a:r>
            <a:endParaRPr sz="900"/>
          </a:p>
        </p:txBody>
      </p:sp>
      <p:sp>
        <p:nvSpPr>
          <p:cNvPr id="392" name="Google Shape;392;p56"/>
          <p:cNvSpPr/>
          <p:nvPr/>
        </p:nvSpPr>
        <p:spPr>
          <a:xfrm>
            <a:off x="6797513" y="833500"/>
            <a:ext cx="2202300" cy="147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Two Methods (Get Links)</a:t>
            </a:r>
            <a:endParaRPr sz="1100" b="1"/>
          </a:p>
          <a:p>
            <a:pPr marL="0" lvl="0" indent="0" algn="ctr" rtl="0">
              <a:spcBef>
                <a:spcPts val="0"/>
              </a:spcBef>
              <a:spcAft>
                <a:spcPts val="0"/>
              </a:spcAft>
              <a:buNone/>
            </a:pPr>
            <a:r>
              <a:rPr lang="en-GB" sz="1000"/>
              <a:t>1. Web Seach API -Google</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GB" sz="1000"/>
              <a:t>2. WebScraping (BeautifulSoup)</a:t>
            </a:r>
            <a:endParaRPr sz="1000"/>
          </a:p>
          <a:p>
            <a:pPr marL="630000" lvl="0" indent="-292100" algn="l" rtl="0">
              <a:spcBef>
                <a:spcPts val="0"/>
              </a:spcBef>
              <a:spcAft>
                <a:spcPts val="0"/>
              </a:spcAft>
              <a:buSzPts val="1000"/>
              <a:buChar char="●"/>
            </a:pPr>
            <a:r>
              <a:rPr lang="en-GB" sz="1000" b="1"/>
              <a:t>duckDuckGo</a:t>
            </a:r>
            <a:endParaRPr sz="1000" b="1"/>
          </a:p>
          <a:p>
            <a:pPr marL="630000" lvl="0" indent="-279400" algn="l" rtl="0">
              <a:spcBef>
                <a:spcPts val="0"/>
              </a:spcBef>
              <a:spcAft>
                <a:spcPts val="0"/>
              </a:spcAft>
              <a:buSzPts val="800"/>
              <a:buChar char="●"/>
            </a:pPr>
            <a:r>
              <a:rPr lang="en-GB" sz="800"/>
              <a:t>Brave</a:t>
            </a:r>
            <a:endParaRPr sz="800"/>
          </a:p>
          <a:p>
            <a:pPr marL="630000" lvl="0" indent="-279400" algn="l" rtl="0">
              <a:spcBef>
                <a:spcPts val="0"/>
              </a:spcBef>
              <a:spcAft>
                <a:spcPts val="0"/>
              </a:spcAft>
              <a:buSzPts val="800"/>
              <a:buChar char="●"/>
            </a:pPr>
            <a:r>
              <a:rPr lang="en-GB" sz="800"/>
              <a:t>Bing</a:t>
            </a:r>
            <a:endParaRPr sz="800"/>
          </a:p>
          <a:p>
            <a:pPr marL="630000" lvl="0" indent="-279400" algn="l" rtl="0">
              <a:spcBef>
                <a:spcPts val="0"/>
              </a:spcBef>
              <a:spcAft>
                <a:spcPts val="0"/>
              </a:spcAft>
              <a:buSzPts val="800"/>
              <a:buChar char="●"/>
            </a:pPr>
            <a:r>
              <a:rPr lang="en-GB" sz="800"/>
              <a:t>Yahoo</a:t>
            </a:r>
            <a:endParaRPr sz="800"/>
          </a:p>
          <a:p>
            <a:pPr marL="630000" lvl="0" indent="-279400" algn="l" rtl="0">
              <a:spcBef>
                <a:spcPts val="0"/>
              </a:spcBef>
              <a:spcAft>
                <a:spcPts val="0"/>
              </a:spcAft>
              <a:buSzPts val="800"/>
              <a:buChar char="●"/>
            </a:pPr>
            <a:r>
              <a:rPr lang="en-GB" sz="800"/>
              <a:t>startPage</a:t>
            </a:r>
            <a:endParaRPr sz="1200"/>
          </a:p>
        </p:txBody>
      </p:sp>
      <p:cxnSp>
        <p:nvCxnSpPr>
          <p:cNvPr id="393" name="Google Shape;393;p56"/>
          <p:cNvCxnSpPr>
            <a:stCxn id="389" idx="3"/>
            <a:endCxn id="392" idx="1"/>
          </p:cNvCxnSpPr>
          <p:nvPr/>
        </p:nvCxnSpPr>
        <p:spPr>
          <a:xfrm>
            <a:off x="1412062" y="1175113"/>
            <a:ext cx="5385600" cy="3945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394" name="Google Shape;394;p56"/>
          <p:cNvCxnSpPr>
            <a:stCxn id="391" idx="3"/>
            <a:endCxn id="392" idx="1"/>
          </p:cNvCxnSpPr>
          <p:nvPr/>
        </p:nvCxnSpPr>
        <p:spPr>
          <a:xfrm rot="10800000" flipH="1">
            <a:off x="1412025" y="1569811"/>
            <a:ext cx="5385600" cy="1089600"/>
          </a:xfrm>
          <a:prstGeom prst="curvedConnector3">
            <a:avLst>
              <a:gd name="adj1" fmla="val 49999"/>
            </a:avLst>
          </a:prstGeom>
          <a:noFill/>
          <a:ln w="9525" cap="flat" cmpd="sng">
            <a:solidFill>
              <a:schemeClr val="dk2"/>
            </a:solidFill>
            <a:prstDash val="solid"/>
            <a:round/>
            <a:headEnd type="none" w="med" len="med"/>
            <a:tailEnd type="triangle" w="med" len="med"/>
          </a:ln>
        </p:spPr>
      </p:cxnSp>
      <p:cxnSp>
        <p:nvCxnSpPr>
          <p:cNvPr id="395" name="Google Shape;395;p56"/>
          <p:cNvCxnSpPr>
            <a:stCxn id="390" idx="3"/>
            <a:endCxn id="392" idx="1"/>
          </p:cNvCxnSpPr>
          <p:nvPr/>
        </p:nvCxnSpPr>
        <p:spPr>
          <a:xfrm rot="10800000" flipH="1">
            <a:off x="1412046" y="1569713"/>
            <a:ext cx="5385600" cy="1510200"/>
          </a:xfrm>
          <a:prstGeom prst="curvedConnector3">
            <a:avLst>
              <a:gd name="adj1" fmla="val 49999"/>
            </a:avLst>
          </a:prstGeom>
          <a:noFill/>
          <a:ln w="9525" cap="flat" cmpd="sng">
            <a:solidFill>
              <a:schemeClr val="dk2"/>
            </a:solidFill>
            <a:prstDash val="solid"/>
            <a:round/>
            <a:headEnd type="none" w="med" len="med"/>
            <a:tailEnd type="triangle" w="med" len="med"/>
          </a:ln>
        </p:spPr>
      </p:cxnSp>
      <p:sp>
        <p:nvSpPr>
          <p:cNvPr id="396" name="Google Shape;396;p56"/>
          <p:cNvSpPr/>
          <p:nvPr/>
        </p:nvSpPr>
        <p:spPr>
          <a:xfrm>
            <a:off x="6797513" y="2635238"/>
            <a:ext cx="22023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solidFill>
                  <a:schemeClr val="dk1"/>
                </a:solidFill>
              </a:rPr>
              <a:t>Load web Pages</a:t>
            </a:r>
            <a:endParaRPr sz="1100" b="1"/>
          </a:p>
          <a:p>
            <a:pPr marL="0" lvl="0" indent="0" algn="ctr" rtl="0">
              <a:spcBef>
                <a:spcPts val="0"/>
              </a:spcBef>
              <a:spcAft>
                <a:spcPts val="0"/>
              </a:spcAft>
              <a:buNone/>
            </a:pPr>
            <a:r>
              <a:rPr lang="en-GB" sz="1000"/>
              <a:t>Langchain (webBaseLoader)</a:t>
            </a:r>
            <a:endParaRPr sz="1000"/>
          </a:p>
        </p:txBody>
      </p:sp>
      <p:cxnSp>
        <p:nvCxnSpPr>
          <p:cNvPr id="397" name="Google Shape;397;p56"/>
          <p:cNvCxnSpPr>
            <a:stCxn id="392" idx="2"/>
            <a:endCxn id="396" idx="0"/>
          </p:cNvCxnSpPr>
          <p:nvPr/>
        </p:nvCxnSpPr>
        <p:spPr>
          <a:xfrm>
            <a:off x="7898663" y="2305900"/>
            <a:ext cx="0" cy="329400"/>
          </a:xfrm>
          <a:prstGeom prst="straightConnector1">
            <a:avLst/>
          </a:prstGeom>
          <a:noFill/>
          <a:ln w="9525" cap="flat" cmpd="sng">
            <a:solidFill>
              <a:schemeClr val="dk2"/>
            </a:solidFill>
            <a:prstDash val="solid"/>
            <a:round/>
            <a:headEnd type="none" w="med" len="med"/>
            <a:tailEnd type="triangle" w="med" len="med"/>
          </a:ln>
        </p:spPr>
      </p:cxnSp>
      <p:sp>
        <p:nvSpPr>
          <p:cNvPr id="398" name="Google Shape;398;p56"/>
          <p:cNvSpPr/>
          <p:nvPr/>
        </p:nvSpPr>
        <p:spPr>
          <a:xfrm>
            <a:off x="6797513" y="3539088"/>
            <a:ext cx="22023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Preprocessing</a:t>
            </a:r>
            <a:endParaRPr sz="1100" b="1"/>
          </a:p>
          <a:p>
            <a:pPr marL="457200" lvl="0" indent="-292100" algn="l" rtl="0">
              <a:spcBef>
                <a:spcPts val="0"/>
              </a:spcBef>
              <a:spcAft>
                <a:spcPts val="0"/>
              </a:spcAft>
              <a:buSzPts val="1000"/>
              <a:buChar char="●"/>
            </a:pPr>
            <a:r>
              <a:rPr lang="en-GB" sz="1000"/>
              <a:t>BeautifulSoup</a:t>
            </a:r>
            <a:endParaRPr sz="1000"/>
          </a:p>
          <a:p>
            <a:pPr marL="457200" lvl="0" indent="-292100" algn="l" rtl="0">
              <a:spcBef>
                <a:spcPts val="0"/>
              </a:spcBef>
              <a:spcAft>
                <a:spcPts val="0"/>
              </a:spcAft>
              <a:buSzPts val="1000"/>
              <a:buChar char="●"/>
            </a:pPr>
            <a:r>
              <a:rPr lang="en-GB" sz="1000"/>
              <a:t>regex</a:t>
            </a:r>
            <a:endParaRPr sz="1000"/>
          </a:p>
        </p:txBody>
      </p:sp>
      <p:sp>
        <p:nvSpPr>
          <p:cNvPr id="399" name="Google Shape;399;p56"/>
          <p:cNvSpPr/>
          <p:nvPr/>
        </p:nvSpPr>
        <p:spPr>
          <a:xfrm>
            <a:off x="3662638" y="315560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Text Splitter</a:t>
            </a:r>
            <a:endParaRPr sz="1100" b="1"/>
          </a:p>
          <a:p>
            <a:pPr marL="0" lvl="0" indent="0" algn="ctr" rtl="0">
              <a:spcBef>
                <a:spcPts val="0"/>
              </a:spcBef>
              <a:spcAft>
                <a:spcPts val="0"/>
              </a:spcAft>
              <a:buNone/>
            </a:pPr>
            <a:r>
              <a:rPr lang="en-GB" sz="1000"/>
              <a:t>size=500</a:t>
            </a:r>
            <a:endParaRPr sz="1000"/>
          </a:p>
          <a:p>
            <a:pPr marL="0" lvl="0" indent="0" algn="ctr" rtl="0">
              <a:spcBef>
                <a:spcPts val="0"/>
              </a:spcBef>
              <a:spcAft>
                <a:spcPts val="0"/>
              </a:spcAft>
              <a:buNone/>
            </a:pPr>
            <a:r>
              <a:rPr lang="en-GB" sz="1000"/>
              <a:t>overlaping=50</a:t>
            </a:r>
            <a:endParaRPr sz="1000"/>
          </a:p>
        </p:txBody>
      </p:sp>
      <p:sp>
        <p:nvSpPr>
          <p:cNvPr id="400" name="Google Shape;400;p56"/>
          <p:cNvSpPr/>
          <p:nvPr/>
        </p:nvSpPr>
        <p:spPr>
          <a:xfrm>
            <a:off x="3662638" y="411360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Embedding (vectorize)</a:t>
            </a:r>
            <a:endParaRPr sz="1100" b="1"/>
          </a:p>
          <a:p>
            <a:pPr marL="0" lvl="0" indent="0" algn="ctr" rtl="0">
              <a:spcBef>
                <a:spcPts val="0"/>
              </a:spcBef>
              <a:spcAft>
                <a:spcPts val="0"/>
              </a:spcAft>
              <a:buNone/>
            </a:pPr>
            <a:r>
              <a:rPr lang="en-GB" sz="1100"/>
              <a:t>GPT4AllEmbeddings</a:t>
            </a:r>
            <a:endParaRPr sz="1100"/>
          </a:p>
        </p:txBody>
      </p:sp>
      <p:sp>
        <p:nvSpPr>
          <p:cNvPr id="401" name="Google Shape;401;p56"/>
          <p:cNvSpPr/>
          <p:nvPr/>
        </p:nvSpPr>
        <p:spPr>
          <a:xfrm>
            <a:off x="242938" y="411360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Database</a:t>
            </a:r>
            <a:endParaRPr sz="1100" b="1"/>
          </a:p>
          <a:p>
            <a:pPr marL="0" lvl="0" indent="0" algn="ctr" rtl="0">
              <a:spcBef>
                <a:spcPts val="0"/>
              </a:spcBef>
              <a:spcAft>
                <a:spcPts val="0"/>
              </a:spcAft>
              <a:buNone/>
            </a:pPr>
            <a:r>
              <a:rPr lang="en-GB" sz="1000"/>
              <a:t>ChromaDB</a:t>
            </a:r>
            <a:endParaRPr sz="1000"/>
          </a:p>
        </p:txBody>
      </p:sp>
      <p:cxnSp>
        <p:nvCxnSpPr>
          <p:cNvPr id="402" name="Google Shape;402;p56"/>
          <p:cNvCxnSpPr>
            <a:stCxn id="396" idx="2"/>
            <a:endCxn id="398" idx="0"/>
          </p:cNvCxnSpPr>
          <p:nvPr/>
        </p:nvCxnSpPr>
        <p:spPr>
          <a:xfrm>
            <a:off x="7898663" y="3209738"/>
            <a:ext cx="0" cy="329400"/>
          </a:xfrm>
          <a:prstGeom prst="straightConnector1">
            <a:avLst/>
          </a:prstGeom>
          <a:noFill/>
          <a:ln w="9525" cap="flat" cmpd="sng">
            <a:solidFill>
              <a:schemeClr val="dk2"/>
            </a:solidFill>
            <a:prstDash val="solid"/>
            <a:round/>
            <a:headEnd type="none" w="med" len="med"/>
            <a:tailEnd type="triangle" w="med" len="med"/>
          </a:ln>
        </p:spPr>
      </p:cxnSp>
      <p:cxnSp>
        <p:nvCxnSpPr>
          <p:cNvPr id="403" name="Google Shape;403;p56"/>
          <p:cNvCxnSpPr>
            <a:stCxn id="398" idx="1"/>
            <a:endCxn id="399" idx="3"/>
          </p:cNvCxnSpPr>
          <p:nvPr/>
        </p:nvCxnSpPr>
        <p:spPr>
          <a:xfrm rot="10800000">
            <a:off x="5899013" y="3442938"/>
            <a:ext cx="898500" cy="383400"/>
          </a:xfrm>
          <a:prstGeom prst="curvedConnector3">
            <a:avLst>
              <a:gd name="adj1" fmla="val 49993"/>
            </a:avLst>
          </a:prstGeom>
          <a:noFill/>
          <a:ln w="9525" cap="flat" cmpd="sng">
            <a:solidFill>
              <a:schemeClr val="dk2"/>
            </a:solidFill>
            <a:prstDash val="solid"/>
            <a:round/>
            <a:headEnd type="none" w="med" len="med"/>
            <a:tailEnd type="triangle" w="med" len="med"/>
          </a:ln>
        </p:spPr>
      </p:cxnSp>
      <p:cxnSp>
        <p:nvCxnSpPr>
          <p:cNvPr id="404" name="Google Shape;404;p56"/>
          <p:cNvCxnSpPr>
            <a:stCxn id="399" idx="2"/>
            <a:endCxn id="400" idx="0"/>
          </p:cNvCxnSpPr>
          <p:nvPr/>
        </p:nvCxnSpPr>
        <p:spPr>
          <a:xfrm>
            <a:off x="4780888" y="3730100"/>
            <a:ext cx="0" cy="383400"/>
          </a:xfrm>
          <a:prstGeom prst="straightConnector1">
            <a:avLst/>
          </a:prstGeom>
          <a:noFill/>
          <a:ln w="9525" cap="flat" cmpd="sng">
            <a:solidFill>
              <a:schemeClr val="dk2"/>
            </a:solidFill>
            <a:prstDash val="solid"/>
            <a:round/>
            <a:headEnd type="none" w="med" len="med"/>
            <a:tailEnd type="triangle" w="med" len="med"/>
          </a:ln>
        </p:spPr>
      </p:cxnSp>
      <p:cxnSp>
        <p:nvCxnSpPr>
          <p:cNvPr id="405" name="Google Shape;405;p56"/>
          <p:cNvCxnSpPr>
            <a:stCxn id="400" idx="1"/>
            <a:endCxn id="401" idx="3"/>
          </p:cNvCxnSpPr>
          <p:nvPr/>
        </p:nvCxnSpPr>
        <p:spPr>
          <a:xfrm rot="10800000">
            <a:off x="2479438" y="4400850"/>
            <a:ext cx="1183200" cy="0"/>
          </a:xfrm>
          <a:prstGeom prst="straightConnector1">
            <a:avLst/>
          </a:prstGeom>
          <a:noFill/>
          <a:ln w="9525" cap="flat" cmpd="sng">
            <a:solidFill>
              <a:schemeClr val="dk2"/>
            </a:solidFill>
            <a:prstDash val="solid"/>
            <a:round/>
            <a:headEnd type="none" w="med" len="med"/>
            <a:tailEnd type="triangle" w="med" len="med"/>
          </a:ln>
        </p:spPr>
      </p:cxnSp>
      <p:sp>
        <p:nvSpPr>
          <p:cNvPr id="406" name="Google Shape;406;p56"/>
          <p:cNvSpPr/>
          <p:nvPr/>
        </p:nvSpPr>
        <p:spPr>
          <a:xfrm>
            <a:off x="1912163" y="2864875"/>
            <a:ext cx="959400" cy="779100"/>
          </a:xfrm>
          <a:prstGeom prst="roundRect">
            <a:avLst>
              <a:gd name="adj" fmla="val 16667"/>
            </a:avLst>
          </a:prstGeom>
          <a:solidFill>
            <a:srgbClr val="4EC9B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700">
                <a:solidFill>
                  <a:schemeClr val="dk1"/>
                </a:solidFill>
              </a:rPr>
              <a:t>Google (API)</a:t>
            </a:r>
            <a:endParaRPr sz="700">
              <a:solidFill>
                <a:schemeClr val="dk1"/>
              </a:solidFill>
            </a:endParaRPr>
          </a:p>
          <a:p>
            <a:pPr marL="0" lvl="0" indent="0" algn="l" rtl="0">
              <a:spcBef>
                <a:spcPts val="0"/>
              </a:spcBef>
              <a:spcAft>
                <a:spcPts val="0"/>
              </a:spcAft>
              <a:buNone/>
            </a:pPr>
            <a:r>
              <a:rPr lang="en-GB" sz="700" b="1">
                <a:solidFill>
                  <a:schemeClr val="dk1"/>
                </a:solidFill>
              </a:rPr>
              <a:t>DuckDuckGo</a:t>
            </a:r>
            <a:endParaRPr sz="700" b="1">
              <a:solidFill>
                <a:schemeClr val="dk1"/>
              </a:solidFill>
            </a:endParaRPr>
          </a:p>
          <a:p>
            <a:pPr marL="0" lvl="0" indent="0" algn="l" rtl="0">
              <a:spcBef>
                <a:spcPts val="0"/>
              </a:spcBef>
              <a:spcAft>
                <a:spcPts val="0"/>
              </a:spcAft>
              <a:buNone/>
            </a:pPr>
            <a:r>
              <a:rPr lang="en-GB" sz="700">
                <a:solidFill>
                  <a:schemeClr val="dk1"/>
                </a:solidFill>
              </a:rPr>
              <a:t>Brave</a:t>
            </a:r>
            <a:endParaRPr sz="700">
              <a:solidFill>
                <a:schemeClr val="dk1"/>
              </a:solidFill>
            </a:endParaRPr>
          </a:p>
          <a:p>
            <a:pPr marL="0" lvl="0" indent="0" algn="l" rtl="0">
              <a:spcBef>
                <a:spcPts val="0"/>
              </a:spcBef>
              <a:spcAft>
                <a:spcPts val="0"/>
              </a:spcAft>
              <a:buNone/>
            </a:pPr>
            <a:r>
              <a:rPr lang="en-GB" sz="700">
                <a:solidFill>
                  <a:schemeClr val="dk1"/>
                </a:solidFill>
              </a:rPr>
              <a:t>Bing</a:t>
            </a:r>
            <a:endParaRPr sz="700">
              <a:solidFill>
                <a:schemeClr val="dk1"/>
              </a:solidFill>
            </a:endParaRPr>
          </a:p>
          <a:p>
            <a:pPr marL="0" lvl="0" indent="0" algn="l" rtl="0">
              <a:spcBef>
                <a:spcPts val="0"/>
              </a:spcBef>
              <a:spcAft>
                <a:spcPts val="0"/>
              </a:spcAft>
              <a:buNone/>
            </a:pPr>
            <a:r>
              <a:rPr lang="en-GB" sz="700">
                <a:solidFill>
                  <a:schemeClr val="dk1"/>
                </a:solidFill>
              </a:rPr>
              <a:t>Yahoo</a:t>
            </a:r>
            <a:endParaRPr sz="700">
              <a:solidFill>
                <a:schemeClr val="dk1"/>
              </a:solidFill>
            </a:endParaRPr>
          </a:p>
          <a:p>
            <a:pPr marL="0" lvl="0" indent="0" algn="l" rtl="0">
              <a:spcBef>
                <a:spcPts val="0"/>
              </a:spcBef>
              <a:spcAft>
                <a:spcPts val="0"/>
              </a:spcAft>
              <a:buNone/>
            </a:pPr>
            <a:r>
              <a:rPr lang="en-GB" sz="700">
                <a:solidFill>
                  <a:schemeClr val="dk1"/>
                </a:solidFill>
              </a:rPr>
              <a:t>StartPage</a:t>
            </a:r>
            <a:endParaRPr sz="7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57"/>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Document Rag</a:t>
            </a:r>
            <a:endParaRPr/>
          </a:p>
        </p:txBody>
      </p:sp>
      <p:sp>
        <p:nvSpPr>
          <p:cNvPr id="412" name="Google Shape;412;p57"/>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413" name="Google Shape;413;p57"/>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28</a:t>
            </a:fld>
            <a:endParaRPr/>
          </a:p>
        </p:txBody>
      </p:sp>
      <p:sp>
        <p:nvSpPr>
          <p:cNvPr id="414" name="Google Shape;414;p57"/>
          <p:cNvSpPr/>
          <p:nvPr/>
        </p:nvSpPr>
        <p:spPr>
          <a:xfrm>
            <a:off x="530713" y="1495061"/>
            <a:ext cx="1189800" cy="308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t>Files</a:t>
            </a:r>
            <a:endParaRPr sz="900"/>
          </a:p>
        </p:txBody>
      </p:sp>
      <p:sp>
        <p:nvSpPr>
          <p:cNvPr id="415" name="Google Shape;415;p57"/>
          <p:cNvSpPr/>
          <p:nvPr/>
        </p:nvSpPr>
        <p:spPr>
          <a:xfrm>
            <a:off x="2595175" y="136185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Saved to Folder (data)</a:t>
            </a:r>
            <a:endParaRPr sz="1000"/>
          </a:p>
        </p:txBody>
      </p:sp>
      <p:sp>
        <p:nvSpPr>
          <p:cNvPr id="416" name="Google Shape;416;p57"/>
          <p:cNvSpPr/>
          <p:nvPr/>
        </p:nvSpPr>
        <p:spPr>
          <a:xfrm>
            <a:off x="6575000" y="136185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Landchain Document Loader</a:t>
            </a:r>
            <a:endParaRPr sz="1000"/>
          </a:p>
        </p:txBody>
      </p:sp>
      <p:sp>
        <p:nvSpPr>
          <p:cNvPr id="417" name="Google Shape;417;p57"/>
          <p:cNvSpPr/>
          <p:nvPr/>
        </p:nvSpPr>
        <p:spPr>
          <a:xfrm>
            <a:off x="6575000" y="277280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Text Splitter</a:t>
            </a:r>
            <a:endParaRPr sz="1100" b="1"/>
          </a:p>
          <a:p>
            <a:pPr marL="0" lvl="0" indent="0" algn="ctr" rtl="0">
              <a:spcBef>
                <a:spcPts val="0"/>
              </a:spcBef>
              <a:spcAft>
                <a:spcPts val="0"/>
              </a:spcAft>
              <a:buNone/>
            </a:pPr>
            <a:r>
              <a:rPr lang="en-GB" sz="1000"/>
              <a:t>size=500</a:t>
            </a:r>
            <a:endParaRPr sz="1000"/>
          </a:p>
          <a:p>
            <a:pPr marL="0" lvl="0" indent="0" algn="ctr" rtl="0">
              <a:spcBef>
                <a:spcPts val="0"/>
              </a:spcBef>
              <a:spcAft>
                <a:spcPts val="0"/>
              </a:spcAft>
              <a:buNone/>
            </a:pPr>
            <a:r>
              <a:rPr lang="en-GB" sz="1000"/>
              <a:t>overlaping=50</a:t>
            </a:r>
            <a:endParaRPr sz="1000"/>
          </a:p>
        </p:txBody>
      </p:sp>
      <p:sp>
        <p:nvSpPr>
          <p:cNvPr id="418" name="Google Shape;418;p57"/>
          <p:cNvSpPr/>
          <p:nvPr/>
        </p:nvSpPr>
        <p:spPr>
          <a:xfrm>
            <a:off x="3688550" y="411135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Embedding (vectorize)</a:t>
            </a:r>
            <a:endParaRPr sz="1100" b="1"/>
          </a:p>
          <a:p>
            <a:pPr marL="0" lvl="0" indent="0" algn="ctr" rtl="0">
              <a:spcBef>
                <a:spcPts val="0"/>
              </a:spcBef>
              <a:spcAft>
                <a:spcPts val="0"/>
              </a:spcAft>
              <a:buNone/>
            </a:pPr>
            <a:r>
              <a:rPr lang="en-GB" sz="1100"/>
              <a:t>nomic-embed-text</a:t>
            </a:r>
            <a:endParaRPr sz="1100"/>
          </a:p>
        </p:txBody>
      </p:sp>
      <p:sp>
        <p:nvSpPr>
          <p:cNvPr id="419" name="Google Shape;419;p57"/>
          <p:cNvSpPr/>
          <p:nvPr/>
        </p:nvSpPr>
        <p:spPr>
          <a:xfrm>
            <a:off x="655550" y="411135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Database</a:t>
            </a:r>
            <a:endParaRPr sz="1100" b="1"/>
          </a:p>
          <a:p>
            <a:pPr marL="0" lvl="0" indent="0" algn="ctr" rtl="0">
              <a:spcBef>
                <a:spcPts val="0"/>
              </a:spcBef>
              <a:spcAft>
                <a:spcPts val="0"/>
              </a:spcAft>
              <a:buNone/>
            </a:pPr>
            <a:r>
              <a:rPr lang="en-GB" sz="1000"/>
              <a:t>ChromaDB</a:t>
            </a:r>
            <a:endParaRPr sz="1000"/>
          </a:p>
        </p:txBody>
      </p:sp>
      <p:sp>
        <p:nvSpPr>
          <p:cNvPr id="420" name="Google Shape;420;p57"/>
          <p:cNvSpPr/>
          <p:nvPr/>
        </p:nvSpPr>
        <p:spPr>
          <a:xfrm>
            <a:off x="6575000" y="4111350"/>
            <a:ext cx="2236500" cy="57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Check for Existing Documents</a:t>
            </a:r>
            <a:endParaRPr sz="1100"/>
          </a:p>
        </p:txBody>
      </p:sp>
      <p:cxnSp>
        <p:nvCxnSpPr>
          <p:cNvPr id="421" name="Google Shape;421;p57"/>
          <p:cNvCxnSpPr>
            <a:stCxn id="414" idx="3"/>
            <a:endCxn id="415" idx="1"/>
          </p:cNvCxnSpPr>
          <p:nvPr/>
        </p:nvCxnSpPr>
        <p:spPr>
          <a:xfrm>
            <a:off x="1720513" y="1649111"/>
            <a:ext cx="874800" cy="0"/>
          </a:xfrm>
          <a:prstGeom prst="straightConnector1">
            <a:avLst/>
          </a:prstGeom>
          <a:noFill/>
          <a:ln w="9525" cap="flat" cmpd="sng">
            <a:solidFill>
              <a:schemeClr val="dk2"/>
            </a:solidFill>
            <a:prstDash val="solid"/>
            <a:round/>
            <a:headEnd type="none" w="med" len="med"/>
            <a:tailEnd type="triangle" w="med" len="med"/>
          </a:ln>
        </p:spPr>
      </p:cxnSp>
      <p:cxnSp>
        <p:nvCxnSpPr>
          <p:cNvPr id="422" name="Google Shape;422;p57"/>
          <p:cNvCxnSpPr>
            <a:stCxn id="415" idx="3"/>
            <a:endCxn id="416" idx="1"/>
          </p:cNvCxnSpPr>
          <p:nvPr/>
        </p:nvCxnSpPr>
        <p:spPr>
          <a:xfrm>
            <a:off x="4831675" y="1649100"/>
            <a:ext cx="1743300" cy="0"/>
          </a:xfrm>
          <a:prstGeom prst="straightConnector1">
            <a:avLst/>
          </a:prstGeom>
          <a:noFill/>
          <a:ln w="9525" cap="flat" cmpd="sng">
            <a:solidFill>
              <a:schemeClr val="dk2"/>
            </a:solidFill>
            <a:prstDash val="solid"/>
            <a:round/>
            <a:headEnd type="none" w="med" len="med"/>
            <a:tailEnd type="triangle" w="med" len="med"/>
          </a:ln>
        </p:spPr>
      </p:cxnSp>
      <p:cxnSp>
        <p:nvCxnSpPr>
          <p:cNvPr id="423" name="Google Shape;423;p57"/>
          <p:cNvCxnSpPr>
            <a:stCxn id="416" idx="2"/>
            <a:endCxn id="417" idx="0"/>
          </p:cNvCxnSpPr>
          <p:nvPr/>
        </p:nvCxnSpPr>
        <p:spPr>
          <a:xfrm>
            <a:off x="7693250" y="1936350"/>
            <a:ext cx="0" cy="836400"/>
          </a:xfrm>
          <a:prstGeom prst="straightConnector1">
            <a:avLst/>
          </a:prstGeom>
          <a:noFill/>
          <a:ln w="9525" cap="flat" cmpd="sng">
            <a:solidFill>
              <a:schemeClr val="dk2"/>
            </a:solidFill>
            <a:prstDash val="solid"/>
            <a:round/>
            <a:headEnd type="none" w="med" len="med"/>
            <a:tailEnd type="triangle" w="med" len="med"/>
          </a:ln>
        </p:spPr>
      </p:cxnSp>
      <p:sp>
        <p:nvSpPr>
          <p:cNvPr id="424" name="Google Shape;424;p57"/>
          <p:cNvSpPr/>
          <p:nvPr/>
        </p:nvSpPr>
        <p:spPr>
          <a:xfrm>
            <a:off x="7283600" y="848150"/>
            <a:ext cx="819300" cy="700500"/>
          </a:xfrm>
          <a:prstGeom prst="roundRect">
            <a:avLst>
              <a:gd name="adj" fmla="val 16667"/>
            </a:avLst>
          </a:prstGeom>
          <a:solidFill>
            <a:srgbClr val="4EC9B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solidFill>
                  <a:schemeClr val="dk1"/>
                </a:solidFill>
                <a:latin typeface="Calibri"/>
                <a:ea typeface="Calibri"/>
                <a:cs typeface="Calibri"/>
                <a:sym typeface="Calibri"/>
              </a:rPr>
              <a:t>PDF</a:t>
            </a:r>
            <a:endParaRPr sz="1100" b="1">
              <a:solidFill>
                <a:schemeClr val="dk1"/>
              </a:solidFill>
              <a:latin typeface="Calibri"/>
              <a:ea typeface="Calibri"/>
              <a:cs typeface="Calibri"/>
              <a:sym typeface="Calibri"/>
            </a:endParaRPr>
          </a:p>
          <a:p>
            <a:pPr marL="0" lvl="0" indent="0" algn="ctr" rtl="0">
              <a:spcBef>
                <a:spcPts val="0"/>
              </a:spcBef>
              <a:spcAft>
                <a:spcPts val="0"/>
              </a:spcAft>
              <a:buNone/>
            </a:pPr>
            <a:r>
              <a:rPr lang="en-GB" sz="900">
                <a:solidFill>
                  <a:schemeClr val="dk1"/>
                </a:solidFill>
                <a:latin typeface="Calibri"/>
                <a:ea typeface="Calibri"/>
                <a:cs typeface="Calibri"/>
                <a:sym typeface="Calibri"/>
              </a:rPr>
              <a:t>CSV</a:t>
            </a:r>
            <a:endParaRPr sz="900">
              <a:solidFill>
                <a:schemeClr val="dk1"/>
              </a:solidFill>
              <a:latin typeface="Calibri"/>
              <a:ea typeface="Calibri"/>
              <a:cs typeface="Calibri"/>
              <a:sym typeface="Calibri"/>
            </a:endParaRPr>
          </a:p>
          <a:p>
            <a:pPr marL="0" lvl="0" indent="0" algn="ctr" rtl="0">
              <a:spcBef>
                <a:spcPts val="0"/>
              </a:spcBef>
              <a:spcAft>
                <a:spcPts val="0"/>
              </a:spcAft>
              <a:buNone/>
            </a:pPr>
            <a:r>
              <a:rPr lang="en-GB" sz="900">
                <a:solidFill>
                  <a:schemeClr val="dk1"/>
                </a:solidFill>
                <a:latin typeface="Calibri"/>
                <a:ea typeface="Calibri"/>
                <a:cs typeface="Calibri"/>
                <a:sym typeface="Calibri"/>
              </a:rPr>
              <a:t>DOCX</a:t>
            </a:r>
            <a:endParaRPr sz="900">
              <a:solidFill>
                <a:schemeClr val="dk1"/>
              </a:solidFill>
              <a:latin typeface="Calibri"/>
              <a:ea typeface="Calibri"/>
              <a:cs typeface="Calibri"/>
              <a:sym typeface="Calibri"/>
            </a:endParaRPr>
          </a:p>
          <a:p>
            <a:pPr marL="0" lvl="0" indent="0" algn="ctr" rtl="0">
              <a:spcBef>
                <a:spcPts val="0"/>
              </a:spcBef>
              <a:spcAft>
                <a:spcPts val="0"/>
              </a:spcAft>
              <a:buNone/>
            </a:pPr>
            <a:r>
              <a:rPr lang="en-GB" sz="900">
                <a:solidFill>
                  <a:schemeClr val="dk1"/>
                </a:solidFill>
                <a:latin typeface="Calibri"/>
                <a:ea typeface="Calibri"/>
                <a:cs typeface="Calibri"/>
                <a:sym typeface="Calibri"/>
              </a:rPr>
              <a:t>XLSX</a:t>
            </a:r>
            <a:endParaRPr sz="900">
              <a:solidFill>
                <a:schemeClr val="dk1"/>
              </a:solidFill>
              <a:latin typeface="Calibri"/>
              <a:ea typeface="Calibri"/>
              <a:cs typeface="Calibri"/>
              <a:sym typeface="Calibri"/>
            </a:endParaRPr>
          </a:p>
          <a:p>
            <a:pPr marL="0" lvl="0" indent="0" algn="ctr" rtl="0">
              <a:spcBef>
                <a:spcPts val="0"/>
              </a:spcBef>
              <a:spcAft>
                <a:spcPts val="0"/>
              </a:spcAft>
              <a:buNone/>
            </a:pPr>
            <a:r>
              <a:rPr lang="en-GB" sz="900">
                <a:solidFill>
                  <a:schemeClr val="dk1"/>
                </a:solidFill>
                <a:latin typeface="Calibri"/>
                <a:ea typeface="Calibri"/>
                <a:cs typeface="Calibri"/>
                <a:sym typeface="Calibri"/>
              </a:rPr>
              <a:t>PPTX</a:t>
            </a:r>
            <a:endParaRPr sz="900"/>
          </a:p>
        </p:txBody>
      </p:sp>
      <p:cxnSp>
        <p:nvCxnSpPr>
          <p:cNvPr id="425" name="Google Shape;425;p57"/>
          <p:cNvCxnSpPr>
            <a:stCxn id="420" idx="1"/>
            <a:endCxn id="418" idx="3"/>
          </p:cNvCxnSpPr>
          <p:nvPr/>
        </p:nvCxnSpPr>
        <p:spPr>
          <a:xfrm rot="10800000">
            <a:off x="5925200" y="4398600"/>
            <a:ext cx="649800" cy="0"/>
          </a:xfrm>
          <a:prstGeom prst="straightConnector1">
            <a:avLst/>
          </a:prstGeom>
          <a:noFill/>
          <a:ln w="9525" cap="flat" cmpd="sng">
            <a:solidFill>
              <a:schemeClr val="dk2"/>
            </a:solidFill>
            <a:prstDash val="solid"/>
            <a:round/>
            <a:headEnd type="none" w="med" len="med"/>
            <a:tailEnd type="triangle" w="med" len="med"/>
          </a:ln>
        </p:spPr>
      </p:cxnSp>
      <p:cxnSp>
        <p:nvCxnSpPr>
          <p:cNvPr id="426" name="Google Shape;426;p57"/>
          <p:cNvCxnSpPr>
            <a:stCxn id="418" idx="1"/>
            <a:endCxn id="419" idx="3"/>
          </p:cNvCxnSpPr>
          <p:nvPr/>
        </p:nvCxnSpPr>
        <p:spPr>
          <a:xfrm rot="10800000">
            <a:off x="2892050" y="4398600"/>
            <a:ext cx="796500" cy="0"/>
          </a:xfrm>
          <a:prstGeom prst="straightConnector1">
            <a:avLst/>
          </a:prstGeom>
          <a:noFill/>
          <a:ln w="9525" cap="flat" cmpd="sng">
            <a:solidFill>
              <a:schemeClr val="dk2"/>
            </a:solidFill>
            <a:prstDash val="solid"/>
            <a:round/>
            <a:headEnd type="none" w="med" len="med"/>
            <a:tailEnd type="triangle" w="med" len="med"/>
          </a:ln>
        </p:spPr>
      </p:cxnSp>
      <p:cxnSp>
        <p:nvCxnSpPr>
          <p:cNvPr id="427" name="Google Shape;427;p57"/>
          <p:cNvCxnSpPr>
            <a:endCxn id="420" idx="0"/>
          </p:cNvCxnSpPr>
          <p:nvPr/>
        </p:nvCxnSpPr>
        <p:spPr>
          <a:xfrm>
            <a:off x="7693250" y="3347250"/>
            <a:ext cx="0" cy="764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8"/>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Retrieval RAG</a:t>
            </a:r>
            <a:endParaRPr/>
          </a:p>
        </p:txBody>
      </p:sp>
      <p:sp>
        <p:nvSpPr>
          <p:cNvPr id="433" name="Google Shape;433;p58"/>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434" name="Google Shape;434;p58"/>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29</a:t>
            </a:fld>
            <a:endParaRPr/>
          </a:p>
        </p:txBody>
      </p:sp>
      <p:sp>
        <p:nvSpPr>
          <p:cNvPr id="435" name="Google Shape;435;p58"/>
          <p:cNvSpPr/>
          <p:nvPr/>
        </p:nvSpPr>
        <p:spPr>
          <a:xfrm>
            <a:off x="102154" y="1703495"/>
            <a:ext cx="1189800" cy="29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t>Question</a:t>
            </a:r>
            <a:endParaRPr sz="900"/>
          </a:p>
        </p:txBody>
      </p:sp>
      <p:sp>
        <p:nvSpPr>
          <p:cNvPr id="436" name="Google Shape;436;p58"/>
          <p:cNvSpPr/>
          <p:nvPr/>
        </p:nvSpPr>
        <p:spPr>
          <a:xfrm>
            <a:off x="102163" y="2810734"/>
            <a:ext cx="1189800" cy="2931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900"/>
              <a:t>Model</a:t>
            </a:r>
            <a:endParaRPr sz="900"/>
          </a:p>
        </p:txBody>
      </p:sp>
      <p:sp>
        <p:nvSpPr>
          <p:cNvPr id="437" name="Google Shape;437;p58"/>
          <p:cNvSpPr/>
          <p:nvPr/>
        </p:nvSpPr>
        <p:spPr>
          <a:xfrm>
            <a:off x="4257432" y="1561491"/>
            <a:ext cx="2202300" cy="14013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8"/>
          <p:cNvSpPr/>
          <p:nvPr/>
        </p:nvSpPr>
        <p:spPr>
          <a:xfrm>
            <a:off x="102162" y="4164608"/>
            <a:ext cx="2236500" cy="546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Database</a:t>
            </a:r>
            <a:endParaRPr sz="1100" b="1"/>
          </a:p>
          <a:p>
            <a:pPr marL="0" lvl="0" indent="0" algn="ctr" rtl="0">
              <a:spcBef>
                <a:spcPts val="0"/>
              </a:spcBef>
              <a:spcAft>
                <a:spcPts val="0"/>
              </a:spcAft>
              <a:buNone/>
            </a:pPr>
            <a:r>
              <a:rPr lang="en-GB" sz="1000"/>
              <a:t>ChromaDB</a:t>
            </a:r>
            <a:endParaRPr sz="1000"/>
          </a:p>
        </p:txBody>
      </p:sp>
      <p:pic>
        <p:nvPicPr>
          <p:cNvPr id="439" name="Google Shape;439;p58"/>
          <p:cNvPicPr preferRelativeResize="0"/>
          <p:nvPr/>
        </p:nvPicPr>
        <p:blipFill>
          <a:blip r:embed="rId3">
            <a:alphaModFix/>
          </a:blip>
          <a:stretch>
            <a:fillRect/>
          </a:stretch>
        </p:blipFill>
        <p:spPr>
          <a:xfrm>
            <a:off x="5089955" y="1983104"/>
            <a:ext cx="537275" cy="511292"/>
          </a:xfrm>
          <a:prstGeom prst="rect">
            <a:avLst/>
          </a:prstGeom>
          <a:noFill/>
          <a:ln>
            <a:noFill/>
          </a:ln>
        </p:spPr>
      </p:pic>
      <p:cxnSp>
        <p:nvCxnSpPr>
          <p:cNvPr id="440" name="Google Shape;440;p58"/>
          <p:cNvCxnSpPr>
            <a:stCxn id="435" idx="3"/>
            <a:endCxn id="437" idx="1"/>
          </p:cNvCxnSpPr>
          <p:nvPr/>
        </p:nvCxnSpPr>
        <p:spPr>
          <a:xfrm>
            <a:off x="1291954" y="1850045"/>
            <a:ext cx="2965500" cy="4122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441" name="Google Shape;441;p58"/>
          <p:cNvCxnSpPr>
            <a:stCxn id="436" idx="3"/>
            <a:endCxn id="437" idx="1"/>
          </p:cNvCxnSpPr>
          <p:nvPr/>
        </p:nvCxnSpPr>
        <p:spPr>
          <a:xfrm rot="10800000" flipH="1">
            <a:off x="1291963" y="2262184"/>
            <a:ext cx="2965500" cy="6951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442" name="Google Shape;442;p58"/>
          <p:cNvCxnSpPr>
            <a:stCxn id="438" idx="3"/>
            <a:endCxn id="437" idx="1"/>
          </p:cNvCxnSpPr>
          <p:nvPr/>
        </p:nvCxnSpPr>
        <p:spPr>
          <a:xfrm rot="10800000" flipH="1">
            <a:off x="2338662" y="2262008"/>
            <a:ext cx="1918800" cy="2175900"/>
          </a:xfrm>
          <a:prstGeom prst="curvedConnector3">
            <a:avLst>
              <a:gd name="adj1" fmla="val 49999"/>
            </a:avLst>
          </a:prstGeom>
          <a:noFill/>
          <a:ln w="9525" cap="flat" cmpd="sng">
            <a:solidFill>
              <a:schemeClr val="dk2"/>
            </a:solidFill>
            <a:prstDash val="solid"/>
            <a:round/>
            <a:headEnd type="none" w="med" len="med"/>
            <a:tailEnd type="triangle" w="med" len="med"/>
          </a:ln>
        </p:spPr>
      </p:cxnSp>
      <p:sp>
        <p:nvSpPr>
          <p:cNvPr id="443" name="Google Shape;443;p58"/>
          <p:cNvSpPr/>
          <p:nvPr/>
        </p:nvSpPr>
        <p:spPr>
          <a:xfrm>
            <a:off x="6848078" y="1988730"/>
            <a:ext cx="2236500" cy="546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100" b="1"/>
              <a:t>Result</a:t>
            </a:r>
            <a:endParaRPr sz="1000"/>
          </a:p>
        </p:txBody>
      </p:sp>
      <p:cxnSp>
        <p:nvCxnSpPr>
          <p:cNvPr id="444" name="Google Shape;444;p58"/>
          <p:cNvCxnSpPr>
            <a:stCxn id="437" idx="3"/>
            <a:endCxn id="443" idx="1"/>
          </p:cNvCxnSpPr>
          <p:nvPr/>
        </p:nvCxnSpPr>
        <p:spPr>
          <a:xfrm>
            <a:off x="6459732" y="2262141"/>
            <a:ext cx="388200" cy="0"/>
          </a:xfrm>
          <a:prstGeom prst="straightConnector1">
            <a:avLst/>
          </a:prstGeom>
          <a:noFill/>
          <a:ln w="9525" cap="flat" cmpd="sng">
            <a:solidFill>
              <a:schemeClr val="dk2"/>
            </a:solidFill>
            <a:prstDash val="solid"/>
            <a:round/>
            <a:headEnd type="none" w="med" len="med"/>
            <a:tailEnd type="triangle" w="med" len="med"/>
          </a:ln>
        </p:spPr>
      </p:cxnSp>
      <p:sp>
        <p:nvSpPr>
          <p:cNvPr id="445" name="Google Shape;445;p58"/>
          <p:cNvSpPr/>
          <p:nvPr/>
        </p:nvSpPr>
        <p:spPr>
          <a:xfrm>
            <a:off x="1518335" y="2413447"/>
            <a:ext cx="1219500" cy="1008900"/>
          </a:xfrm>
          <a:prstGeom prst="roundRect">
            <a:avLst>
              <a:gd name="adj" fmla="val 16667"/>
            </a:avLst>
          </a:prstGeom>
          <a:solidFill>
            <a:srgbClr val="9E9E9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900">
                <a:solidFill>
                  <a:schemeClr val="dk1"/>
                </a:solidFill>
                <a:latin typeface="Calibri"/>
                <a:ea typeface="Calibri"/>
                <a:cs typeface="Calibri"/>
                <a:sym typeface="Calibri"/>
              </a:rPr>
              <a:t>mistral:7b</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GB" sz="900">
                <a:solidFill>
                  <a:schemeClr val="dk1"/>
                </a:solidFill>
                <a:latin typeface="Calibri"/>
                <a:ea typeface="Calibri"/>
                <a:cs typeface="Calibri"/>
                <a:sym typeface="Calibri"/>
              </a:rPr>
              <a:t>deepseek-r1:1.5b</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GB" sz="900" b="1">
                <a:solidFill>
                  <a:schemeClr val="dk1"/>
                </a:solidFill>
                <a:latin typeface="Calibri"/>
                <a:ea typeface="Calibri"/>
                <a:cs typeface="Calibri"/>
                <a:sym typeface="Calibri"/>
              </a:rPr>
              <a:t>deepseek-r1:7b</a:t>
            </a:r>
            <a:endParaRPr sz="900" b="1">
              <a:solidFill>
                <a:schemeClr val="dk1"/>
              </a:solidFill>
              <a:latin typeface="Calibri"/>
              <a:ea typeface="Calibri"/>
              <a:cs typeface="Calibri"/>
              <a:sym typeface="Calibri"/>
            </a:endParaRPr>
          </a:p>
          <a:p>
            <a:pPr marL="0" lvl="0" indent="0" algn="l" rtl="0">
              <a:spcBef>
                <a:spcPts val="0"/>
              </a:spcBef>
              <a:spcAft>
                <a:spcPts val="0"/>
              </a:spcAft>
              <a:buNone/>
            </a:pPr>
            <a:r>
              <a:rPr lang="en-GB" sz="900">
                <a:solidFill>
                  <a:schemeClr val="dk1"/>
                </a:solidFill>
                <a:latin typeface="Calibri"/>
                <a:ea typeface="Calibri"/>
                <a:cs typeface="Calibri"/>
                <a:sym typeface="Calibri"/>
              </a:rPr>
              <a:t>deepseek-r1:14b</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GB" sz="900">
                <a:solidFill>
                  <a:schemeClr val="dk1"/>
                </a:solidFill>
                <a:latin typeface="Calibri"/>
                <a:ea typeface="Calibri"/>
                <a:cs typeface="Calibri"/>
                <a:sym typeface="Calibri"/>
              </a:rPr>
              <a:t>qwen2.5:7b</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GB" sz="900">
                <a:solidFill>
                  <a:schemeClr val="dk1"/>
                </a:solidFill>
                <a:latin typeface="Calibri"/>
                <a:ea typeface="Calibri"/>
                <a:cs typeface="Calibri"/>
                <a:sym typeface="Calibri"/>
              </a:rPr>
              <a:t>gemma2:latest</a:t>
            </a:r>
            <a:endParaRPr sz="900">
              <a:solidFill>
                <a:schemeClr val="dk1"/>
              </a:solidFill>
              <a:latin typeface="Calibri"/>
              <a:ea typeface="Calibri"/>
              <a:cs typeface="Calibri"/>
              <a:sym typeface="Calibri"/>
            </a:endParaRPr>
          </a:p>
          <a:p>
            <a:pPr marL="0" lvl="0" indent="0" algn="l" rtl="0">
              <a:spcBef>
                <a:spcPts val="0"/>
              </a:spcBef>
              <a:spcAft>
                <a:spcPts val="0"/>
              </a:spcAft>
              <a:buNone/>
            </a:pPr>
            <a:r>
              <a:rPr lang="en-GB" sz="900">
                <a:solidFill>
                  <a:schemeClr val="dk1"/>
                </a:solidFill>
                <a:latin typeface="Calibri"/>
                <a:ea typeface="Calibri"/>
                <a:cs typeface="Calibri"/>
                <a:sym typeface="Calibri"/>
              </a:rPr>
              <a:t>llama3.1:latest</a:t>
            </a:r>
            <a:endParaRPr sz="9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9"/>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Backend Implementation</a:t>
            </a:r>
            <a:endParaRPr/>
          </a:p>
        </p:txBody>
      </p:sp>
      <p:sp>
        <p:nvSpPr>
          <p:cNvPr id="451" name="Google Shape;451;p59"/>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452" name="Google Shape;452;p59"/>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30</a:t>
            </a:fld>
            <a:endParaRPr/>
          </a:p>
        </p:txBody>
      </p:sp>
      <p:sp>
        <p:nvSpPr>
          <p:cNvPr id="453" name="Google Shape;453;p59"/>
          <p:cNvSpPr/>
          <p:nvPr/>
        </p:nvSpPr>
        <p:spPr>
          <a:xfrm>
            <a:off x="2210494" y="1371798"/>
            <a:ext cx="318900" cy="318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4" name="Google Shape;454;p59"/>
          <p:cNvSpPr/>
          <p:nvPr/>
        </p:nvSpPr>
        <p:spPr>
          <a:xfrm>
            <a:off x="2671191" y="1420465"/>
            <a:ext cx="18123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1400"/>
              <a:buFont typeface="DM Sans"/>
              <a:buNone/>
            </a:pPr>
            <a:r>
              <a:rPr lang="en-GB" sz="1400" b="0" i="0" u="none" strike="noStrike" cap="none">
                <a:solidFill>
                  <a:srgbClr val="161613"/>
                </a:solidFill>
                <a:latin typeface="DM Sans"/>
                <a:ea typeface="DM Sans"/>
                <a:cs typeface="DM Sans"/>
                <a:sym typeface="DM Sans"/>
              </a:rPr>
              <a:t>LangChain for Orchestration</a:t>
            </a:r>
            <a:endParaRPr sz="1400" b="0" i="0" u="none" strike="noStrike" cap="none"/>
          </a:p>
        </p:txBody>
      </p:sp>
      <p:sp>
        <p:nvSpPr>
          <p:cNvPr id="455" name="Google Shape;455;p59"/>
          <p:cNvSpPr/>
          <p:nvPr/>
        </p:nvSpPr>
        <p:spPr>
          <a:xfrm>
            <a:off x="2671191" y="1948433"/>
            <a:ext cx="1812300" cy="11340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161613"/>
              </a:buClr>
              <a:buSzPts val="1100"/>
              <a:buFont typeface="Inter"/>
              <a:buNone/>
            </a:pPr>
            <a:r>
              <a:rPr lang="en-GB" sz="1100" b="0" i="0" u="none" strike="noStrike" cap="none">
                <a:solidFill>
                  <a:srgbClr val="161613"/>
                </a:solidFill>
                <a:latin typeface="Inter"/>
                <a:ea typeface="Inter"/>
                <a:cs typeface="Inter"/>
                <a:sym typeface="Inter"/>
              </a:rPr>
              <a:t>Manages interactions between modules. Handles prompt engineering, memory, and structured outputs.</a:t>
            </a:r>
            <a:endParaRPr sz="1100" b="0" i="0" u="none" strike="noStrike" cap="none"/>
          </a:p>
        </p:txBody>
      </p:sp>
      <p:sp>
        <p:nvSpPr>
          <p:cNvPr id="456" name="Google Shape;456;p59"/>
          <p:cNvSpPr/>
          <p:nvPr/>
        </p:nvSpPr>
        <p:spPr>
          <a:xfrm>
            <a:off x="4660502" y="1371798"/>
            <a:ext cx="318900" cy="318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57" name="Google Shape;457;p59"/>
          <p:cNvSpPr/>
          <p:nvPr/>
        </p:nvSpPr>
        <p:spPr>
          <a:xfrm>
            <a:off x="5121199" y="1420465"/>
            <a:ext cx="1812300" cy="442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1400"/>
              <a:buFont typeface="DM Sans"/>
              <a:buNone/>
            </a:pPr>
            <a:r>
              <a:rPr lang="en-GB" sz="1400" b="0" i="0" u="none" strike="noStrike" cap="none">
                <a:solidFill>
                  <a:srgbClr val="161613"/>
                </a:solidFill>
                <a:latin typeface="DM Sans"/>
                <a:ea typeface="DM Sans"/>
                <a:cs typeface="DM Sans"/>
                <a:sym typeface="DM Sans"/>
              </a:rPr>
              <a:t>Ollama for LLM Execution</a:t>
            </a:r>
            <a:endParaRPr sz="1400" b="0" i="0" u="none" strike="noStrike" cap="none"/>
          </a:p>
        </p:txBody>
      </p:sp>
      <p:sp>
        <p:nvSpPr>
          <p:cNvPr id="458" name="Google Shape;458;p59"/>
          <p:cNvSpPr/>
          <p:nvPr/>
        </p:nvSpPr>
        <p:spPr>
          <a:xfrm>
            <a:off x="5121199" y="1948433"/>
            <a:ext cx="1812300" cy="9072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161613"/>
              </a:buClr>
              <a:buSzPts val="1100"/>
              <a:buFont typeface="Inter"/>
              <a:buNone/>
            </a:pPr>
            <a:r>
              <a:rPr lang="en-GB" sz="1100" b="0" i="0" u="none" strike="noStrike" cap="none">
                <a:solidFill>
                  <a:srgbClr val="161613"/>
                </a:solidFill>
                <a:latin typeface="Inter"/>
                <a:ea typeface="Inter"/>
                <a:cs typeface="Inter"/>
                <a:sym typeface="Inter"/>
              </a:rPr>
              <a:t>Manages various open-source LLMs. Provides flexibility for different use cases.</a:t>
            </a:r>
            <a:endParaRPr sz="1100" b="0" i="0" u="none" strike="noStrike" cap="none"/>
          </a:p>
        </p:txBody>
      </p:sp>
      <p:sp>
        <p:nvSpPr>
          <p:cNvPr id="459" name="Google Shape;459;p59"/>
          <p:cNvSpPr/>
          <p:nvPr/>
        </p:nvSpPr>
        <p:spPr>
          <a:xfrm>
            <a:off x="2210494" y="3366021"/>
            <a:ext cx="318900" cy="318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60" name="Google Shape;460;p59"/>
          <p:cNvSpPr/>
          <p:nvPr/>
        </p:nvSpPr>
        <p:spPr>
          <a:xfrm>
            <a:off x="2671191" y="3414688"/>
            <a:ext cx="2464200" cy="221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61613"/>
              </a:buClr>
              <a:buSzPts val="1400"/>
              <a:buFont typeface="DM Sans"/>
              <a:buNone/>
            </a:pPr>
            <a:r>
              <a:rPr lang="en-GB" sz="1400" b="0" i="0" u="none" strike="noStrike" cap="none">
                <a:solidFill>
                  <a:srgbClr val="161613"/>
                </a:solidFill>
                <a:latin typeface="DM Sans"/>
                <a:ea typeface="DM Sans"/>
                <a:cs typeface="DM Sans"/>
                <a:sym typeface="DM Sans"/>
              </a:rPr>
              <a:t>ChromaDB for Vector Storage</a:t>
            </a:r>
            <a:endParaRPr sz="1400" b="0" i="0" u="none" strike="noStrike" cap="none"/>
          </a:p>
        </p:txBody>
      </p:sp>
      <p:sp>
        <p:nvSpPr>
          <p:cNvPr id="461" name="Google Shape;461;p59"/>
          <p:cNvSpPr/>
          <p:nvPr/>
        </p:nvSpPr>
        <p:spPr>
          <a:xfrm>
            <a:off x="2671191" y="3721199"/>
            <a:ext cx="4262100" cy="4536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161613"/>
              </a:buClr>
              <a:buSzPts val="1100"/>
              <a:buFont typeface="Inter"/>
              <a:buNone/>
            </a:pPr>
            <a:r>
              <a:rPr lang="en-GB" sz="1100" b="0" i="0" u="none" strike="noStrike" cap="none">
                <a:solidFill>
                  <a:srgbClr val="161613"/>
                </a:solidFill>
                <a:latin typeface="Inter"/>
                <a:ea typeface="Inter"/>
                <a:cs typeface="Inter"/>
                <a:sym typeface="Inter"/>
              </a:rPr>
              <a:t>Stores text embeddings. Enables high-speed retrieval based on semantic similarity.</a:t>
            </a:r>
            <a:endParaRPr sz="1100" b="0" i="0" u="none" strike="noStrike" cap="none"/>
          </a:p>
        </p:txBody>
      </p:sp>
      <p:pic>
        <p:nvPicPr>
          <p:cNvPr id="462" name="Google Shape;462;p59"/>
          <p:cNvPicPr preferRelativeResize="0"/>
          <p:nvPr/>
        </p:nvPicPr>
        <p:blipFill>
          <a:blip r:embed="rId3">
            <a:alphaModFix amt="70000"/>
          </a:blip>
          <a:stretch>
            <a:fillRect/>
          </a:stretch>
        </p:blipFill>
        <p:spPr>
          <a:xfrm>
            <a:off x="2239200" y="1394288"/>
            <a:ext cx="273900" cy="273900"/>
          </a:xfrm>
          <a:prstGeom prst="rect">
            <a:avLst/>
          </a:prstGeom>
          <a:noFill/>
          <a:ln>
            <a:noFill/>
          </a:ln>
        </p:spPr>
      </p:pic>
      <p:pic>
        <p:nvPicPr>
          <p:cNvPr id="463" name="Google Shape;463;p59"/>
          <p:cNvPicPr preferRelativeResize="0"/>
          <p:nvPr/>
        </p:nvPicPr>
        <p:blipFill>
          <a:blip r:embed="rId4">
            <a:alphaModFix/>
          </a:blip>
          <a:stretch>
            <a:fillRect/>
          </a:stretch>
        </p:blipFill>
        <p:spPr>
          <a:xfrm>
            <a:off x="2226799" y="3432962"/>
            <a:ext cx="286301" cy="184850"/>
          </a:xfrm>
          <a:prstGeom prst="rect">
            <a:avLst/>
          </a:prstGeom>
          <a:noFill/>
          <a:ln>
            <a:noFill/>
          </a:ln>
        </p:spPr>
      </p:pic>
      <p:pic>
        <p:nvPicPr>
          <p:cNvPr id="464" name="Google Shape;464;p59"/>
          <p:cNvPicPr preferRelativeResize="0"/>
          <p:nvPr/>
        </p:nvPicPr>
        <p:blipFill>
          <a:blip r:embed="rId5">
            <a:alphaModFix/>
          </a:blip>
          <a:stretch>
            <a:fillRect/>
          </a:stretch>
        </p:blipFill>
        <p:spPr>
          <a:xfrm>
            <a:off x="4676800" y="1388090"/>
            <a:ext cx="286300" cy="286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60"/>
          <p:cNvSpPr txBox="1">
            <a:spLocks noGrp="1"/>
          </p:cNvSpPr>
          <p:nvPr>
            <p:ph type="title"/>
          </p:nvPr>
        </p:nvSpPr>
        <p:spPr>
          <a:xfrm>
            <a:off x="332510" y="240506"/>
            <a:ext cx="5782500" cy="54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rgbClr val="84B819"/>
              </a:buClr>
              <a:buSzPts val="3300"/>
              <a:buFont typeface="Arial"/>
              <a:buNone/>
            </a:pPr>
            <a:r>
              <a:rPr lang="en-GB"/>
              <a:t>Future Enhancements</a:t>
            </a:r>
            <a:endParaRPr/>
          </a:p>
        </p:txBody>
      </p:sp>
      <p:sp>
        <p:nvSpPr>
          <p:cNvPr id="470" name="Google Shape;470;p60"/>
          <p:cNvSpPr txBox="1">
            <a:spLocks noGrp="1"/>
          </p:cNvSpPr>
          <p:nvPr>
            <p:ph type="dt" idx="10"/>
          </p:nvPr>
        </p:nvSpPr>
        <p:spPr>
          <a:xfrm>
            <a:off x="332509" y="4766072"/>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471" name="Google Shape;471;p60"/>
          <p:cNvSpPr txBox="1">
            <a:spLocks noGrp="1"/>
          </p:cNvSpPr>
          <p:nvPr>
            <p:ph type="sldNum" idx="12"/>
          </p:nvPr>
        </p:nvSpPr>
        <p:spPr>
          <a:xfrm>
            <a:off x="6754091" y="4766072"/>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31</a:t>
            </a:fld>
            <a:endParaRPr/>
          </a:p>
        </p:txBody>
      </p:sp>
      <p:sp>
        <p:nvSpPr>
          <p:cNvPr id="472" name="Google Shape;472;p60"/>
          <p:cNvSpPr/>
          <p:nvPr/>
        </p:nvSpPr>
        <p:spPr>
          <a:xfrm>
            <a:off x="4564749" y="1230300"/>
            <a:ext cx="14400" cy="3433800"/>
          </a:xfrm>
          <a:prstGeom prst="roundRect">
            <a:avLst>
              <a:gd name="adj" fmla="val 114101"/>
            </a:avLst>
          </a:prstGeom>
          <a:solidFill>
            <a:srgbClr val="D3D1C9"/>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73" name="Google Shape;473;p60"/>
          <p:cNvSpPr/>
          <p:nvPr/>
        </p:nvSpPr>
        <p:spPr>
          <a:xfrm>
            <a:off x="4141527" y="1377638"/>
            <a:ext cx="323700" cy="18300"/>
          </a:xfrm>
          <a:prstGeom prst="roundRect">
            <a:avLst>
              <a:gd name="adj" fmla="val 114101"/>
            </a:avLst>
          </a:prstGeom>
          <a:solidFill>
            <a:srgbClr val="D3D1C9"/>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74" name="Google Shape;474;p60"/>
          <p:cNvSpPr/>
          <p:nvPr/>
        </p:nvSpPr>
        <p:spPr>
          <a:xfrm>
            <a:off x="4450606" y="1230300"/>
            <a:ext cx="242400" cy="312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75" name="Google Shape;475;p60" descr="preencoded.png"/>
          <p:cNvPicPr preferRelativeResize="0"/>
          <p:nvPr/>
        </p:nvPicPr>
        <p:blipFill rotWithShape="1">
          <a:blip r:embed="rId3">
            <a:alphaModFix/>
          </a:blip>
          <a:srcRect/>
          <a:stretch/>
        </p:blipFill>
        <p:spPr>
          <a:xfrm>
            <a:off x="4491040" y="1256396"/>
            <a:ext cx="161586" cy="260769"/>
          </a:xfrm>
          <a:prstGeom prst="rect">
            <a:avLst/>
          </a:prstGeom>
          <a:noFill/>
          <a:ln>
            <a:noFill/>
          </a:ln>
        </p:spPr>
      </p:pic>
      <p:sp>
        <p:nvSpPr>
          <p:cNvPr id="476" name="Google Shape;476;p60"/>
          <p:cNvSpPr/>
          <p:nvPr/>
        </p:nvSpPr>
        <p:spPr>
          <a:xfrm>
            <a:off x="1841500" y="1279325"/>
            <a:ext cx="2108400" cy="217200"/>
          </a:xfrm>
          <a:prstGeom prst="rect">
            <a:avLst/>
          </a:prstGeom>
          <a:noFill/>
          <a:ln>
            <a:noFill/>
          </a:ln>
        </p:spPr>
        <p:txBody>
          <a:bodyPr spcFirstLastPara="1" wrap="square" lIns="0" tIns="0" rIns="0" bIns="0" anchor="t" anchorCtr="0">
            <a:noAutofit/>
          </a:bodyPr>
          <a:lstStyle/>
          <a:p>
            <a:pPr marL="0" marR="0" lvl="0" indent="0" algn="r" rtl="0">
              <a:lnSpc>
                <a:spcPct val="123529"/>
              </a:lnSpc>
              <a:spcBef>
                <a:spcPts val="0"/>
              </a:spcBef>
              <a:spcAft>
                <a:spcPts val="0"/>
              </a:spcAft>
              <a:buClr>
                <a:srgbClr val="161613"/>
              </a:buClr>
              <a:buSzPts val="1100"/>
              <a:buFont typeface="DM Sans"/>
              <a:buNone/>
            </a:pPr>
            <a:r>
              <a:rPr lang="en-GB" sz="1300" b="1" i="0" u="none" strike="noStrike" cap="none">
                <a:solidFill>
                  <a:srgbClr val="161613"/>
                </a:solidFill>
                <a:latin typeface="DM Sans"/>
                <a:ea typeface="DM Sans"/>
                <a:cs typeface="DM Sans"/>
                <a:sym typeface="DM Sans"/>
              </a:rPr>
              <a:t>Multi-Engine Search UI</a:t>
            </a:r>
            <a:endParaRPr sz="1300" b="1" i="0" u="none" strike="noStrike" cap="none"/>
          </a:p>
        </p:txBody>
      </p:sp>
      <p:sp>
        <p:nvSpPr>
          <p:cNvPr id="477" name="Google Shape;477;p60"/>
          <p:cNvSpPr/>
          <p:nvPr/>
        </p:nvSpPr>
        <p:spPr>
          <a:xfrm>
            <a:off x="415675" y="1578881"/>
            <a:ext cx="3617700" cy="222300"/>
          </a:xfrm>
          <a:prstGeom prst="rect">
            <a:avLst/>
          </a:prstGeom>
          <a:noFill/>
          <a:ln>
            <a:noFill/>
          </a:ln>
        </p:spPr>
        <p:txBody>
          <a:bodyPr spcFirstLastPara="1" wrap="square" lIns="0" tIns="0" rIns="0" bIns="0" anchor="t" anchorCtr="0">
            <a:noAutofit/>
          </a:bodyPr>
          <a:lstStyle/>
          <a:p>
            <a:pPr marL="0" marR="0" lvl="0" indent="0" algn="r" rtl="0">
              <a:lnSpc>
                <a:spcPct val="159259"/>
              </a:lnSpc>
              <a:spcBef>
                <a:spcPts val="0"/>
              </a:spcBef>
              <a:spcAft>
                <a:spcPts val="0"/>
              </a:spcAft>
              <a:buClr>
                <a:srgbClr val="161613"/>
              </a:buClr>
              <a:buSzPts val="800"/>
              <a:buFont typeface="Inter"/>
              <a:buNone/>
            </a:pPr>
            <a:r>
              <a:rPr lang="en-GB" sz="1000" b="0" i="0" u="none" strike="noStrike" cap="none">
                <a:solidFill>
                  <a:srgbClr val="161613"/>
                </a:solidFill>
                <a:latin typeface="Inter"/>
                <a:ea typeface="Inter"/>
                <a:cs typeface="Inter"/>
                <a:sym typeface="Inter"/>
              </a:rPr>
              <a:t>Implement interface for dynamic search engine selection.</a:t>
            </a:r>
            <a:endParaRPr sz="1000" b="0" i="0" u="none" strike="noStrike" cap="none"/>
          </a:p>
        </p:txBody>
      </p:sp>
      <p:sp>
        <p:nvSpPr>
          <p:cNvPr id="478" name="Google Shape;478;p60"/>
          <p:cNvSpPr/>
          <p:nvPr/>
        </p:nvSpPr>
        <p:spPr>
          <a:xfrm>
            <a:off x="4678893" y="2212040"/>
            <a:ext cx="323700" cy="18300"/>
          </a:xfrm>
          <a:prstGeom prst="roundRect">
            <a:avLst>
              <a:gd name="adj" fmla="val 114101"/>
            </a:avLst>
          </a:prstGeom>
          <a:solidFill>
            <a:srgbClr val="D3D1C9"/>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79" name="Google Shape;479;p60"/>
          <p:cNvSpPr/>
          <p:nvPr/>
        </p:nvSpPr>
        <p:spPr>
          <a:xfrm>
            <a:off x="4450606" y="2064703"/>
            <a:ext cx="242400" cy="312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80" name="Google Shape;480;p60" descr="preencoded.png"/>
          <p:cNvPicPr preferRelativeResize="0"/>
          <p:nvPr/>
        </p:nvPicPr>
        <p:blipFill rotWithShape="1">
          <a:blip r:embed="rId4">
            <a:alphaModFix/>
          </a:blip>
          <a:srcRect/>
          <a:stretch/>
        </p:blipFill>
        <p:spPr>
          <a:xfrm>
            <a:off x="4491040" y="2090800"/>
            <a:ext cx="161586" cy="260769"/>
          </a:xfrm>
          <a:prstGeom prst="rect">
            <a:avLst/>
          </a:prstGeom>
          <a:noFill/>
          <a:ln>
            <a:noFill/>
          </a:ln>
        </p:spPr>
      </p:pic>
      <p:sp>
        <p:nvSpPr>
          <p:cNvPr id="481" name="Google Shape;481;p60"/>
          <p:cNvSpPr/>
          <p:nvPr/>
        </p:nvSpPr>
        <p:spPr>
          <a:xfrm>
            <a:off x="5186034" y="2113668"/>
            <a:ext cx="2803500" cy="217200"/>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161613"/>
              </a:buClr>
              <a:buSzPts val="1100"/>
              <a:buFont typeface="DM Sans"/>
              <a:buNone/>
            </a:pPr>
            <a:r>
              <a:rPr lang="en-GB" sz="1300" b="1" i="0" u="none" strike="noStrike" cap="none">
                <a:solidFill>
                  <a:srgbClr val="161613"/>
                </a:solidFill>
                <a:latin typeface="DM Sans"/>
                <a:ea typeface="DM Sans"/>
                <a:cs typeface="DM Sans"/>
                <a:sym typeface="DM Sans"/>
              </a:rPr>
              <a:t>Retrieval Mechanism Fusion</a:t>
            </a:r>
            <a:endParaRPr sz="1300" b="1" i="0" u="none" strike="noStrike" cap="none"/>
          </a:p>
        </p:txBody>
      </p:sp>
      <p:sp>
        <p:nvSpPr>
          <p:cNvPr id="482" name="Google Shape;482;p60"/>
          <p:cNvSpPr/>
          <p:nvPr/>
        </p:nvSpPr>
        <p:spPr>
          <a:xfrm>
            <a:off x="5110600" y="2413284"/>
            <a:ext cx="3617700" cy="222300"/>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161613"/>
              </a:buClr>
              <a:buSzPts val="800"/>
              <a:buFont typeface="Inter"/>
              <a:buNone/>
            </a:pPr>
            <a:r>
              <a:rPr lang="en-GB" sz="1000" b="0" i="0" u="none" strike="noStrike" cap="none">
                <a:solidFill>
                  <a:srgbClr val="161613"/>
                </a:solidFill>
                <a:latin typeface="Inter"/>
                <a:ea typeface="Inter"/>
                <a:cs typeface="Inter"/>
                <a:sym typeface="Inter"/>
              </a:rPr>
              <a:t>Merge Group 2's retrieval methods with current system.</a:t>
            </a:r>
            <a:endParaRPr sz="1000" b="0" i="0" u="none" strike="noStrike" cap="none"/>
          </a:p>
        </p:txBody>
      </p:sp>
      <p:sp>
        <p:nvSpPr>
          <p:cNvPr id="483" name="Google Shape;483;p60"/>
          <p:cNvSpPr/>
          <p:nvPr/>
        </p:nvSpPr>
        <p:spPr>
          <a:xfrm>
            <a:off x="4141527" y="2931298"/>
            <a:ext cx="323700" cy="18300"/>
          </a:xfrm>
          <a:prstGeom prst="roundRect">
            <a:avLst>
              <a:gd name="adj" fmla="val 114101"/>
            </a:avLst>
          </a:prstGeom>
          <a:solidFill>
            <a:srgbClr val="D3D1C9"/>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84" name="Google Shape;484;p60"/>
          <p:cNvSpPr/>
          <p:nvPr/>
        </p:nvSpPr>
        <p:spPr>
          <a:xfrm>
            <a:off x="4450606" y="2783960"/>
            <a:ext cx="242400" cy="312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85" name="Google Shape;485;p60" descr="preencoded.png"/>
          <p:cNvPicPr preferRelativeResize="0"/>
          <p:nvPr/>
        </p:nvPicPr>
        <p:blipFill rotWithShape="1">
          <a:blip r:embed="rId5">
            <a:alphaModFix/>
          </a:blip>
          <a:srcRect/>
          <a:stretch/>
        </p:blipFill>
        <p:spPr>
          <a:xfrm>
            <a:off x="4491040" y="2810057"/>
            <a:ext cx="161586" cy="260769"/>
          </a:xfrm>
          <a:prstGeom prst="rect">
            <a:avLst/>
          </a:prstGeom>
          <a:noFill/>
          <a:ln>
            <a:noFill/>
          </a:ln>
        </p:spPr>
      </p:pic>
      <p:sp>
        <p:nvSpPr>
          <p:cNvPr id="486" name="Google Shape;486;p60"/>
          <p:cNvSpPr/>
          <p:nvPr/>
        </p:nvSpPr>
        <p:spPr>
          <a:xfrm>
            <a:off x="2219486" y="2832931"/>
            <a:ext cx="1730400" cy="217200"/>
          </a:xfrm>
          <a:prstGeom prst="rect">
            <a:avLst/>
          </a:prstGeom>
          <a:noFill/>
          <a:ln>
            <a:noFill/>
          </a:ln>
        </p:spPr>
        <p:txBody>
          <a:bodyPr spcFirstLastPara="1" wrap="square" lIns="0" tIns="0" rIns="0" bIns="0" anchor="t" anchorCtr="0">
            <a:noAutofit/>
          </a:bodyPr>
          <a:lstStyle/>
          <a:p>
            <a:pPr marL="0" marR="0" lvl="0" indent="0" algn="r" rtl="0">
              <a:lnSpc>
                <a:spcPct val="123529"/>
              </a:lnSpc>
              <a:spcBef>
                <a:spcPts val="0"/>
              </a:spcBef>
              <a:spcAft>
                <a:spcPts val="0"/>
              </a:spcAft>
              <a:buClr>
                <a:srgbClr val="161613"/>
              </a:buClr>
              <a:buSzPts val="1100"/>
              <a:buFont typeface="DM Sans"/>
              <a:buNone/>
            </a:pPr>
            <a:r>
              <a:rPr lang="en-GB" sz="1300" b="1" i="0" u="none" strike="noStrike" cap="none">
                <a:solidFill>
                  <a:srgbClr val="161613"/>
                </a:solidFill>
                <a:latin typeface="DM Sans"/>
                <a:ea typeface="DM Sans"/>
                <a:cs typeface="DM Sans"/>
                <a:sym typeface="DM Sans"/>
              </a:rPr>
              <a:t>Database Integration</a:t>
            </a:r>
            <a:endParaRPr sz="1300" b="1" i="0" u="none" strike="noStrike" cap="none"/>
          </a:p>
        </p:txBody>
      </p:sp>
      <p:sp>
        <p:nvSpPr>
          <p:cNvPr id="487" name="Google Shape;487;p60"/>
          <p:cNvSpPr/>
          <p:nvPr/>
        </p:nvSpPr>
        <p:spPr>
          <a:xfrm>
            <a:off x="415675" y="3132541"/>
            <a:ext cx="3617700" cy="222300"/>
          </a:xfrm>
          <a:prstGeom prst="rect">
            <a:avLst/>
          </a:prstGeom>
          <a:noFill/>
          <a:ln>
            <a:noFill/>
          </a:ln>
        </p:spPr>
        <p:txBody>
          <a:bodyPr spcFirstLastPara="1" wrap="square" lIns="0" tIns="0" rIns="0" bIns="0" anchor="t" anchorCtr="0">
            <a:noAutofit/>
          </a:bodyPr>
          <a:lstStyle/>
          <a:p>
            <a:pPr marL="0" marR="0" lvl="0" indent="0" algn="r" rtl="0">
              <a:lnSpc>
                <a:spcPct val="159259"/>
              </a:lnSpc>
              <a:spcBef>
                <a:spcPts val="0"/>
              </a:spcBef>
              <a:spcAft>
                <a:spcPts val="0"/>
              </a:spcAft>
              <a:buClr>
                <a:srgbClr val="161613"/>
              </a:buClr>
              <a:buSzPts val="800"/>
              <a:buFont typeface="Inter"/>
              <a:buNone/>
            </a:pPr>
            <a:r>
              <a:rPr lang="en-GB" sz="1000" b="0" i="0" u="none" strike="noStrike" cap="none">
                <a:solidFill>
                  <a:srgbClr val="161613"/>
                </a:solidFill>
                <a:latin typeface="Inter"/>
                <a:ea typeface="Inter"/>
                <a:cs typeface="Inter"/>
                <a:sym typeface="Inter"/>
              </a:rPr>
              <a:t>Combine ChromaDB with Group 2's database solution.</a:t>
            </a:r>
            <a:endParaRPr sz="1000" b="0" i="0" u="none" strike="noStrike" cap="none"/>
          </a:p>
        </p:txBody>
      </p:sp>
      <p:sp>
        <p:nvSpPr>
          <p:cNvPr id="488" name="Google Shape;488;p60"/>
          <p:cNvSpPr/>
          <p:nvPr/>
        </p:nvSpPr>
        <p:spPr>
          <a:xfrm>
            <a:off x="4678893" y="3650650"/>
            <a:ext cx="323700" cy="18300"/>
          </a:xfrm>
          <a:prstGeom prst="roundRect">
            <a:avLst>
              <a:gd name="adj" fmla="val 114101"/>
            </a:avLst>
          </a:prstGeom>
          <a:solidFill>
            <a:srgbClr val="D3D1C9"/>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89" name="Google Shape;489;p60"/>
          <p:cNvSpPr/>
          <p:nvPr/>
        </p:nvSpPr>
        <p:spPr>
          <a:xfrm>
            <a:off x="4450606" y="3503313"/>
            <a:ext cx="242400" cy="312900"/>
          </a:xfrm>
          <a:prstGeom prst="roundRect">
            <a:avLst>
              <a:gd name="adj" fmla="val 6667"/>
            </a:avLst>
          </a:prstGeom>
          <a:solidFill>
            <a:srgbClr val="EDEBE3"/>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490" name="Google Shape;490;p60" descr="preencoded.png"/>
          <p:cNvPicPr preferRelativeResize="0"/>
          <p:nvPr/>
        </p:nvPicPr>
        <p:blipFill rotWithShape="1">
          <a:blip r:embed="rId6">
            <a:alphaModFix/>
          </a:blip>
          <a:srcRect/>
          <a:stretch/>
        </p:blipFill>
        <p:spPr>
          <a:xfrm>
            <a:off x="4491040" y="3529410"/>
            <a:ext cx="161586" cy="260769"/>
          </a:xfrm>
          <a:prstGeom prst="rect">
            <a:avLst/>
          </a:prstGeom>
          <a:noFill/>
          <a:ln>
            <a:noFill/>
          </a:ln>
        </p:spPr>
      </p:pic>
      <p:sp>
        <p:nvSpPr>
          <p:cNvPr id="491" name="Google Shape;491;p60"/>
          <p:cNvSpPr/>
          <p:nvPr/>
        </p:nvSpPr>
        <p:spPr>
          <a:xfrm>
            <a:off x="5195058" y="3552300"/>
            <a:ext cx="2765700" cy="217200"/>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161613"/>
              </a:buClr>
              <a:buSzPts val="1100"/>
              <a:buFont typeface="DM Sans"/>
              <a:buNone/>
            </a:pPr>
            <a:r>
              <a:rPr lang="en-GB" sz="1300" b="1" i="0" u="none" strike="noStrike" cap="none">
                <a:solidFill>
                  <a:srgbClr val="161613"/>
                </a:solidFill>
                <a:latin typeface="DM Sans"/>
                <a:ea typeface="DM Sans"/>
                <a:cs typeface="DM Sans"/>
                <a:sym typeface="DM Sans"/>
              </a:rPr>
              <a:t>Intelligent Query Routing</a:t>
            </a:r>
            <a:endParaRPr sz="1300" b="1" i="0" u="none" strike="noStrike" cap="none"/>
          </a:p>
        </p:txBody>
      </p:sp>
      <p:sp>
        <p:nvSpPr>
          <p:cNvPr id="492" name="Google Shape;492;p60"/>
          <p:cNvSpPr/>
          <p:nvPr/>
        </p:nvSpPr>
        <p:spPr>
          <a:xfrm>
            <a:off x="5110600" y="3851894"/>
            <a:ext cx="3617700" cy="222300"/>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161613"/>
              </a:buClr>
              <a:buSzPts val="800"/>
              <a:buFont typeface="Inter"/>
              <a:buNone/>
            </a:pPr>
            <a:r>
              <a:rPr lang="en-GB" sz="1000" b="0" i="0" u="none" strike="noStrike" cap="none">
                <a:solidFill>
                  <a:srgbClr val="161613"/>
                </a:solidFill>
                <a:latin typeface="Inter"/>
                <a:ea typeface="Inter"/>
                <a:cs typeface="Inter"/>
                <a:sym typeface="Inter"/>
              </a:rPr>
              <a:t>Fine-tune LLM to choose between Web or File RAG pathways.</a:t>
            </a:r>
            <a:endParaRPr sz="1000" b="0" i="0" u="none" strike="noStrike" cap="non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1"/>
          <p:cNvSpPr txBox="1">
            <a:spLocks noGrp="1"/>
          </p:cNvSpPr>
          <p:nvPr>
            <p:ph type="body" idx="1"/>
          </p:nvPr>
        </p:nvSpPr>
        <p:spPr>
          <a:xfrm>
            <a:off x="332509" y="2093494"/>
            <a:ext cx="8478982" cy="2539228"/>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dk1"/>
              </a:buClr>
              <a:buSzPts val="2100"/>
              <a:buNone/>
            </a:pPr>
            <a:r>
              <a:rPr lang="en-GB" sz="3700">
                <a:solidFill>
                  <a:srgbClr val="84B819"/>
                </a:solidFill>
              </a:rPr>
              <a:t>Thank You :)</a:t>
            </a:r>
            <a:endParaRPr sz="3700">
              <a:solidFill>
                <a:srgbClr val="84B819"/>
              </a:solidFill>
            </a:endParaRPr>
          </a:p>
        </p:txBody>
      </p:sp>
      <p:sp>
        <p:nvSpPr>
          <p:cNvPr id="498" name="Google Shape;498;p61"/>
          <p:cNvSpPr txBox="1">
            <a:spLocks noGrp="1"/>
          </p:cNvSpPr>
          <p:nvPr>
            <p:ph type="dt" idx="10"/>
          </p:nvPr>
        </p:nvSpPr>
        <p:spPr>
          <a:xfrm>
            <a:off x="332509" y="4766072"/>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GB"/>
              <a:t>Freitag, 25. April 2025</a:t>
            </a:r>
            <a:endParaRPr/>
          </a:p>
        </p:txBody>
      </p:sp>
      <p:sp>
        <p:nvSpPr>
          <p:cNvPr id="499" name="Google Shape;499;p61"/>
          <p:cNvSpPr txBox="1">
            <a:spLocks noGrp="1"/>
          </p:cNvSpPr>
          <p:nvPr>
            <p:ph type="sldNum" idx="12"/>
          </p:nvPr>
        </p:nvSpPr>
        <p:spPr>
          <a:xfrm>
            <a:off x="6754091" y="4766072"/>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TU/DT">
      <a:dk1>
        <a:srgbClr val="000000"/>
      </a:dk1>
      <a:lt1>
        <a:srgbClr val="FFFFFF"/>
      </a:lt1>
      <a:dk2>
        <a:srgbClr val="999999"/>
      </a:dk2>
      <a:lt2>
        <a:srgbClr val="E7E6E6"/>
      </a:lt2>
      <a:accent1>
        <a:srgbClr val="84B819"/>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2473</Words>
  <Application>Microsoft Office PowerPoint</Application>
  <PresentationFormat>Bildschirmpräsentation (16:9)</PresentationFormat>
  <Paragraphs>424</Paragraphs>
  <Slides>32</Slides>
  <Notes>32</Notes>
  <HiddenSlides>0</HiddenSlides>
  <MMClips>0</MMClips>
  <ScaleCrop>false</ScaleCrop>
  <HeadingPairs>
    <vt:vector size="6" baseType="variant">
      <vt:variant>
        <vt:lpstr>Verwendete Schriftarten</vt:lpstr>
      </vt:variant>
      <vt:variant>
        <vt:i4>5</vt:i4>
      </vt:variant>
      <vt:variant>
        <vt:lpstr>Design</vt:lpstr>
      </vt:variant>
      <vt:variant>
        <vt:i4>2</vt:i4>
      </vt:variant>
      <vt:variant>
        <vt:lpstr>Folientitel</vt:lpstr>
      </vt:variant>
      <vt:variant>
        <vt:i4>32</vt:i4>
      </vt:variant>
    </vt:vector>
  </HeadingPairs>
  <TitlesOfParts>
    <vt:vector size="39" baseType="lpstr">
      <vt:lpstr>Times New Roman</vt:lpstr>
      <vt:lpstr>Inter</vt:lpstr>
      <vt:lpstr>Arial</vt:lpstr>
      <vt:lpstr>Calibri</vt:lpstr>
      <vt:lpstr>DM Sans</vt:lpstr>
      <vt:lpstr>Simple Light</vt:lpstr>
      <vt:lpstr>Office</vt:lpstr>
      <vt:lpstr>Power Integrity Optimization using eCADSTAR</vt:lpstr>
      <vt:lpstr>Base design </vt:lpstr>
      <vt:lpstr>Objective</vt:lpstr>
      <vt:lpstr>ReAct Framework</vt:lpstr>
      <vt:lpstr>Handling Images</vt:lpstr>
      <vt:lpstr>Agent Architecture</vt:lpstr>
      <vt:lpstr>Orchestrator</vt:lpstr>
      <vt:lpstr>Tools </vt:lpstr>
      <vt:lpstr>Simulation </vt:lpstr>
      <vt:lpstr>PCB Expert </vt:lpstr>
      <vt:lpstr>VLM Models Overview</vt:lpstr>
      <vt:lpstr>VLM Models Training Parameters</vt:lpstr>
      <vt:lpstr>VLM Models Training Loss and Accuracy</vt:lpstr>
      <vt:lpstr>Model Performance </vt:lpstr>
      <vt:lpstr>Circuit Image Performance Evaluation</vt:lpstr>
      <vt:lpstr>Circuit Image Performance Evaluation</vt:lpstr>
      <vt:lpstr>SI Analysis Performance Evaluation</vt:lpstr>
      <vt:lpstr>SI Analysis Performance Evaluation</vt:lpstr>
      <vt:lpstr>FD Analysis Performance Evaluation</vt:lpstr>
      <vt:lpstr>FD Analysis Performance Evaluation</vt:lpstr>
      <vt:lpstr>TDR Analysis Performance Evaluation</vt:lpstr>
      <vt:lpstr>TDR Analysis Performance Evaluation</vt:lpstr>
      <vt:lpstr>VLM Selection and Future Improvements</vt:lpstr>
      <vt:lpstr>File and Web RAG Architecture</vt:lpstr>
      <vt:lpstr>Supported File Types</vt:lpstr>
      <vt:lpstr>Search Engines</vt:lpstr>
      <vt:lpstr>Web RAG</vt:lpstr>
      <vt:lpstr>Document Rag</vt:lpstr>
      <vt:lpstr>Retrieval RAG</vt:lpstr>
      <vt:lpstr>Backend Implementation</vt:lpstr>
      <vt:lpstr>Future Enhancements</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Integrity Optimization using eCADSTAR</dc:title>
  <cp:lastModifiedBy>Kovarthanam Muthusamy</cp:lastModifiedBy>
  <cp:revision>1</cp:revision>
  <dcterms:modified xsi:type="dcterms:W3CDTF">2026-04-21T19:19:03Z</dcterms:modified>
</cp:coreProperties>
</file>